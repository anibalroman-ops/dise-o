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Source Sans 3" panose="020B0604020202020204" charset="0"/>
      <p:regular r:id="rId15"/>
      <p:bold r:id="rId16"/>
      <p:italic r:id="rId17"/>
      <p:boldItalic r:id="rId18"/>
    </p:embeddedFont>
    <p:embeddedFont>
      <p:font typeface="Source Sans 3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2CF0F1-09CF-40EF-A91C-3D302B380243}">
  <a:tblStyle styleId="{792CF0F1-09CF-40EF-A91C-3D302B3802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34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34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8.png"/><Relationship Id="rId7" Type="http://schemas.openxmlformats.org/officeDocument/2006/relationships/image" Target="../media/image50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1466850"/>
            <a:ext cx="10287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52500" y="2209800"/>
            <a:ext cx="9721215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 de validación, pilotaje y consolidación del Manual de Evaluación Académica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52500" y="3406080"/>
            <a:ext cx="10801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56A8A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Facultad de Ingeniería — Planificación junio–septiembre de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4072830"/>
            <a:ext cx="10287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Consulta a académicos · Validación experta · Piloto operativo · Consolidación normativa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52500" y="5177730"/>
            <a:ext cx="10287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29 de junio – 25 de septiembre de 2026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19275" y="485388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5150" y="485388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577660"/>
            <a:ext cx="11144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24125" y="4577660"/>
            <a:ext cx="12192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00525" y="4577660"/>
            <a:ext cx="9048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62600" y="4577660"/>
            <a:ext cx="15049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09800" y="471577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86200" y="471577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48275" y="4715773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54712"/>
            <a:ext cx="110490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133475"/>
            <a:ext cx="3492400" cy="413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650" y="1133475"/>
            <a:ext cx="3492549" cy="413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1133475"/>
            <a:ext cx="3492400" cy="413548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proyecto no parte desde cero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1296650" y="64770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2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1457325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Consulta a académicos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57250" y="1885950"/>
            <a:ext cx="2920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9793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Estado: avanzada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35400" y="1457325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Piloto de evaluación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635400" y="1885950"/>
            <a:ext cx="29210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9793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Estado: diseñado metodológicamente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413700" y="1457325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Manual y anexos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413700" y="1885950"/>
            <a:ext cx="2920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97932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Estado: desarrollo avanzado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47750" y="2257425"/>
            <a:ext cx="2730400" cy="2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Instrumento de percepción construido.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47750" y="2598390"/>
            <a:ext cx="27304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Consulta de actividades por área incorporada.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047750" y="3166020"/>
            <a:ext cx="2730400" cy="2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Registro de fuentes de evidencia.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47750" y="3506985"/>
            <a:ext cx="27304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Distribución porcentual de carga académica.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47749" y="4074616"/>
            <a:ext cx="3016149" cy="27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Sistema web </a:t>
            </a:r>
            <a:r>
              <a:rPr lang="en-US" sz="1275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conectado</a:t>
            </a:r>
            <a:r>
              <a:rPr lang="en-US" sz="1275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Google Sheets.</a:t>
            </a:r>
            <a:endParaRPr dirty="0"/>
          </a:p>
        </p:txBody>
      </p:sp>
      <p:sp>
        <p:nvSpPr>
          <p:cNvPr id="122" name="Google Shape;122;p14"/>
          <p:cNvSpPr txBox="1"/>
          <p:nvPr/>
        </p:nvSpPr>
        <p:spPr>
          <a:xfrm>
            <a:off x="1047750" y="4415581"/>
            <a:ext cx="27304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Ajustes</a:t>
            </a:r>
            <a:r>
              <a:rPr lang="en-US" sz="1275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</a:t>
            </a:r>
            <a:r>
              <a:rPr lang="en-US" sz="1275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navegación</a:t>
            </a:r>
            <a:r>
              <a:rPr lang="en-US" sz="1275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</a:t>
            </a:r>
            <a:r>
              <a:rPr lang="en-US" sz="1275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terminología</a:t>
            </a:r>
            <a:r>
              <a:rPr lang="en-US" sz="1275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275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realizados</a:t>
            </a:r>
            <a:r>
              <a:rPr lang="en-US" sz="1275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4825900" y="2257425"/>
            <a:ext cx="2730549" cy="2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Casos anonimizados identificados.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825900" y="2598390"/>
            <a:ext cx="2730549" cy="2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Diseño con tres evaluadores.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4825900" y="2939350"/>
            <a:ext cx="2921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Evaluación independiente y</a:t>
            </a:r>
            <a:r>
              <a:rPr lang="en-US" sz="1275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deliberación</a:t>
            </a: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4873500" y="3280320"/>
            <a:ext cx="27306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Registro de tiempos y divergencias.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4825900" y="3621285"/>
            <a:ext cx="2730549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Sistema web disponible para apoyar el piloto.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825900" y="4188916"/>
            <a:ext cx="2730549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Pendiente configurar perfiles, cargar casos y pruebas.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8604200" y="2257425"/>
            <a:ext cx="27304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Cuerpo principal estructurado en 62 artículos.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604200" y="2825055"/>
            <a:ext cx="2730400" cy="2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Rúbrica general desarrollada.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604200" y="3166020"/>
            <a:ext cx="27304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Guías de docencia e investigación integradas.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604200" y="3733651"/>
            <a:ext cx="27304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Guías de otras áreas desarrolladas por separado.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604200" y="4301281"/>
            <a:ext cx="27304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Pendiente integración, revisión cruzada y cierre.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57250" y="22574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57250" y="259839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857250" y="316602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57250" y="350698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857250" y="4074616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857250" y="4415581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4635400" y="22574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635400" y="259839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635400" y="293935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635400" y="328032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4635400" y="362128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4635400" y="4188916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8413700" y="22574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8413700" y="282505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8413700" y="316602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8413700" y="3733651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8413700" y="4301281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24550"/>
            <a:ext cx="110490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52625"/>
            <a:ext cx="5429250" cy="1747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952625"/>
            <a:ext cx="5429250" cy="1747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90962"/>
            <a:ext cx="5429250" cy="1747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890962"/>
            <a:ext cx="5429250" cy="174783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 del plan de trabajo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71500" y="1133475"/>
            <a:ext cx="1104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Organizar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las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actividades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dependencias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tiempos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productos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necesarios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para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transformar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avances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existentes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en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una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versión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técnicamente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validada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formalmente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entregable</a:t>
            </a:r>
            <a:r>
              <a:rPr lang="en-US" sz="150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del Manual.</a:t>
            </a:r>
            <a:endParaRPr dirty="0"/>
          </a:p>
        </p:txBody>
      </p:sp>
      <p:sp>
        <p:nvSpPr>
          <p:cNvPr id="164" name="Google Shape;164;p15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296650" y="64770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3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219200" y="2506563"/>
            <a:ext cx="476059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1. Recoger evidencia institucional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819150" y="2906613"/>
            <a:ext cx="49339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Conocer</a:t>
            </a:r>
            <a:r>
              <a:rPr lang="en-US" sz="135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la </a:t>
            </a:r>
            <a:r>
              <a:rPr lang="en-US" sz="135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percepción</a:t>
            </a:r>
            <a:r>
              <a:rPr lang="en-US" sz="135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</a:t>
            </a:r>
            <a:r>
              <a:rPr lang="en-US" sz="135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</a:t>
            </a:r>
            <a:r>
              <a:rPr lang="en-US" sz="135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35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académicos</a:t>
            </a:r>
            <a:r>
              <a:rPr lang="en-US" sz="135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sus </a:t>
            </a:r>
            <a:r>
              <a:rPr lang="en-US" sz="1350" b="0" i="0" u="none" strike="noStrike" cap="none" dirty="0" err="1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propuestas</a:t>
            </a:r>
            <a:r>
              <a:rPr lang="en-US" sz="1350" b="0" i="0" u="none" strike="noStrike" cap="none" dirty="0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dirty="0"/>
          </a:p>
        </p:txBody>
      </p:sp>
      <p:sp>
        <p:nvSpPr>
          <p:cNvPr id="168" name="Google Shape;168;p15"/>
          <p:cNvSpPr txBox="1"/>
          <p:nvPr/>
        </p:nvSpPr>
        <p:spPr>
          <a:xfrm>
            <a:off x="6781800" y="2506563"/>
            <a:ext cx="48206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2. Validar los instrumentos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438900" y="2906613"/>
            <a:ext cx="49339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Revisar la claridad, pertinencia y suficiencia de la rúbrica y las guías.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1219200" y="4350387"/>
            <a:ext cx="476059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3. </a:t>
            </a:r>
            <a:r>
              <a:rPr lang="en-US" sz="1650" b="1" i="0" u="none" strike="noStrike" cap="none" dirty="0" err="1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Probar</a:t>
            </a:r>
            <a:r>
              <a:rPr lang="en-US" sz="1650" b="1" i="0" u="none" strike="noStrike" cap="none" dirty="0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650" b="1" i="0" u="none" strike="noStrike" cap="none" dirty="0" err="1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el</a:t>
            </a:r>
            <a:r>
              <a:rPr lang="en-US" sz="1650" b="1" i="0" u="none" strike="noStrike" cap="none" dirty="0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650" b="1" i="0" u="none" strike="noStrike" cap="none" dirty="0" err="1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proceso</a:t>
            </a:r>
            <a:r>
              <a:rPr lang="en-US" sz="1650" b="1" i="0" u="none" strike="noStrike" cap="none" dirty="0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650" b="1" i="0" u="none" strike="noStrike" cap="none" dirty="0" err="1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</a:t>
            </a:r>
            <a:r>
              <a:rPr lang="en-US" sz="1650" b="1" dirty="0" err="1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calificación</a:t>
            </a:r>
            <a:r>
              <a:rPr lang="en-US" sz="1650" b="1" i="0" u="none" strike="noStrike" cap="none" dirty="0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 (</a:t>
            </a:r>
            <a:r>
              <a:rPr lang="en-US" sz="1650" b="1" dirty="0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PILOTO)</a:t>
            </a:r>
            <a:endParaRPr dirty="0"/>
          </a:p>
        </p:txBody>
      </p:sp>
      <p:sp>
        <p:nvSpPr>
          <p:cNvPr id="171" name="Google Shape;171;p15"/>
          <p:cNvSpPr txBox="1"/>
          <p:nvPr/>
        </p:nvSpPr>
        <p:spPr>
          <a:xfrm>
            <a:off x="819150" y="4724995"/>
            <a:ext cx="49339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Aplicar un piloto con evaluadores, casos reales anonimizados y sistema funcional.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6753225" y="4324945"/>
            <a:ext cx="485060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4. Consolidar una versión entregable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6438900" y="4724995"/>
            <a:ext cx="49339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Integrar resultados en el manual, anexos, plataforma y procedimientos.</a:t>
            </a:r>
            <a:endParaRPr/>
          </a:p>
        </p:txBody>
      </p:sp>
      <p:pic>
        <p:nvPicPr>
          <p:cNvPr id="174" name="Google Shape;17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54466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900" y="254466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436304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900" y="436304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18;p17">
            <a:extLst>
              <a:ext uri="{FF2B5EF4-FFF2-40B4-BE49-F238E27FC236}">
                <a16:creationId xmlns:a16="http://schemas.microsoft.com/office/drawing/2014/main" id="{D8B41740-FCB7-79CC-E380-D291857C709B}"/>
              </a:ext>
            </a:extLst>
          </p:cNvPr>
          <p:cNvSpPr txBox="1"/>
          <p:nvPr/>
        </p:nvSpPr>
        <p:spPr>
          <a:xfrm>
            <a:off x="819150" y="3226297"/>
            <a:ext cx="48577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Período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en-US" sz="1350" b="1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06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–31 de </a:t>
            </a: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julio</a:t>
            </a:r>
            <a:endParaRPr dirty="0"/>
          </a:p>
        </p:txBody>
      </p:sp>
      <p:sp>
        <p:nvSpPr>
          <p:cNvPr id="3" name="Google Shape;218;p17">
            <a:extLst>
              <a:ext uri="{FF2B5EF4-FFF2-40B4-BE49-F238E27FC236}">
                <a16:creationId xmlns:a16="http://schemas.microsoft.com/office/drawing/2014/main" id="{A941217C-5FB3-28CB-D50E-B542C7B27C83}"/>
              </a:ext>
            </a:extLst>
          </p:cNvPr>
          <p:cNvSpPr txBox="1"/>
          <p:nvPr/>
        </p:nvSpPr>
        <p:spPr>
          <a:xfrm>
            <a:off x="6438900" y="3207246"/>
            <a:ext cx="48577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Período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en-US" sz="1350" b="1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06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–31 de </a:t>
            </a: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julio</a:t>
            </a:r>
            <a:endParaRPr dirty="0"/>
          </a:p>
        </p:txBody>
      </p:sp>
      <p:sp>
        <p:nvSpPr>
          <p:cNvPr id="4" name="Google Shape;218;p17">
            <a:extLst>
              <a:ext uri="{FF2B5EF4-FFF2-40B4-BE49-F238E27FC236}">
                <a16:creationId xmlns:a16="http://schemas.microsoft.com/office/drawing/2014/main" id="{AD824851-AD0B-ED26-2930-4D931F6D38CE}"/>
              </a:ext>
            </a:extLst>
          </p:cNvPr>
          <p:cNvSpPr txBox="1"/>
          <p:nvPr/>
        </p:nvSpPr>
        <p:spPr>
          <a:xfrm>
            <a:off x="819150" y="5250656"/>
            <a:ext cx="48577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Período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: 01–26 de </a:t>
            </a:r>
            <a:r>
              <a:rPr lang="en-US" sz="1350" b="1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agosto</a:t>
            </a:r>
            <a:endParaRPr dirty="0"/>
          </a:p>
        </p:txBody>
      </p:sp>
      <p:sp>
        <p:nvSpPr>
          <p:cNvPr id="5" name="Google Shape;218;p17">
            <a:extLst>
              <a:ext uri="{FF2B5EF4-FFF2-40B4-BE49-F238E27FC236}">
                <a16:creationId xmlns:a16="http://schemas.microsoft.com/office/drawing/2014/main" id="{79F7E04E-9AD9-0F6C-2169-2B53CEC5297F}"/>
              </a:ext>
            </a:extLst>
          </p:cNvPr>
          <p:cNvSpPr txBox="1"/>
          <p:nvPr/>
        </p:nvSpPr>
        <p:spPr>
          <a:xfrm>
            <a:off x="6438900" y="5249891"/>
            <a:ext cx="48577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Período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: </a:t>
            </a:r>
            <a:r>
              <a:rPr lang="en-US" sz="1350" b="1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27 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de </a:t>
            </a:r>
            <a:r>
              <a:rPr lang="en-US" sz="1350" b="1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Agosto – 25 de </a:t>
            </a:r>
            <a:r>
              <a:rPr lang="en-US" sz="1350" b="1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Septiembre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/>
          <p:nvPr/>
        </p:nvSpPr>
        <p:spPr>
          <a:xfrm>
            <a:off x="571500" y="1971675"/>
            <a:ext cx="11049000" cy="38100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3225"/>
            <a:ext cx="11049000" cy="87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86273"/>
            <a:ext cx="1104900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514475"/>
            <a:ext cx="152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76500" y="1514475"/>
            <a:ext cx="152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81500" y="1514475"/>
            <a:ext cx="152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1514475"/>
            <a:ext cx="152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0" y="1514475"/>
            <a:ext cx="152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96500" y="1514475"/>
            <a:ext cx="152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Secuencia metodológica propuesta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11296650" y="64770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4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800100" y="3133725"/>
            <a:ext cx="1116139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Avance en paralelo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800100" y="3390900"/>
            <a:ext cx="10629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Las actividades de aplicación de la encuesta, validación experta y configuración/prueba del sistema piloto avanzan de manera simultánea.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800100" y="4599725"/>
            <a:ext cx="1421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Aspecto crítico: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19800"/>
            <a:ext cx="11049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133475"/>
            <a:ext cx="5334000" cy="2782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133475"/>
            <a:ext cx="5334000" cy="2782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54140"/>
            <a:ext cx="34924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49650" y="4554140"/>
            <a:ext cx="3492549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27950" y="4554140"/>
            <a:ext cx="34924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Fase 1: Consulta a académicos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571500" y="4201715"/>
            <a:ext cx="116014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Productos esperados: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1296650" y="64770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5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809625" y="1371600"/>
            <a:ext cx="51006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Aplicación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809625" y="1619250"/>
            <a:ext cx="48577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Ventana </a:t>
            </a: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propuesta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: 6–17 de </a:t>
            </a: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julio</a:t>
            </a:r>
            <a:endParaRPr dirty="0"/>
          </a:p>
        </p:txBody>
      </p:sp>
      <p:sp>
        <p:nvSpPr>
          <p:cNvPr id="217" name="Google Shape;217;p17"/>
          <p:cNvSpPr txBox="1"/>
          <p:nvPr/>
        </p:nvSpPr>
        <p:spPr>
          <a:xfrm>
            <a:off x="6524625" y="1371600"/>
            <a:ext cx="51006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Análisis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524625" y="1619250"/>
            <a:ext cx="48577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Período</a:t>
            </a:r>
            <a:r>
              <a:rPr lang="en-US" sz="1350" b="1" i="0" u="none" strike="noStrike" cap="none" dirty="0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: 20–31 de </a:t>
            </a:r>
            <a:r>
              <a:rPr lang="en-US" sz="1350" b="1" i="0" u="none" strike="noStrike" cap="none" dirty="0" err="1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julio</a:t>
            </a:r>
            <a:endParaRPr dirty="0"/>
          </a:p>
        </p:txBody>
      </p:sp>
      <p:sp>
        <p:nvSpPr>
          <p:cNvPr id="219" name="Google Shape;219;p17"/>
          <p:cNvSpPr txBox="1"/>
          <p:nvPr/>
        </p:nvSpPr>
        <p:spPr>
          <a:xfrm>
            <a:off x="6524625" y="2002035"/>
            <a:ext cx="48577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Dimensiones a analizar:</a:t>
            </a:r>
            <a:endParaRPr/>
          </a:p>
        </p:txBody>
      </p:sp>
      <p:pic>
        <p:nvPicPr>
          <p:cNvPr id="220" name="Google Shape;22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1400175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 txBox="1"/>
          <p:nvPr/>
        </p:nvSpPr>
        <p:spPr>
          <a:xfrm>
            <a:off x="1038225" y="2002035"/>
            <a:ext cx="46291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Invitación inicial y primer recordatorio.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1038225" y="2337196"/>
            <a:ext cx="46291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Segundo recordatorio.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1038225" y="2672357"/>
            <a:ext cx="46291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Seguimiento por departamento.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1038225" y="3007518"/>
            <a:ext cx="46291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Control de errores y consultas.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038225" y="3342679"/>
            <a:ext cx="46291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Cierre y respaldo de la base.</a:t>
            </a:r>
            <a:endParaRPr/>
          </a:p>
        </p:txBody>
      </p:sp>
      <p:pic>
        <p:nvPicPr>
          <p:cNvPr id="226" name="Google Shape;22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24625" y="1400175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 txBox="1"/>
          <p:nvPr/>
        </p:nvSpPr>
        <p:spPr>
          <a:xfrm>
            <a:off x="6753225" y="2289571"/>
            <a:ext cx="21240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Caracterización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753225" y="2624732"/>
            <a:ext cx="21240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Percepción general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6753225" y="2959893"/>
            <a:ext cx="21240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Actividades por área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9258300" y="2289571"/>
            <a:ext cx="21240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Modificaciones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9258300" y="2624732"/>
            <a:ext cx="21240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Fuentes de evidencia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9258300" y="2959893"/>
            <a:ext cx="21240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Respuestas abiertas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9625" y="205918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9625" y="2394346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9625" y="272950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9625" y="3064668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9625" y="3399829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24625" y="234672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24625" y="268188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24625" y="301704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29700" y="234672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29700" y="268188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29700" y="3017043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00737"/>
            <a:ext cx="110490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0" y="1857375"/>
            <a:ext cx="3048000" cy="332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3500" y="256847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0" y="2120205"/>
            <a:ext cx="3048000" cy="280154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Fase 2: Validación de rúbrica y guías orientadoras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571500" y="1133475"/>
            <a:ext cx="1104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Panel de expertos: 6 a 8 especialistas</a:t>
            </a:r>
            <a:r>
              <a:rPr lang="en-US" sz="150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(evaluación educacional, normativa, gestión, ex miembros de comisiones, representantes de áreas).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11296650" y="64770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6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4005262" y="5470326"/>
            <a:ext cx="19526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Aplicación: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6–24 de julio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6338887" y="5470326"/>
            <a:ext cx="18478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Análisis: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20–31 de julio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1809750" y="2143125"/>
            <a:ext cx="2600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Criterios de validación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7905750" y="2405955"/>
            <a:ext cx="2600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56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Método de análisis</a:t>
            </a:r>
            <a:endParaRPr/>
          </a:p>
        </p:txBody>
      </p:sp>
      <p:pic>
        <p:nvPicPr>
          <p:cNvPr id="262" name="Google Shape;26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05262" y="5498901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8887" y="5498901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/>
        </p:nvSpPr>
        <p:spPr>
          <a:xfrm>
            <a:off x="2038350" y="2552700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Claridad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2038350" y="2887860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Relevancia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2038350" y="3223021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Coherencia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2038350" y="3558182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Suficiencia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2038350" y="3893343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Diferenciación entre niveles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2038350" y="4228504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Pertinencia por jerarquía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2038350" y="4563665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Factibilidad de aplicación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8134350" y="2815530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Aiken V (o equivalente)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8134350" y="3150691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Porcentaje de acuerdo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8134350" y="3485852"/>
            <a:ext cx="2247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Análisis cualitativo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8134350" y="3821013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Matriz de decisiones: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mantener, modificar, fusionar, eliminar, incorporar.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09750" y="26098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09750" y="29450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09750" y="328017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09750" y="361533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09750" y="395049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09750" y="4285654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09750" y="462081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05750" y="287268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05750" y="320784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05750" y="354300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05750" y="3878163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10275"/>
            <a:ext cx="110490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133475"/>
            <a:ext cx="5334000" cy="297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133475"/>
            <a:ext cx="5334000" cy="297299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Fase 3: Del diseño metodológico a un piloto funcional</a:t>
            </a:r>
            <a:endParaRPr/>
          </a:p>
        </p:txBody>
      </p:sp>
      <p:pic>
        <p:nvPicPr>
          <p:cNvPr id="296" name="Google Shape;29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05003"/>
            <a:ext cx="11049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9"/>
          <p:cNvSpPr txBox="1"/>
          <p:nvPr/>
        </p:nvSpPr>
        <p:spPr>
          <a:xfrm>
            <a:off x="571500" y="5284665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Configuración y prueba del sistema: 29 de junio–24 de julio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11296650" y="64770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7</a:t>
            </a:r>
            <a:endParaRPr/>
          </a:p>
        </p:txBody>
      </p:sp>
      <p:pic>
        <p:nvPicPr>
          <p:cNvPr id="300" name="Google Shape;30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35887" y="4633615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4000" y="4633603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34037" y="4633615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7887" y="4633590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86587" y="4633615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5287" y="4633615"/>
            <a:ext cx="857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9"/>
          <p:cNvSpPr txBox="1"/>
          <p:nvPr/>
        </p:nvSpPr>
        <p:spPr>
          <a:xfrm>
            <a:off x="857250" y="1419225"/>
            <a:ext cx="5000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Configuración metodológica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6572250" y="1419225"/>
            <a:ext cx="5000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Preparación tecnológica</a:t>
            </a:r>
            <a:endParaRPr/>
          </a:p>
        </p:txBody>
      </p:sp>
      <p:pic>
        <p:nvPicPr>
          <p:cNvPr id="308" name="Google Shape;30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1447800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9"/>
          <p:cNvSpPr txBox="1"/>
          <p:nvPr/>
        </p:nvSpPr>
        <p:spPr>
          <a:xfrm>
            <a:off x="1085850" y="1809750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8 casos anonimizados.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1085850" y="2144910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3 evaluadores (todos evalúan todos los casos).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1085850" y="2480071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Evaluación independiente inicial.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1085850" y="2815232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Caso inicial de calibración.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1085850" y="3150393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Sesión posterior de deliberación.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1085850" y="3485554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Registro de tiempos, dudas e incidentes.</a:t>
            </a:r>
            <a:endParaRPr/>
          </a:p>
        </p:txBody>
      </p:sp>
      <p:pic>
        <p:nvPicPr>
          <p:cNvPr id="315" name="Google Shape;31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72250" y="1447800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9"/>
          <p:cNvSpPr txBox="1"/>
          <p:nvPr/>
        </p:nvSpPr>
        <p:spPr>
          <a:xfrm>
            <a:off x="6800850" y="1809750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Habilitación de perfiles y asignación de casos.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6800850" y="2144910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Visualización de áreas y actividades.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6800850" y="2480071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Guía orientadora según jerarquía.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6800850" y="2815232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Rúbrica en orden descendente.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6800850" y="3150393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Guardado, envío, bloqueo y comparación.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6800850" y="3485554"/>
            <a:ext cx="45339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Registro de deliberación en el sistema.</a:t>
            </a:r>
            <a:endParaRPr/>
          </a:p>
        </p:txBody>
      </p:sp>
      <p:sp>
        <p:nvSpPr>
          <p:cNvPr id="322" name="Google Shape;322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18669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220206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253722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287238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320754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3542704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2250" y="18669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2250" y="220206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2250" y="253722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2250" y="287238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2250" y="320754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2250" y="3542704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33475"/>
            <a:ext cx="1104900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851624"/>
            <a:ext cx="110490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0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Fase 3: Aplicación del piloto de precalificación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11296650" y="64770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8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809625" y="1800225"/>
            <a:ext cx="15859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Inducción 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calibración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2606873" y="1800225"/>
            <a:ext cx="15859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individual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4404121" y="1800225"/>
            <a:ext cx="15859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Comparación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resultados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6201370" y="1800225"/>
            <a:ext cx="15859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Identificación 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divergencias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7998618" y="1800225"/>
            <a:ext cx="15859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Deliberación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comisión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9795867" y="1800225"/>
            <a:ext cx="15859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Encuesta 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cierre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571500" y="2819400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Calendario de aplicación</a:t>
            </a:r>
            <a:endParaRPr/>
          </a:p>
        </p:txBody>
      </p:sp>
      <p:graphicFrame>
        <p:nvGraphicFramePr>
          <p:cNvPr id="352" name="Google Shape;352;p20"/>
          <p:cNvGraphicFramePr/>
          <p:nvPr/>
        </p:nvGraphicFramePr>
        <p:xfrm>
          <a:off x="6286500" y="2914650"/>
          <a:ext cx="5334000" cy="2698800"/>
        </p:xfrm>
        <a:graphic>
          <a:graphicData uri="http://schemas.openxmlformats.org/drawingml/2006/table">
            <a:tbl>
              <a:tblPr firstRow="1" bandRow="1">
                <a:noFill/>
                <a:tableStyleId>{792CF0F1-09CF-40EF-A91C-3D302B380243}</a:tableStyleId>
              </a:tblPr>
              <a:tblGrid>
                <a:gridCol w="299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Actividad por evaluador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Tiempo estimado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Inducción y calibración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1,5–2 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Evaluación de 8 casos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4–6 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Deliberación conjunta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3–4 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Encuesta y cierre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0,5 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9–12,5 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53" name="Google Shape;35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5431" y="1409700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23629" y="1409700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25640" y="1409700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08601" y="140970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20137" y="1409700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12623" y="1409700"/>
            <a:ext cx="152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0"/>
          <p:cNvSpPr txBox="1"/>
          <p:nvPr/>
        </p:nvSpPr>
        <p:spPr>
          <a:xfrm>
            <a:off x="800100" y="3228975"/>
            <a:ext cx="51054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Ajustes y prueba interna: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3–7 de agosto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800100" y="3564135"/>
            <a:ext cx="51054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Inducción y calibración: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10–12 de agosto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800100" y="3899296"/>
            <a:ext cx="51054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Evaluación individual: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13–21 de agosto</a:t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800100" y="4234457"/>
            <a:ext cx="51054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Deliberación y cierre: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24–26 de agosto</a:t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9285833" y="3793628"/>
            <a:ext cx="2334666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9285833" y="4245024"/>
            <a:ext cx="2334666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6286500" y="4696420"/>
            <a:ext cx="2999333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9285833" y="4696420"/>
            <a:ext cx="2334666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9285833" y="5147816"/>
            <a:ext cx="2334666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6286500" y="5599211"/>
            <a:ext cx="2999333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9285833" y="5599211"/>
            <a:ext cx="2334666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328612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362128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3956446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4291607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0"/>
          <p:cNvSpPr/>
          <p:nvPr/>
        </p:nvSpPr>
        <p:spPr>
          <a:xfrm>
            <a:off x="6286500" y="3793628"/>
            <a:ext cx="2999333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6286500" y="4245024"/>
            <a:ext cx="2999333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6286500" y="5147816"/>
            <a:ext cx="2999333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695402"/>
            <a:ext cx="8839200" cy="93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950" y="1133475"/>
            <a:ext cx="3314700" cy="2142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8650" y="1133475"/>
            <a:ext cx="3314700" cy="2142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34350" y="1133475"/>
            <a:ext cx="3314700" cy="214282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1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Tres fuentes de evidencia para una decisión integrada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952500" y="5051673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4313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Análisis piloto: 27 ago–4 sep                                  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|</a:t>
            </a:r>
            <a:r>
              <a:rPr lang="en-US" sz="1200" b="0" i="0" u="none" strike="noStrike" cap="none">
                <a:solidFill>
                  <a:srgbClr val="24313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                           Consolidación: 7–18 sep                                </a:t>
            </a:r>
            <a:r>
              <a:rPr lang="en-US" sz="1200" b="0" i="0" u="none" strike="noStrike" cap="none">
                <a:solidFill>
                  <a:schemeClr val="dk1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|                                         </a:t>
            </a:r>
            <a:r>
              <a:rPr lang="en-US" sz="1200" b="0" i="0" u="none" strike="noStrike" cap="none">
                <a:solidFill>
                  <a:srgbClr val="24313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 Versión entregable: 21–25 sep</a:t>
            </a:r>
            <a:endParaRPr/>
          </a:p>
        </p:txBody>
      </p:sp>
      <p:sp>
        <p:nvSpPr>
          <p:cNvPr id="389" name="Google Shape;389;p21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11296650" y="64770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9</a:t>
            </a:r>
            <a:endParaRPr/>
          </a:p>
        </p:txBody>
      </p:sp>
      <p:pic>
        <p:nvPicPr>
          <p:cNvPr id="391" name="Google Shape;39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90825" y="337155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10275" y="337155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29725" y="337155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1"/>
          <p:cNvSpPr txBox="1"/>
          <p:nvPr/>
        </p:nvSpPr>
        <p:spPr>
          <a:xfrm>
            <a:off x="1655444" y="3885902"/>
            <a:ext cx="888111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Matriz maestra de trazabilidad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1866900" y="4228802"/>
            <a:ext cx="845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DEAF2"/>
                </a:solidFill>
                <a:latin typeface="Source Sans 3"/>
                <a:ea typeface="Source Sans 3"/>
                <a:cs typeface="Source Sans 3"/>
                <a:sym typeface="Source Sans 3"/>
              </a:rPr>
              <a:t>Fuente | Hallazgo | Prioridad | Decisión | Modificación Manual | Modificación Sistema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880110" y="1343025"/>
            <a:ext cx="304038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Consulta a académicos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4575810" y="1343025"/>
            <a:ext cx="304038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Validación experta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8271510" y="1343025"/>
            <a:ext cx="304038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Piloto operativo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1181100" y="175260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Percepción del proceso actual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1181100" y="201543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Actividades faltantes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1181100" y="227826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Problemas de claridad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1181100" y="2541091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Fuentes de evidencia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1181100" y="2803921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Prioridades de mejora</a:t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4876800" y="175260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Validez de contenido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4876800" y="201543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Diferenciación de niveles</a:t>
            </a:r>
            <a:endParaRPr/>
          </a:p>
        </p:txBody>
      </p:sp>
      <p:sp>
        <p:nvSpPr>
          <p:cNvPr id="406" name="Google Shape;406;p21"/>
          <p:cNvSpPr txBox="1"/>
          <p:nvPr/>
        </p:nvSpPr>
        <p:spPr>
          <a:xfrm>
            <a:off x="4876800" y="227826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Pertinencia por jerarquía</a:t>
            </a:r>
            <a:endParaRPr/>
          </a:p>
        </p:txBody>
      </p:sp>
      <p:sp>
        <p:nvSpPr>
          <p:cNvPr id="407" name="Google Shape;407;p21"/>
          <p:cNvSpPr txBox="1"/>
          <p:nvPr/>
        </p:nvSpPr>
        <p:spPr>
          <a:xfrm>
            <a:off x="4876800" y="2541091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Claridad de rúbrica</a:t>
            </a:r>
            <a:endParaRPr/>
          </a:p>
        </p:txBody>
      </p:sp>
      <p:sp>
        <p:nvSpPr>
          <p:cNvPr id="408" name="Google Shape;408;p21"/>
          <p:cNvSpPr txBox="1"/>
          <p:nvPr/>
        </p:nvSpPr>
        <p:spPr>
          <a:xfrm>
            <a:off x="4876800" y="2803921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Suficiencia de guías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8572500" y="175260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Acuerdo entre evaluadores</a:t>
            </a:r>
            <a:endParaRPr/>
          </a:p>
        </p:txBody>
      </p:sp>
      <p:sp>
        <p:nvSpPr>
          <p:cNvPr id="410" name="Google Shape;410;p21"/>
          <p:cNvSpPr txBox="1"/>
          <p:nvPr/>
        </p:nvSpPr>
        <p:spPr>
          <a:xfrm>
            <a:off x="8572500" y="201543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Tiempos reales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8572500" y="2278260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Usabilidad del sistema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8572500" y="2541091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Criterios ambiguos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8572500" y="2803921"/>
            <a:ext cx="266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Factibilidad institucional</a:t>
            </a:r>
            <a:endParaRPr/>
          </a:p>
        </p:txBody>
      </p:sp>
      <p:sp>
        <p:nvSpPr>
          <p:cNvPr id="414" name="Google Shape;414;p2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1809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07258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3354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59824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86107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1809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07258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3354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59824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86107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3900" y="1809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3900" y="207258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3900" y="23354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3900" y="259824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3900" y="2861071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2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Cronograma intensivo recomendado: junio–septiembre de 2026</a:t>
            </a:r>
            <a:endParaRPr/>
          </a:p>
        </p:txBody>
      </p:sp>
      <p:sp>
        <p:nvSpPr>
          <p:cNvPr id="436" name="Google Shape;436;p22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437" name="Google Shape;437;p22"/>
          <p:cNvSpPr txBox="1"/>
          <p:nvPr/>
        </p:nvSpPr>
        <p:spPr>
          <a:xfrm>
            <a:off x="11229975" y="6477000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10</a:t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042050"/>
            <a:ext cx="11049001" cy="4937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33475"/>
            <a:ext cx="5334000" cy="53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39032"/>
            <a:ext cx="2362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3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Carga de trabajo y escenarios de cierre</a:t>
            </a:r>
            <a:endParaRPr/>
          </a:p>
        </p:txBody>
      </p:sp>
      <p:sp>
        <p:nvSpPr>
          <p:cNvPr id="448" name="Google Shape;448;p23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11229975" y="6477000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11</a:t>
            </a:r>
            <a:endParaRPr/>
          </a:p>
        </p:txBody>
      </p:sp>
      <p:sp>
        <p:nvSpPr>
          <p:cNvPr id="450" name="Google Shape;450;p23"/>
          <p:cNvSpPr txBox="1"/>
          <p:nvPr/>
        </p:nvSpPr>
        <p:spPr>
          <a:xfrm>
            <a:off x="571500" y="1133475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Carga estimada global</a:t>
            </a:r>
            <a:endParaRPr/>
          </a:p>
        </p:txBody>
      </p:sp>
      <p:sp>
        <p:nvSpPr>
          <p:cNvPr id="451" name="Google Shape;451;p23"/>
          <p:cNvSpPr txBox="1"/>
          <p:nvPr/>
        </p:nvSpPr>
        <p:spPr>
          <a:xfrm>
            <a:off x="6286500" y="1133475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Escenarios de planificación</a:t>
            </a:r>
            <a:endParaRPr/>
          </a:p>
        </p:txBody>
      </p:sp>
      <p:graphicFrame>
        <p:nvGraphicFramePr>
          <p:cNvPr id="452" name="Google Shape;452;p23"/>
          <p:cNvGraphicFramePr/>
          <p:nvPr/>
        </p:nvGraphicFramePr>
        <p:xfrm>
          <a:off x="6286500" y="1543050"/>
          <a:ext cx="5305425" cy="1843700"/>
        </p:xfrm>
        <a:graphic>
          <a:graphicData uri="http://schemas.openxmlformats.org/drawingml/2006/table">
            <a:tbl>
              <a:tblPr firstRow="1" bandRow="1">
                <a:noFill/>
                <a:tableStyleId>{792CF0F1-09CF-40EF-A91C-3D302B380243}</a:tableStyleId>
              </a:tblPr>
              <a:tblGrid>
                <a:gridCol w="28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Fecha de entrega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123B5D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Intensivo recomendado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123B5D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25 septiembre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Con holgura operativa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 octubre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Conservador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24313C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23 octubre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3" name="Google Shape;453;p23"/>
          <p:cNvSpPr/>
          <p:nvPr/>
        </p:nvSpPr>
        <p:spPr>
          <a:xfrm>
            <a:off x="6286500" y="3624857"/>
            <a:ext cx="5334000" cy="88582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6429375" y="3767732"/>
            <a:ext cx="5048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Nota:</a:t>
            </a:r>
            <a:r>
              <a:rPr lang="en-US" sz="1125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 La estimación no incluye la posterior revisión jurídica, aprobación del Consejo de Facultad ni la tramitación formal de la resolución, que podrían requerir entre cuatro y ocho semanas adicionales.</a:t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6286500" y="3624857"/>
            <a:ext cx="38100" cy="885825"/>
          </a:xfrm>
          <a:prstGeom prst="rect">
            <a:avLst/>
          </a:prstGeom>
          <a:solidFill>
            <a:srgbClr val="C979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800100" y="1543050"/>
            <a:ext cx="51054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Duración total recomendada: </a:t>
            </a: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13 semanas calendario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800100" y="1878210"/>
            <a:ext cx="51054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Trabajo directo estimado: </a:t>
            </a: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180–240 horas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/>
          </a:p>
        </p:txBody>
      </p:sp>
      <p:sp>
        <p:nvSpPr>
          <p:cNvPr id="458" name="Google Shape;458;p23"/>
          <p:cNvSpPr txBox="1"/>
          <p:nvPr/>
        </p:nvSpPr>
        <p:spPr>
          <a:xfrm>
            <a:off x="800100" y="2213371"/>
            <a:ext cx="51054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Dedicación promedio: </a:t>
            </a:r>
            <a:r>
              <a:rPr lang="en-US" sz="1350" b="1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16–22 horas semanales</a:t>
            </a:r>
            <a:r>
              <a:rPr lang="en-US" sz="1350" b="0" i="0" u="none" strike="noStrike" cap="none">
                <a:solidFill>
                  <a:srgbClr val="24313C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/>
          </a:p>
        </p:txBody>
      </p:sp>
      <p:sp>
        <p:nvSpPr>
          <p:cNvPr id="459" name="Google Shape;459;p23"/>
          <p:cNvSpPr/>
          <p:nvPr/>
        </p:nvSpPr>
        <p:spPr>
          <a:xfrm>
            <a:off x="9181802" y="3372445"/>
            <a:ext cx="2424410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1" name="Google Shape;46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002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3536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70521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3"/>
          <p:cNvSpPr/>
          <p:nvPr/>
        </p:nvSpPr>
        <p:spPr>
          <a:xfrm>
            <a:off x="6300787" y="2460128"/>
            <a:ext cx="2881014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9181802" y="2460128"/>
            <a:ext cx="2424410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6300787" y="2921049"/>
            <a:ext cx="2881014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9181802" y="2921049"/>
            <a:ext cx="2424410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6300787" y="3372445"/>
            <a:ext cx="2881014" cy="9525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246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38" y="4848688"/>
            <a:ext cx="85725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1812" y="1133475"/>
            <a:ext cx="6048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1812" y="1895475"/>
            <a:ext cx="6048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1812" y="2657475"/>
            <a:ext cx="6048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1812" y="3419475"/>
            <a:ext cx="6048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1812" y="4181475"/>
            <a:ext cx="60483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4"/>
          <p:cNvSpPr txBox="1"/>
          <p:nvPr/>
        </p:nvSpPr>
        <p:spPr>
          <a:xfrm>
            <a:off x="571500" y="3810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23B5D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Decisiones necesarias para iniciar la ejecución</a:t>
            </a:r>
            <a:endParaRPr/>
          </a:p>
        </p:txBody>
      </p:sp>
      <p:sp>
        <p:nvSpPr>
          <p:cNvPr id="481" name="Google Shape;481;p24"/>
          <p:cNvSpPr txBox="1"/>
          <p:nvPr/>
        </p:nvSpPr>
        <p:spPr>
          <a:xfrm>
            <a:off x="571500" y="6477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Facultad de Ingeniería | Plan de validación y pilotaje 2026</a:t>
            </a:r>
            <a:endParaRPr/>
          </a:p>
        </p:txBody>
      </p:sp>
      <p:sp>
        <p:nvSpPr>
          <p:cNvPr id="482" name="Google Shape;482;p24"/>
          <p:cNvSpPr txBox="1"/>
          <p:nvPr/>
        </p:nvSpPr>
        <p:spPr>
          <a:xfrm>
            <a:off x="11229975" y="6477000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12</a:t>
            </a:r>
            <a:endParaRPr/>
          </a:p>
        </p:txBody>
      </p:sp>
      <p:sp>
        <p:nvSpPr>
          <p:cNvPr id="483" name="Google Shape;483;p24"/>
          <p:cNvSpPr txBox="1"/>
          <p:nvPr/>
        </p:nvSpPr>
        <p:spPr>
          <a:xfrm>
            <a:off x="295200" y="5811575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Versión técnicamente entregable: 25 de septiembre de 2026</a:t>
            </a:r>
            <a:endParaRPr/>
          </a:p>
        </p:txBody>
      </p:sp>
      <p:sp>
        <p:nvSpPr>
          <p:cNvPr id="484" name="Google Shape;484;p24"/>
          <p:cNvSpPr txBox="1"/>
          <p:nvPr/>
        </p:nvSpPr>
        <p:spPr>
          <a:xfrm>
            <a:off x="571500" y="6819900"/>
            <a:ext cx="11049000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57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Posteriormente: revisión jurídica, aprobación institucional y tramitación de la resolución.</a:t>
            </a:r>
            <a:endParaRPr/>
          </a:p>
        </p:txBody>
      </p:sp>
      <p:sp>
        <p:nvSpPr>
          <p:cNvPr id="485" name="Google Shape;485;p24"/>
          <p:cNvSpPr txBox="1"/>
          <p:nvPr/>
        </p:nvSpPr>
        <p:spPr>
          <a:xfrm>
            <a:off x="3357562" y="1276350"/>
            <a:ext cx="2857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1</a:t>
            </a:r>
            <a:endParaRPr/>
          </a:p>
        </p:txBody>
      </p:sp>
      <p:sp>
        <p:nvSpPr>
          <p:cNvPr id="486" name="Google Shape;486;p24"/>
          <p:cNvSpPr txBox="1"/>
          <p:nvPr/>
        </p:nvSpPr>
        <p:spPr>
          <a:xfrm>
            <a:off x="3833794" y="1309674"/>
            <a:ext cx="40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3B5D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Aprobar el cronograma intensivo.</a:t>
            </a:r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3357562" y="2038350"/>
            <a:ext cx="2857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2</a:t>
            </a:r>
            <a:endParaRPr/>
          </a:p>
        </p:txBody>
      </p:sp>
      <p:sp>
        <p:nvSpPr>
          <p:cNvPr id="488" name="Google Shape;488;p24"/>
          <p:cNvSpPr txBox="1"/>
          <p:nvPr/>
        </p:nvSpPr>
        <p:spPr>
          <a:xfrm>
            <a:off x="3833798" y="2071677"/>
            <a:ext cx="430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3B5D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Congelar la versión base de los instrumentos.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3357562" y="2800350"/>
            <a:ext cx="2857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3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3833796" y="2833677"/>
            <a:ext cx="483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3B5D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Definir responsables y expertos participantes.</a:t>
            </a:r>
            <a:endParaRPr/>
          </a:p>
        </p:txBody>
      </p:sp>
      <p:sp>
        <p:nvSpPr>
          <p:cNvPr id="491" name="Google Shape;491;p24"/>
          <p:cNvSpPr txBox="1"/>
          <p:nvPr/>
        </p:nvSpPr>
        <p:spPr>
          <a:xfrm>
            <a:off x="3357562" y="3562350"/>
            <a:ext cx="2857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4</a:t>
            </a:r>
            <a:endParaRPr/>
          </a:p>
        </p:txBody>
      </p:sp>
      <p:sp>
        <p:nvSpPr>
          <p:cNvPr id="492" name="Google Shape;492;p24"/>
          <p:cNvSpPr txBox="1"/>
          <p:nvPr/>
        </p:nvSpPr>
        <p:spPr>
          <a:xfrm>
            <a:off x="3848112" y="3577837"/>
            <a:ext cx="504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3B5D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Configurar y probar los casos y perfiles en el sistema existente.</a:t>
            </a:r>
            <a:endParaRPr/>
          </a:p>
        </p:txBody>
      </p:sp>
      <p:sp>
        <p:nvSpPr>
          <p:cNvPr id="493" name="Google Shape;493;p24"/>
          <p:cNvSpPr txBox="1"/>
          <p:nvPr/>
        </p:nvSpPr>
        <p:spPr>
          <a:xfrm>
            <a:off x="3357562" y="4324350"/>
            <a:ext cx="2857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97932"/>
                </a:solidFill>
                <a:latin typeface="Source Sans 3"/>
                <a:ea typeface="Source Sans 3"/>
                <a:cs typeface="Source Sans 3"/>
                <a:sym typeface="Source Sans 3"/>
              </a:rPr>
              <a:t>5</a:t>
            </a:r>
            <a:endParaRPr/>
          </a:p>
        </p:txBody>
      </p:sp>
      <p:sp>
        <p:nvSpPr>
          <p:cNvPr id="494" name="Google Shape;494;p24"/>
          <p:cNvSpPr txBox="1"/>
          <p:nvPr/>
        </p:nvSpPr>
        <p:spPr>
          <a:xfrm>
            <a:off x="3833812" y="4286262"/>
            <a:ext cx="497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3B5D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Confirmar el 25 de septiembre como fecha de entrega técnica.</a:t>
            </a:r>
            <a:endParaRPr/>
          </a:p>
        </p:txBody>
      </p:sp>
      <p:sp>
        <p:nvSpPr>
          <p:cNvPr id="495" name="Google Shape;495;p2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1090</Words>
  <Application>Microsoft Office PowerPoint</Application>
  <PresentationFormat>Panorámica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Source Sans 3 SemiBold</vt:lpstr>
      <vt:lpstr>Source Sans 3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Fing</dc:creator>
  <cp:lastModifiedBy>Aníbal Román Cortés</cp:lastModifiedBy>
  <cp:revision>2</cp:revision>
  <dcterms:modified xsi:type="dcterms:W3CDTF">2026-06-30T15:39:42Z</dcterms:modified>
</cp:coreProperties>
</file>