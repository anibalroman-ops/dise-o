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83"/>
  </p:notesMasterIdLst>
  <p:sldIdLst>
    <p:sldId id="365"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3" r:id="rId18"/>
    <p:sldId id="279" r:id="rId19"/>
    <p:sldId id="281" r:id="rId20"/>
    <p:sldId id="282" r:id="rId21"/>
    <p:sldId id="289" r:id="rId22"/>
    <p:sldId id="370" r:id="rId23"/>
    <p:sldId id="283" r:id="rId24"/>
    <p:sldId id="371" r:id="rId25"/>
    <p:sldId id="372" r:id="rId26"/>
    <p:sldId id="373" r:id="rId27"/>
    <p:sldId id="359" r:id="rId28"/>
    <p:sldId id="286" r:id="rId29"/>
    <p:sldId id="287" r:id="rId30"/>
    <p:sldId id="415" r:id="rId31"/>
    <p:sldId id="416" r:id="rId32"/>
    <p:sldId id="368" r:id="rId33"/>
    <p:sldId id="369" r:id="rId34"/>
    <p:sldId id="417" r:id="rId35"/>
    <p:sldId id="418" r:id="rId36"/>
    <p:sldId id="419" r:id="rId37"/>
    <p:sldId id="288" r:id="rId38"/>
    <p:sldId id="363" r:id="rId39"/>
    <p:sldId id="364" r:id="rId40"/>
    <p:sldId id="367" r:id="rId41"/>
    <p:sldId id="366" r:id="rId42"/>
    <p:sldId id="400" r:id="rId43"/>
    <p:sldId id="403" r:id="rId44"/>
    <p:sldId id="405" r:id="rId45"/>
    <p:sldId id="401" r:id="rId46"/>
    <p:sldId id="402" r:id="rId47"/>
    <p:sldId id="358" r:id="rId48"/>
    <p:sldId id="375" r:id="rId49"/>
    <p:sldId id="256" r:id="rId50"/>
    <p:sldId id="376" r:id="rId51"/>
    <p:sldId id="377" r:id="rId52"/>
    <p:sldId id="378" r:id="rId53"/>
    <p:sldId id="374" r:id="rId54"/>
    <p:sldId id="414" r:id="rId55"/>
    <p:sldId id="407" r:id="rId56"/>
    <p:sldId id="408" r:id="rId57"/>
    <p:sldId id="409" r:id="rId58"/>
    <p:sldId id="410" r:id="rId59"/>
    <p:sldId id="411" r:id="rId60"/>
    <p:sldId id="412" r:id="rId61"/>
    <p:sldId id="413" r:id="rId62"/>
    <p:sldId id="379" r:id="rId63"/>
    <p:sldId id="384" r:id="rId64"/>
    <p:sldId id="385" r:id="rId65"/>
    <p:sldId id="386" r:id="rId66"/>
    <p:sldId id="398" r:id="rId67"/>
    <p:sldId id="395" r:id="rId68"/>
    <p:sldId id="396" r:id="rId69"/>
    <p:sldId id="397" r:id="rId70"/>
    <p:sldId id="399" r:id="rId71"/>
    <p:sldId id="389" r:id="rId72"/>
    <p:sldId id="391" r:id="rId73"/>
    <p:sldId id="393" r:id="rId74"/>
    <p:sldId id="392" r:id="rId75"/>
    <p:sldId id="387" r:id="rId76"/>
    <p:sldId id="388" r:id="rId77"/>
    <p:sldId id="390" r:id="rId78"/>
    <p:sldId id="380" r:id="rId79"/>
    <p:sldId id="381" r:id="rId80"/>
    <p:sldId id="382" r:id="rId81"/>
    <p:sldId id="383" r:id="rId82"/>
  </p:sldIdLst>
  <p:sldSz cx="14630400" cy="8229600"/>
  <p:notesSz cx="8229600" cy="14630400"/>
  <p:embeddedFontLst>
    <p:embeddedFont>
      <p:font typeface="Aptos SemiBold" panose="020B0004020202020204" pitchFamily="34" charset="0"/>
      <p:bold r:id="rId84"/>
      <p:boldItalic r:id="rId85"/>
    </p:embeddedFont>
    <p:embeddedFont>
      <p:font typeface="Cambria Math" panose="02040503050406030204" pitchFamily="18" charset="0"/>
      <p:regular r:id="rId86"/>
    </p:embeddedFont>
    <p:embeddedFont>
      <p:font typeface="DM Sans" pitchFamily="2" charset="0"/>
      <p:regular r:id="rId87"/>
      <p:bold r:id="rId88"/>
      <p:italic r:id="rId89"/>
      <p:boldItalic r:id="rId90"/>
    </p:embeddedFont>
    <p:embeddedFont>
      <p:font typeface="DM Sans Medium" pitchFamily="2" charset="0"/>
      <p:regular r:id="rId91"/>
      <p:italic r:id="rId92"/>
    </p:embeddedFont>
    <p:embeddedFont>
      <p:font typeface="Inter" panose="020B0604020202020204" charset="0"/>
      <p:regular r:id="rId93"/>
      <p:bold r:id="rId94"/>
      <p:italic r:id="rId95"/>
      <p:boldItalic r:id="rId96"/>
    </p:embeddedFont>
    <p:embeddedFont>
      <p:font typeface="Inter ExtraBold" panose="020B0604020202020204" charset="0"/>
      <p:bold r:id="rId97"/>
      <p:boldItalic r:id="rId98"/>
    </p:embeddedFont>
    <p:embeddedFont>
      <p:font typeface="Inter Medium" panose="020B0604020202020204" charset="0"/>
      <p:regular r:id="rId99"/>
      <p:bold r:id="rId100"/>
      <p:italic r:id="rId101"/>
      <p:boldItalic r:id="rId102"/>
    </p:embeddedFont>
    <p:embeddedFont>
      <p:font typeface="Inter SemiBold" panose="020B0604020202020204" charset="0"/>
      <p:regular r:id="rId103"/>
      <p:bold r:id="rId104"/>
      <p:italic r:id="rId105"/>
      <p:boldItalic r:id="rId106"/>
    </p:embeddedFont>
    <p:embeddedFont>
      <p:font typeface="Lato" panose="020F0502020204030203" pitchFamily="34" charset="0"/>
      <p:regular r:id="rId107"/>
      <p:bold r:id="rId108"/>
      <p:italic r:id="rId109"/>
      <p:boldItalic r:id="rId110"/>
    </p:embeddedFont>
    <p:embeddedFont>
      <p:font typeface="Merriweather" panose="00000500000000000000" pitchFamily="2" charset="0"/>
      <p:regular r:id="rId111"/>
      <p:bold r:id="rId112"/>
    </p:embeddedFont>
    <p:embeddedFont>
      <p:font typeface="Merriweather Black" panose="00000A00000000000000" pitchFamily="2" charset="0"/>
      <p:bold r:id="rId113"/>
      <p:boldItalic r:id="rId114"/>
    </p:embeddedFont>
    <p:embeddedFont>
      <p:font typeface="Playfair Display" panose="00000500000000000000" pitchFamily="2" charset="0"/>
      <p:regular r:id="rId115"/>
      <p:bold r:id="rId116"/>
      <p:italic r:id="rId117"/>
      <p:boldItalic r:id="rId118"/>
    </p:embeddedFont>
    <p:embeddedFont>
      <p:font typeface="Playfair Display SemiBold" panose="020B0604020202020204" charset="0"/>
      <p:regular r:id="rId119"/>
      <p:bold r:id="rId120"/>
      <p:italic r:id="rId121"/>
      <p:boldItalic r:id="rId122"/>
    </p:embeddedFont>
    <p:embeddedFont>
      <p:font typeface="PT Serif" panose="020A0603040505020204" pitchFamily="18" charset="0"/>
      <p:regular r:id="rId123"/>
      <p:bold r:id="rId124"/>
      <p:italic r:id="rId125"/>
      <p:boldItalic r:id="rId126"/>
    </p:embeddedFont>
  </p:embeddedFont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3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0" d="100"/>
          <a:sy n="50" d="100"/>
        </p:scale>
        <p:origin x="1092"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font" Target="fonts/font3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fntdata"/><Relationship Id="rId89" Type="http://schemas.openxmlformats.org/officeDocument/2006/relationships/font" Target="fonts/font6.fntdata"/><Relationship Id="rId112" Type="http://schemas.openxmlformats.org/officeDocument/2006/relationships/font" Target="fonts/font29.fntdata"/><Relationship Id="rId16" Type="http://schemas.openxmlformats.org/officeDocument/2006/relationships/slide" Target="slides/slide15.xml"/><Relationship Id="rId107" Type="http://schemas.openxmlformats.org/officeDocument/2006/relationships/font" Target="fonts/font2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font" Target="fonts/font19.fntdata"/><Relationship Id="rId123" Type="http://schemas.openxmlformats.org/officeDocument/2006/relationships/font" Target="fonts/font40.fntdata"/><Relationship Id="rId128"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font" Target="fonts/font7.fntdata"/><Relationship Id="rId95" Type="http://schemas.openxmlformats.org/officeDocument/2006/relationships/font" Target="fonts/font12.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30.fntdata"/><Relationship Id="rId118" Type="http://schemas.openxmlformats.org/officeDocument/2006/relationships/font" Target="fonts/font35.fntdata"/><Relationship Id="rId80" Type="http://schemas.openxmlformats.org/officeDocument/2006/relationships/slide" Target="slides/slide79.xml"/><Relationship Id="rId85" Type="http://schemas.openxmlformats.org/officeDocument/2006/relationships/font" Target="fonts/font2.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20.fntdata"/><Relationship Id="rId108" Type="http://schemas.openxmlformats.org/officeDocument/2006/relationships/font" Target="fonts/font25.fntdata"/><Relationship Id="rId124" Type="http://schemas.openxmlformats.org/officeDocument/2006/relationships/font" Target="fonts/font41.fntdata"/><Relationship Id="rId129"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font" Target="fonts/font8.fntdata"/><Relationship Id="rId96"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31.fntdata"/><Relationship Id="rId119" Type="http://schemas.openxmlformats.org/officeDocument/2006/relationships/font" Target="fonts/font36.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font" Target="fonts/font3.fntdata"/><Relationship Id="rId130"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26.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4.fntdata"/><Relationship Id="rId104" Type="http://schemas.openxmlformats.org/officeDocument/2006/relationships/font" Target="fonts/font21.fntdata"/><Relationship Id="rId120" Type="http://schemas.openxmlformats.org/officeDocument/2006/relationships/font" Target="fonts/font37.fntdata"/><Relationship Id="rId125" Type="http://schemas.openxmlformats.org/officeDocument/2006/relationships/font" Target="fonts/font4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4.fntdata"/><Relationship Id="rId110" Type="http://schemas.openxmlformats.org/officeDocument/2006/relationships/font" Target="fonts/font27.fntdata"/><Relationship Id="rId115" Type="http://schemas.openxmlformats.org/officeDocument/2006/relationships/font" Target="fonts/font3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font" Target="fonts/font17.fntdata"/><Relationship Id="rId105" Type="http://schemas.openxmlformats.org/officeDocument/2006/relationships/font" Target="fonts/font22.fntdata"/><Relationship Id="rId126" Type="http://schemas.openxmlformats.org/officeDocument/2006/relationships/font" Target="fonts/font4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0.fntdata"/><Relationship Id="rId98" Type="http://schemas.openxmlformats.org/officeDocument/2006/relationships/font" Target="fonts/font15.fntdata"/><Relationship Id="rId121" Type="http://schemas.openxmlformats.org/officeDocument/2006/relationships/font" Target="fonts/font3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3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notesMaster" Target="notesMasters/notesMaster1.xml"/><Relationship Id="rId88" Type="http://schemas.openxmlformats.org/officeDocument/2006/relationships/font" Target="fonts/font5.fntdata"/><Relationship Id="rId111" Type="http://schemas.openxmlformats.org/officeDocument/2006/relationships/font" Target="fonts/font2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23.fntdata"/><Relationship Id="rId12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font" Target="fonts/font11.fntdata"/><Relationship Id="rId99" Type="http://schemas.openxmlformats.org/officeDocument/2006/relationships/font" Target="fonts/font16.fntdata"/><Relationship Id="rId101" Type="http://schemas.openxmlformats.org/officeDocument/2006/relationships/font" Target="fonts/font18.fntdata"/><Relationship Id="rId122" Type="http://schemas.openxmlformats.org/officeDocument/2006/relationships/font" Target="fonts/font3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90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E619A-4235-58A8-E8BB-44C6D26C7D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EF1F0-DDD4-DAED-AF32-5B53500108EC}"/>
              </a:ext>
            </a:extLst>
          </p:cNvPr>
          <p:cNvSpPr>
            <a:spLocks noGrp="1" noRot="1" noChangeAspect="1"/>
          </p:cNvSpPr>
          <p:nvPr>
            <p:ph type="sldImg"/>
          </p:nvPr>
        </p:nvSpPr>
        <p:spPr/>
        <p:txBody>
          <a:bodyPr/>
          <a:lstStyle/>
          <a:p>
            <a:endParaRPr lang="es-CL"/>
          </a:p>
        </p:txBody>
      </p:sp>
      <p:sp>
        <p:nvSpPr>
          <p:cNvPr id="3" name="Notes Placeholder 2">
            <a:extLst>
              <a:ext uri="{FF2B5EF4-FFF2-40B4-BE49-F238E27FC236}">
                <a16:creationId xmlns:a16="http://schemas.microsoft.com/office/drawing/2014/main" id="{6D65329D-3244-F5ED-384A-608D69B2B1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4AA155-D12C-799E-C23F-F9282D0244C2}"/>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4561666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BBD06-F94C-5C30-D666-FF76DA729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5FD56-0991-78DD-A92F-6A603452E96E}"/>
              </a:ext>
            </a:extLst>
          </p:cNvPr>
          <p:cNvSpPr>
            <a:spLocks noGrp="1" noRot="1" noChangeAspect="1"/>
          </p:cNvSpPr>
          <p:nvPr>
            <p:ph type="sldImg"/>
          </p:nvPr>
        </p:nvSpPr>
        <p:spPr/>
        <p:txBody>
          <a:bodyPr/>
          <a:lstStyle/>
          <a:p>
            <a:endParaRPr lang="es-CL"/>
          </a:p>
        </p:txBody>
      </p:sp>
      <p:sp>
        <p:nvSpPr>
          <p:cNvPr id="3" name="Notes Placeholder 2">
            <a:extLst>
              <a:ext uri="{FF2B5EF4-FFF2-40B4-BE49-F238E27FC236}">
                <a16:creationId xmlns:a16="http://schemas.microsoft.com/office/drawing/2014/main" id="{519A8B65-1F05-9D1C-FDD0-032ECDDC1E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C0254-1305-BDD5-B632-E3E14CAE8552}"/>
              </a:ext>
            </a:extLst>
          </p:cNvPr>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53170210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B7C7A-F13A-72A8-9FCE-439723BB08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FB366-349B-7EB1-FB84-C4E39F09E8FE}"/>
              </a:ext>
            </a:extLst>
          </p:cNvPr>
          <p:cNvSpPr>
            <a:spLocks noGrp="1" noRot="1" noChangeAspect="1"/>
          </p:cNvSpPr>
          <p:nvPr>
            <p:ph type="sldImg"/>
          </p:nvPr>
        </p:nvSpPr>
        <p:spPr/>
        <p:txBody>
          <a:bodyPr/>
          <a:lstStyle/>
          <a:p>
            <a:endParaRPr lang="es-CL"/>
          </a:p>
        </p:txBody>
      </p:sp>
      <p:sp>
        <p:nvSpPr>
          <p:cNvPr id="3" name="Notes Placeholder 2">
            <a:extLst>
              <a:ext uri="{FF2B5EF4-FFF2-40B4-BE49-F238E27FC236}">
                <a16:creationId xmlns:a16="http://schemas.microsoft.com/office/drawing/2014/main" id="{9790DCF4-CE9F-E6A2-E2A5-9C37F43E57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C686FA-CB65-656C-422B-1BB0BA702162}"/>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43330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F3BC81B-B030-809F-CE57-D48E5AA1BDCD}"/>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A4A64B12-38F4-24E7-63E9-919F0FE968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DF524A19-8763-B4B2-1E99-28C7997E05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extLst>
      <p:ext uri="{BB962C8B-B14F-4D97-AF65-F5344CB8AC3E}">
        <p14:creationId xmlns:p14="http://schemas.microsoft.com/office/powerpoint/2010/main" val="3810369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a:extLst>
            <a:ext uri="{FF2B5EF4-FFF2-40B4-BE49-F238E27FC236}">
              <a16:creationId xmlns:a16="http://schemas.microsoft.com/office/drawing/2014/main" id="{24FDCBAD-3364-A136-3D4A-26D2113EC29C}"/>
            </a:ext>
          </a:extLst>
        </p:cNvPr>
        <p:cNvGrpSpPr/>
        <p:nvPr/>
      </p:nvGrpSpPr>
      <p:grpSpPr>
        <a:xfrm>
          <a:off x="0" y="0"/>
          <a:ext cx="0" cy="0"/>
          <a:chOff x="0" y="0"/>
          <a:chExt cx="0" cy="0"/>
        </a:xfrm>
      </p:grpSpPr>
      <p:sp>
        <p:nvSpPr>
          <p:cNvPr id="166" name="Google Shape;166;p7:notes">
            <a:extLst>
              <a:ext uri="{FF2B5EF4-FFF2-40B4-BE49-F238E27FC236}">
                <a16:creationId xmlns:a16="http://schemas.microsoft.com/office/drawing/2014/main" id="{E04E440A-3C2F-B96A-0C79-FAB7D6082A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7:notes">
            <a:extLst>
              <a:ext uri="{FF2B5EF4-FFF2-40B4-BE49-F238E27FC236}">
                <a16:creationId xmlns:a16="http://schemas.microsoft.com/office/drawing/2014/main" id="{67967230-318D-5C4F-6863-72CE6F8BA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extLst>
      <p:ext uri="{BB962C8B-B14F-4D97-AF65-F5344CB8AC3E}">
        <p14:creationId xmlns:p14="http://schemas.microsoft.com/office/powerpoint/2010/main" val="4481190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L"/>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txBody>
          <a:bodyPr/>
          <a:lstStyle/>
          <a:p>
            <a:endParaRPr lang="es-CL"/>
          </a:p>
        </p:txBody>
      </p:sp>
      <p:sp>
        <p:nvSpPr>
          <p:cNvPr id="3" name="Shape 1"/>
          <p:cNvSpPr/>
          <p:nvPr/>
        </p:nvSpPr>
        <p:spPr>
          <a:xfrm>
            <a:off x="0" y="0"/>
            <a:ext cx="14630400" cy="8229600"/>
          </a:xfrm>
          <a:prstGeom prst="rect">
            <a:avLst/>
          </a:prstGeom>
          <a:solidFill>
            <a:srgbClr val="FFFFFF"/>
          </a:solidFill>
          <a:ln/>
        </p:spPr>
        <p:txBody>
          <a:bodyPr/>
          <a:lstStyle/>
          <a:p>
            <a:endParaRPr lang="es-CL"/>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6D2A3D-F622-F567-0E78-095E3795DB4E}"/>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19EB5C0-3833-A622-81D1-0A7A2036EC6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0A06BA8-B300-3FEF-061D-4AD40EAAC8F0}"/>
              </a:ext>
            </a:extLst>
          </p:cNvPr>
          <p:cNvSpPr>
            <a:spLocks noGrp="1"/>
          </p:cNvSpPr>
          <p:nvPr>
            <p:ph type="dt" sz="half" idx="10"/>
          </p:nvPr>
        </p:nvSpPr>
        <p:spPr/>
        <p:txBody>
          <a:bodyPr/>
          <a:lstStyle/>
          <a:p>
            <a:fld id="{A0DC1455-4A80-4720-9B5A-BEE1BE6EDCBD}" type="datetimeFigureOut">
              <a:rPr lang="es-CL" smtClean="0"/>
              <a:t>17-01-2026</a:t>
            </a:fld>
            <a:endParaRPr lang="es-CL"/>
          </a:p>
        </p:txBody>
      </p:sp>
      <p:sp>
        <p:nvSpPr>
          <p:cNvPr id="5" name="Marcador de pie de página 4">
            <a:extLst>
              <a:ext uri="{FF2B5EF4-FFF2-40B4-BE49-F238E27FC236}">
                <a16:creationId xmlns:a16="http://schemas.microsoft.com/office/drawing/2014/main" id="{2753880C-341D-BECF-92C8-16F7FFB2182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229485EF-95EF-14A5-BB74-CED1CFAB4AA4}"/>
              </a:ext>
            </a:extLst>
          </p:cNvPr>
          <p:cNvSpPr>
            <a:spLocks noGrp="1"/>
          </p:cNvSpPr>
          <p:nvPr>
            <p:ph type="sldNum" sz="quarter" idx="12"/>
          </p:nvPr>
        </p:nvSpPr>
        <p:spPr/>
        <p:txBody>
          <a:bodyPr/>
          <a:lstStyle/>
          <a:p>
            <a:fld id="{CC3DF4E7-5ABA-41B0-9A17-341AC2758E7E}" type="slidenum">
              <a:rPr lang="es-CL" smtClean="0"/>
              <a:t>‹Nº›</a:t>
            </a:fld>
            <a:endParaRPr lang="es-CL"/>
          </a:p>
        </p:txBody>
      </p:sp>
    </p:spTree>
    <p:extLst>
      <p:ext uri="{BB962C8B-B14F-4D97-AF65-F5344CB8AC3E}">
        <p14:creationId xmlns:p14="http://schemas.microsoft.com/office/powerpoint/2010/main" val="24820708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548640" y="7627621"/>
            <a:ext cx="2560320" cy="4381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749040" y="7627621"/>
            <a:ext cx="3474720" cy="4381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7863840" y="7627621"/>
            <a:ext cx="2560320" cy="4381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5397368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822960" y="2556511"/>
            <a:ext cx="9326880" cy="17640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645920" y="4663440"/>
            <a:ext cx="7680960" cy="2103120"/>
          </a:xfrm>
          <a:prstGeom prst="rect">
            <a:avLst/>
          </a:prstGeom>
          <a:noFill/>
          <a:ln>
            <a:noFill/>
          </a:ln>
        </p:spPr>
        <p:txBody>
          <a:bodyPr spcFirstLastPara="1" wrap="square" lIns="91425" tIns="45700" rIns="91425" bIns="45700" anchor="t" anchorCtr="0">
            <a:normAutofit/>
          </a:bodyPr>
          <a:lstStyle>
            <a:lvl1pPr lvl="0" algn="ctr">
              <a:spcBef>
                <a:spcPts val="768"/>
              </a:spcBef>
              <a:spcAft>
                <a:spcPts val="0"/>
              </a:spcAft>
              <a:buClr>
                <a:srgbClr val="888888"/>
              </a:buClr>
              <a:buSzPts val="3200"/>
              <a:buNone/>
              <a:defRPr>
                <a:solidFill>
                  <a:srgbClr val="888888"/>
                </a:solidFill>
              </a:defRPr>
            </a:lvl1pPr>
            <a:lvl2pPr lvl="1" algn="ctr">
              <a:spcBef>
                <a:spcPts val="672"/>
              </a:spcBef>
              <a:spcAft>
                <a:spcPts val="0"/>
              </a:spcAft>
              <a:buClr>
                <a:srgbClr val="888888"/>
              </a:buClr>
              <a:buSzPts val="2800"/>
              <a:buNone/>
              <a:defRPr>
                <a:solidFill>
                  <a:srgbClr val="888888"/>
                </a:solidFill>
              </a:defRPr>
            </a:lvl2pPr>
            <a:lvl3pPr lvl="2" algn="ctr">
              <a:spcBef>
                <a:spcPts val="576"/>
              </a:spcBef>
              <a:spcAft>
                <a:spcPts val="0"/>
              </a:spcAft>
              <a:buClr>
                <a:srgbClr val="888888"/>
              </a:buClr>
              <a:buSzPts val="2400"/>
              <a:buNone/>
              <a:defRPr>
                <a:solidFill>
                  <a:srgbClr val="888888"/>
                </a:solidFill>
              </a:defRPr>
            </a:lvl3pPr>
            <a:lvl4pPr lvl="3" algn="ctr">
              <a:spcBef>
                <a:spcPts val="480"/>
              </a:spcBef>
              <a:spcAft>
                <a:spcPts val="0"/>
              </a:spcAft>
              <a:buClr>
                <a:srgbClr val="888888"/>
              </a:buClr>
              <a:buSzPts val="2000"/>
              <a:buNone/>
              <a:defRPr>
                <a:solidFill>
                  <a:srgbClr val="888888"/>
                </a:solidFill>
              </a:defRPr>
            </a:lvl4pPr>
            <a:lvl5pPr lvl="4" algn="ctr">
              <a:spcBef>
                <a:spcPts val="480"/>
              </a:spcBef>
              <a:spcAft>
                <a:spcPts val="0"/>
              </a:spcAft>
              <a:buClr>
                <a:srgbClr val="888888"/>
              </a:buClr>
              <a:buSzPts val="2000"/>
              <a:buNone/>
              <a:defRPr>
                <a:solidFill>
                  <a:srgbClr val="888888"/>
                </a:solidFill>
              </a:defRPr>
            </a:lvl5pPr>
            <a:lvl6pPr lvl="5" algn="ctr">
              <a:spcBef>
                <a:spcPts val="480"/>
              </a:spcBef>
              <a:spcAft>
                <a:spcPts val="0"/>
              </a:spcAft>
              <a:buClr>
                <a:srgbClr val="888888"/>
              </a:buClr>
              <a:buSzPts val="2000"/>
              <a:buNone/>
              <a:defRPr>
                <a:solidFill>
                  <a:srgbClr val="888888"/>
                </a:solidFill>
              </a:defRPr>
            </a:lvl6pPr>
            <a:lvl7pPr lvl="6" algn="ctr">
              <a:spcBef>
                <a:spcPts val="480"/>
              </a:spcBef>
              <a:spcAft>
                <a:spcPts val="0"/>
              </a:spcAft>
              <a:buClr>
                <a:srgbClr val="888888"/>
              </a:buClr>
              <a:buSzPts val="2000"/>
              <a:buNone/>
              <a:defRPr>
                <a:solidFill>
                  <a:srgbClr val="888888"/>
                </a:solidFill>
              </a:defRPr>
            </a:lvl7pPr>
            <a:lvl8pPr lvl="7" algn="ctr">
              <a:spcBef>
                <a:spcPts val="480"/>
              </a:spcBef>
              <a:spcAft>
                <a:spcPts val="0"/>
              </a:spcAft>
              <a:buClr>
                <a:srgbClr val="888888"/>
              </a:buClr>
              <a:buSzPts val="2000"/>
              <a:buNone/>
              <a:defRPr>
                <a:solidFill>
                  <a:srgbClr val="888888"/>
                </a:solidFill>
              </a:defRPr>
            </a:lvl8pPr>
            <a:lvl9pPr lvl="8" algn="ctr">
              <a:spcBef>
                <a:spcPts val="48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548640" y="7627621"/>
            <a:ext cx="2560320" cy="4381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749040" y="7627621"/>
            <a:ext cx="3474720" cy="4381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7863840" y="7627621"/>
            <a:ext cx="2560320" cy="4381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398610378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1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5.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 Id="rId9"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7.xml"/><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5.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35.xml"/><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3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36.xml"/><Relationship Id="rId5" Type="http://schemas.openxmlformats.org/officeDocument/2006/relationships/image" Target="../media/image37.png"/><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36.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4.xml"/><Relationship Id="rId1" Type="http://schemas.openxmlformats.org/officeDocument/2006/relationships/slideLayout" Target="../slideLayouts/slideLayout36.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36.xml"/><Relationship Id="rId5" Type="http://schemas.openxmlformats.org/officeDocument/2006/relationships/image" Target="../media/image47.png"/><Relationship Id="rId4" Type="http://schemas.openxmlformats.org/officeDocument/2006/relationships/image" Target="../media/image46.png"/></Relationships>
</file>

<file path=ppt/slides/_rels/slide5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5.png"/><Relationship Id="rId7" Type="http://schemas.openxmlformats.org/officeDocument/2006/relationships/image" Target="../media/image51.png"/><Relationship Id="rId12"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36.xml"/><Relationship Id="rId6" Type="http://schemas.openxmlformats.org/officeDocument/2006/relationships/image" Target="../media/image50.png"/><Relationship Id="rId11" Type="http://schemas.openxmlformats.org/officeDocument/2006/relationships/image" Target="../media/image55.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52.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45.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37.xml"/><Relationship Id="rId1" Type="http://schemas.openxmlformats.org/officeDocument/2006/relationships/slideLayout" Target="../slideLayouts/slideLayout36.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3.xml"/></Relationships>
</file>

<file path=ppt/slides/_rels/slide5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3.xml"/></Relationships>
</file>

<file path=ppt/slides/_rels/slide5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3.xml"/></Relationships>
</file>

<file path=ppt/slides/_rels/slide5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3.xml"/></Relationships>
</file>

<file path=ppt/slides/_rels/slide5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33.xml"/></Relationships>
</file>

<file path=ppt/slides/_rels/slide6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33.xml"/></Relationships>
</file>

<file path=ppt/slides/_rels/slide6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3.xml"/></Relationships>
</file>

<file path=ppt/slides/_rels/slide6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36.xml"/><Relationship Id="rId4" Type="http://schemas.openxmlformats.org/officeDocument/2006/relationships/image" Target="../media/image78.png"/></Relationships>
</file>

<file path=ppt/slides/_rels/slide6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6.xml"/></Relationships>
</file>

<file path=ppt/slides/_rels/slide6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9.xml"/><Relationship Id="rId1" Type="http://schemas.openxmlformats.org/officeDocument/2006/relationships/slideLayout" Target="../slideLayouts/slideLayout36.xml"/><Relationship Id="rId5" Type="http://schemas.openxmlformats.org/officeDocument/2006/relationships/image" Target="../media/image82.png"/><Relationship Id="rId4" Type="http://schemas.openxmlformats.org/officeDocument/2006/relationships/image" Target="../media/image81.png"/></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36.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6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1.xml"/><Relationship Id="rId1" Type="http://schemas.openxmlformats.org/officeDocument/2006/relationships/slideLayout" Target="../slideLayouts/slideLayout36.xml"/><Relationship Id="rId4" Type="http://schemas.openxmlformats.org/officeDocument/2006/relationships/image" Target="../media/image88.png"/></Relationships>
</file>

<file path=ppt/slides/_rels/slide68.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36.xml"/><Relationship Id="rId4" Type="http://schemas.openxmlformats.org/officeDocument/2006/relationships/image" Target="../media/image89.png"/></Relationships>
</file>

<file path=ppt/slides/_rels/slide6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3.xml"/><Relationship Id="rId1" Type="http://schemas.openxmlformats.org/officeDocument/2006/relationships/slideLayout" Target="../slideLayouts/slideLayout36.xml"/><Relationship Id="rId4" Type="http://schemas.openxmlformats.org/officeDocument/2006/relationships/image" Target="../media/image90.png"/></Relationships>
</file>

<file path=ppt/slides/_rels/slide7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4.xml"/><Relationship Id="rId1" Type="http://schemas.openxmlformats.org/officeDocument/2006/relationships/slideLayout" Target="../slideLayouts/slideLayout36.xml"/><Relationship Id="rId4" Type="http://schemas.openxmlformats.org/officeDocument/2006/relationships/image" Target="../media/image90.png"/></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6.xml"/></Relationships>
</file>

<file path=ppt/slides/_rels/slide7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36.xml"/></Relationships>
</file>

<file path=ppt/slides/_rels/slide7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36.xml"/></Relationships>
</file>

<file path=ppt/slides/_rels/slide7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5.xml"/><Relationship Id="rId1" Type="http://schemas.openxmlformats.org/officeDocument/2006/relationships/slideLayout" Target="../slideLayouts/slideLayout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33.xml"/></Relationships>
</file>

<file path=ppt/slides/_rels/slide79.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33.xml"/></Relationships>
</file>

<file path=ppt/slides/_rels/slide8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33.xml"/></Relationships>
</file>

<file path=ppt/slides/_rels/slide8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85" name="Google Shape;85;p13"/>
          <p:cNvSpPr txBox="1"/>
          <p:nvPr/>
        </p:nvSpPr>
        <p:spPr>
          <a:xfrm>
            <a:off x="685801" y="1694140"/>
            <a:ext cx="10801350" cy="2925032"/>
          </a:xfrm>
          <a:prstGeom prst="rect">
            <a:avLst/>
          </a:prstGeom>
          <a:noFill/>
          <a:ln>
            <a:noFill/>
          </a:ln>
        </p:spPr>
        <p:txBody>
          <a:bodyPr spcFirstLastPara="1" wrap="square" lIns="0" tIns="0" rIns="0" bIns="0" anchor="t" anchorCtr="0">
            <a:spAutoFit/>
          </a:bodyPr>
          <a:lstStyle/>
          <a:p>
            <a:pPr>
              <a:lnSpc>
                <a:spcPct val="110000"/>
              </a:lnSpc>
            </a:pPr>
            <a:r>
              <a:rPr lang="es-ES" sz="5760" dirty="0">
                <a:solidFill>
                  <a:schemeClr val="tx1">
                    <a:lumMod val="75000"/>
                    <a:lumOff val="25000"/>
                  </a:schemeClr>
                </a:solidFill>
                <a:latin typeface="Merriweather Black"/>
                <a:ea typeface="Merriweather Black"/>
                <a:cs typeface="Merriweather Black"/>
                <a:sym typeface="Merriweather Black"/>
              </a:rPr>
              <a:t>Evaluación y Calificación del Desempeño Académico en la Facultad de Ingeniería</a:t>
            </a:r>
          </a:p>
        </p:txBody>
      </p:sp>
      <p:sp>
        <p:nvSpPr>
          <p:cNvPr id="86" name="Google Shape;86;p13"/>
          <p:cNvSpPr txBox="1"/>
          <p:nvPr/>
        </p:nvSpPr>
        <p:spPr>
          <a:xfrm>
            <a:off x="685800" y="4427875"/>
            <a:ext cx="10287000" cy="620491"/>
          </a:xfrm>
          <a:prstGeom prst="rect">
            <a:avLst/>
          </a:prstGeom>
          <a:noFill/>
          <a:ln>
            <a:noFill/>
          </a:ln>
        </p:spPr>
        <p:txBody>
          <a:bodyPr spcFirstLastPara="1" wrap="square" lIns="0" tIns="0" rIns="0" bIns="0" anchor="t" anchorCtr="0">
            <a:spAutoFit/>
          </a:bodyPr>
          <a:lstStyle/>
          <a:p>
            <a:pPr>
              <a:lnSpc>
                <a:spcPct val="159952"/>
              </a:lnSpc>
            </a:pPr>
            <a:r>
              <a:rPr lang="es-ES" sz="2520" b="1" dirty="0">
                <a:solidFill>
                  <a:schemeClr val="accent1">
                    <a:lumMod val="75000"/>
                  </a:schemeClr>
                </a:solidFill>
                <a:latin typeface="Lato"/>
                <a:ea typeface="Lato"/>
                <a:cs typeface="Lato"/>
                <a:sym typeface="Lato"/>
              </a:rPr>
              <a:t>Jornada de reflexión y propuestas</a:t>
            </a:r>
          </a:p>
        </p:txBody>
      </p:sp>
      <p:sp>
        <p:nvSpPr>
          <p:cNvPr id="87" name="Google Shape;87;p13"/>
          <p:cNvSpPr/>
          <p:nvPr/>
        </p:nvSpPr>
        <p:spPr>
          <a:xfrm>
            <a:off x="685800" y="5282802"/>
            <a:ext cx="1143000" cy="45720"/>
          </a:xfrm>
          <a:prstGeom prst="rect">
            <a:avLst/>
          </a:prstGeom>
          <a:solidFill>
            <a:srgbClr val="EA5B0C"/>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88" name="Google Shape;88;p13"/>
          <p:cNvSpPr txBox="1"/>
          <p:nvPr/>
        </p:nvSpPr>
        <p:spPr>
          <a:xfrm>
            <a:off x="685800" y="5671423"/>
            <a:ext cx="10287000" cy="299184"/>
          </a:xfrm>
          <a:prstGeom prst="rect">
            <a:avLst/>
          </a:prstGeom>
          <a:noFill/>
          <a:ln>
            <a:noFill/>
          </a:ln>
        </p:spPr>
        <p:txBody>
          <a:bodyPr spcFirstLastPara="1" wrap="square" lIns="0" tIns="0" rIns="0" bIns="0" anchor="t" anchorCtr="0">
            <a:spAutoFit/>
          </a:bodyPr>
          <a:lstStyle/>
          <a:p>
            <a:pPr>
              <a:lnSpc>
                <a:spcPct val="120000"/>
              </a:lnSpc>
            </a:pPr>
            <a:r>
              <a:rPr lang="en-US" sz="1620" dirty="0">
                <a:solidFill>
                  <a:srgbClr val="64748B"/>
                </a:solidFill>
                <a:latin typeface="Lato"/>
                <a:ea typeface="Lato"/>
                <a:cs typeface="Lato"/>
                <a:sym typeface="Lato"/>
              </a:rPr>
              <a:t> </a:t>
            </a:r>
            <a:r>
              <a:rPr lang="en-US" sz="1620" dirty="0" err="1">
                <a:solidFill>
                  <a:srgbClr val="64748B"/>
                </a:solidFill>
                <a:latin typeface="Lato"/>
                <a:ea typeface="Lato"/>
                <a:cs typeface="Lato"/>
                <a:sym typeface="Lato"/>
              </a:rPr>
              <a:t>Enero</a:t>
            </a:r>
            <a:r>
              <a:rPr lang="en-US" sz="1620" dirty="0">
                <a:solidFill>
                  <a:srgbClr val="64748B"/>
                </a:solidFill>
                <a:latin typeface="Lato"/>
                <a:ea typeface="Lato"/>
                <a:cs typeface="Lato"/>
                <a:sym typeface="Lato"/>
              </a:rPr>
              <a:t> 2026</a:t>
            </a:r>
            <a:endParaRPr sz="21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1" name="Google Shape;84;p13" descr="image.png">
            <a:extLst>
              <a:ext uri="{FF2B5EF4-FFF2-40B4-BE49-F238E27FC236}">
                <a16:creationId xmlns:a16="http://schemas.microsoft.com/office/drawing/2014/main" id="{B8C027F5-1B69-6C23-9B59-0F793C3A8050}"/>
              </a:ext>
            </a:extLst>
          </p:cNvPr>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 name="Text 0"/>
          <p:cNvSpPr/>
          <p:nvPr/>
        </p:nvSpPr>
        <p:spPr>
          <a:xfrm>
            <a:off x="793790" y="2007751"/>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CONTENIDO</a:t>
            </a:r>
            <a:endParaRPr lang="en-US" sz="4650" dirty="0"/>
          </a:p>
        </p:txBody>
      </p:sp>
      <p:sp>
        <p:nvSpPr>
          <p:cNvPr id="3" name="Text 1"/>
          <p:cNvSpPr/>
          <p:nvPr/>
        </p:nvSpPr>
        <p:spPr>
          <a:xfrm>
            <a:off x="1587579" y="3209568"/>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2400" dirty="0">
                <a:solidFill>
                  <a:srgbClr val="383838"/>
                </a:solidFill>
                <a:latin typeface="DM Sans" pitchFamily="34" charset="0"/>
                <a:ea typeface="DM Sans" pitchFamily="34" charset="-122"/>
                <a:cs typeface="DM Sans" pitchFamily="34" charset="-120"/>
              </a:rPr>
              <a:t>Palabras de inicio Secretaria Académica</a:t>
            </a:r>
            <a:endParaRPr lang="en-US" sz="2400" dirty="0"/>
          </a:p>
        </p:txBody>
      </p:sp>
      <p:sp>
        <p:nvSpPr>
          <p:cNvPr id="4" name="Text 2"/>
          <p:cNvSpPr/>
          <p:nvPr/>
        </p:nvSpPr>
        <p:spPr>
          <a:xfrm>
            <a:off x="1587579" y="3651766"/>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2400" dirty="0">
                <a:solidFill>
                  <a:srgbClr val="383838"/>
                </a:solidFill>
                <a:latin typeface="DM Sans" pitchFamily="34" charset="0"/>
                <a:ea typeface="DM Sans" pitchFamily="34" charset="-122"/>
                <a:cs typeface="DM Sans" pitchFamily="34" charset="-120"/>
              </a:rPr>
              <a:t>Objetivo de la jornada</a:t>
            </a:r>
            <a:endParaRPr lang="en-US" sz="2400" dirty="0"/>
          </a:p>
        </p:txBody>
      </p:sp>
      <p:sp>
        <p:nvSpPr>
          <p:cNvPr id="5" name="Text 3"/>
          <p:cNvSpPr/>
          <p:nvPr/>
        </p:nvSpPr>
        <p:spPr>
          <a:xfrm>
            <a:off x="1587579" y="4093964"/>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2400" dirty="0">
                <a:solidFill>
                  <a:srgbClr val="383838"/>
                </a:solidFill>
                <a:latin typeface="DM Sans" pitchFamily="34" charset="0"/>
                <a:ea typeface="DM Sans" pitchFamily="34" charset="-122"/>
                <a:cs typeface="DM Sans" pitchFamily="34" charset="-120"/>
              </a:rPr>
              <a:t>Normativa actual y tendencias en la Evaluación del Desempeño</a:t>
            </a:r>
            <a:endParaRPr lang="en-US" sz="2400" dirty="0"/>
          </a:p>
        </p:txBody>
      </p:sp>
      <p:sp>
        <p:nvSpPr>
          <p:cNvPr id="6" name="Text 4"/>
          <p:cNvSpPr/>
          <p:nvPr/>
        </p:nvSpPr>
        <p:spPr>
          <a:xfrm>
            <a:off x="1587579" y="453616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2400" dirty="0">
                <a:solidFill>
                  <a:srgbClr val="383838"/>
                </a:solidFill>
                <a:latin typeface="DM Sans" pitchFamily="34" charset="0"/>
                <a:ea typeface="DM Sans" pitchFamily="34" charset="-122"/>
                <a:cs typeface="DM Sans" pitchFamily="34" charset="-120"/>
              </a:rPr>
              <a:t>Discusión sobre la actual práctica de Evaluación del Desempeño en la FING</a:t>
            </a:r>
            <a:endParaRPr lang="en-US" sz="2400" dirty="0"/>
          </a:p>
        </p:txBody>
      </p:sp>
      <p:sp>
        <p:nvSpPr>
          <p:cNvPr id="7" name="Text 5"/>
          <p:cNvSpPr/>
          <p:nvPr/>
        </p:nvSpPr>
        <p:spPr>
          <a:xfrm>
            <a:off x="1587579" y="4978360"/>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5"/>
            </a:pPr>
            <a:r>
              <a:rPr lang="en-US" sz="2400" dirty="0">
                <a:solidFill>
                  <a:srgbClr val="383838"/>
                </a:solidFill>
                <a:latin typeface="DM Sans" pitchFamily="34" charset="0"/>
                <a:ea typeface="DM Sans" pitchFamily="34" charset="-122"/>
                <a:cs typeface="DM Sans" pitchFamily="34" charset="-120"/>
              </a:rPr>
              <a:t>Presentación de una propuesta de ajuste a la práctica actual</a:t>
            </a:r>
            <a:endParaRPr lang="en-US" sz="2400" dirty="0"/>
          </a:p>
        </p:txBody>
      </p:sp>
      <p:sp>
        <p:nvSpPr>
          <p:cNvPr id="8" name="Text 6"/>
          <p:cNvSpPr/>
          <p:nvPr/>
        </p:nvSpPr>
        <p:spPr>
          <a:xfrm>
            <a:off x="1587579" y="5420558"/>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6"/>
            </a:pPr>
            <a:r>
              <a:rPr lang="en-US" sz="2400" dirty="0">
                <a:solidFill>
                  <a:srgbClr val="383838"/>
                </a:solidFill>
                <a:latin typeface="DM Sans" pitchFamily="34" charset="0"/>
                <a:ea typeface="DM Sans" pitchFamily="34" charset="-122"/>
                <a:cs typeface="DM Sans" pitchFamily="34" charset="-120"/>
              </a:rPr>
              <a:t>Discusión sobre la propuesta</a:t>
            </a:r>
            <a:endParaRPr lang="en-US" sz="2400" dirty="0"/>
          </a:p>
        </p:txBody>
      </p:sp>
      <p:sp>
        <p:nvSpPr>
          <p:cNvPr id="9" name="Text 7"/>
          <p:cNvSpPr/>
          <p:nvPr/>
        </p:nvSpPr>
        <p:spPr>
          <a:xfrm>
            <a:off x="1587579" y="5862757"/>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7"/>
            </a:pPr>
            <a:r>
              <a:rPr lang="en-US" sz="2400" dirty="0">
                <a:solidFill>
                  <a:srgbClr val="383838"/>
                </a:solidFill>
                <a:latin typeface="DM Sans" pitchFamily="34" charset="0"/>
                <a:ea typeface="DM Sans" pitchFamily="34" charset="-122"/>
                <a:cs typeface="DM Sans" pitchFamily="34" charset="-120"/>
              </a:rPr>
              <a:t>Cierre y próximos pasos</a:t>
            </a:r>
            <a:endParaRPr lang="en-US" sz="2400" dirty="0"/>
          </a:p>
        </p:txBody>
      </p:sp>
      <p:sp>
        <p:nvSpPr>
          <p:cNvPr id="10" name="Rectángulo 9">
            <a:extLst>
              <a:ext uri="{FF2B5EF4-FFF2-40B4-BE49-F238E27FC236}">
                <a16:creationId xmlns:a16="http://schemas.microsoft.com/office/drawing/2014/main" id="{BC83ECC2-B66B-E7B9-5281-05A0891204B6}"/>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09556"/>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Objetivo de la jornada</a:t>
            </a:r>
            <a:endParaRPr lang="en-US" sz="4650" dirty="0"/>
          </a:p>
        </p:txBody>
      </p:sp>
      <p:sp>
        <p:nvSpPr>
          <p:cNvPr id="3" name="Text 1"/>
          <p:cNvSpPr/>
          <p:nvPr/>
        </p:nvSpPr>
        <p:spPr>
          <a:xfrm>
            <a:off x="793790" y="2044541"/>
            <a:ext cx="3572470"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Objetivo general</a:t>
            </a:r>
            <a:endParaRPr lang="en-US" sz="2800" dirty="0"/>
          </a:p>
        </p:txBody>
      </p:sp>
      <p:sp>
        <p:nvSpPr>
          <p:cNvPr id="4" name="Text 2"/>
          <p:cNvSpPr/>
          <p:nvPr/>
        </p:nvSpPr>
        <p:spPr>
          <a:xfrm>
            <a:off x="793790" y="283130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Propiciar un espacio de diálogo técnico sobre la evaluación del desempeño académico en la Facultad, a partir de la experiencia de los participantes y del análisis de enfoques y buenas prácticas, con el fin de identificar oportunidades de mejora.</a:t>
            </a:r>
            <a:endParaRPr lang="en-US" sz="1750" dirty="0"/>
          </a:p>
        </p:txBody>
      </p:sp>
      <p:sp>
        <p:nvSpPr>
          <p:cNvPr id="5" name="Text 3"/>
          <p:cNvSpPr/>
          <p:nvPr/>
        </p:nvSpPr>
        <p:spPr>
          <a:xfrm>
            <a:off x="793790" y="4260175"/>
            <a:ext cx="3572470"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Objetivos específicos</a:t>
            </a:r>
            <a:endParaRPr lang="en-US" sz="2800" dirty="0"/>
          </a:p>
        </p:txBody>
      </p:sp>
      <p:sp>
        <p:nvSpPr>
          <p:cNvPr id="6" name="Text 4"/>
          <p:cNvSpPr/>
          <p:nvPr/>
        </p:nvSpPr>
        <p:spPr>
          <a:xfrm>
            <a:off x="793790" y="504694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Recoger percepciones del cuerpo académico del proceso actual de evaluación del desempeño.</a:t>
            </a:r>
            <a:endParaRPr lang="en-US" sz="1750" dirty="0"/>
          </a:p>
        </p:txBody>
      </p:sp>
      <p:sp>
        <p:nvSpPr>
          <p:cNvPr id="7" name="Text 5"/>
          <p:cNvSpPr/>
          <p:nvPr/>
        </p:nvSpPr>
        <p:spPr>
          <a:xfrm>
            <a:off x="793790" y="5489138"/>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Compartir elementos del marco normativo vigente y tendencias relevantes en evaluación del desempeño académico, estableciendo un piso común de comprensión.</a:t>
            </a:r>
            <a:endParaRPr lang="en-US" sz="1750" dirty="0"/>
          </a:p>
        </p:txBody>
      </p:sp>
      <p:sp>
        <p:nvSpPr>
          <p:cNvPr id="8" name="Text 6"/>
          <p:cNvSpPr/>
          <p:nvPr/>
        </p:nvSpPr>
        <p:spPr>
          <a:xfrm>
            <a:off x="793790" y="6294239"/>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Analizar una propuesta de mejora del proceso de evaluación del desempeño académico, levantando observaciones y recomendaciones desde la experiencia académica.</a:t>
            </a:r>
            <a:endParaRPr lang="en-US" sz="1750" dirty="0"/>
          </a:p>
        </p:txBody>
      </p:sp>
      <p:sp>
        <p:nvSpPr>
          <p:cNvPr id="9" name="Rectángulo 8">
            <a:extLst>
              <a:ext uri="{FF2B5EF4-FFF2-40B4-BE49-F238E27FC236}">
                <a16:creationId xmlns:a16="http://schemas.microsoft.com/office/drawing/2014/main" id="{EC2AF658-1333-0C7F-B2E2-77CB4B97A4F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931795"/>
            <a:ext cx="6644283"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Marco normativo vigente</a:t>
            </a:r>
            <a:endParaRPr lang="en-US" sz="4650" dirty="0"/>
          </a:p>
        </p:txBody>
      </p:sp>
      <p:sp>
        <p:nvSpPr>
          <p:cNvPr id="3" name="Text 1"/>
          <p:cNvSpPr/>
          <p:nvPr/>
        </p:nvSpPr>
        <p:spPr>
          <a:xfrm>
            <a:off x="793790" y="412968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Decreto N°26 de 1986 que establece el Reglamento de Carrera Académica</a:t>
            </a:r>
            <a:endParaRPr lang="en-US" sz="1750" dirty="0"/>
          </a:p>
        </p:txBody>
      </p:sp>
      <p:sp>
        <p:nvSpPr>
          <p:cNvPr id="4" name="Text 2"/>
          <p:cNvSpPr/>
          <p:nvPr/>
        </p:nvSpPr>
        <p:spPr>
          <a:xfrm>
            <a:off x="793790" y="4571881"/>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83838"/>
                </a:solidFill>
                <a:latin typeface="DM Sans" pitchFamily="34" charset="0"/>
                <a:ea typeface="DM Sans" pitchFamily="34" charset="-122"/>
                <a:cs typeface="DM Sans" pitchFamily="34" charset="-120"/>
              </a:rPr>
              <a:t>Resolución N°5949 de 2009 que aprueba el Reglamento de Evaluación y Calificación del Desempeño Académico y sus modificaciones</a:t>
            </a:r>
            <a:endParaRPr lang="en-US" sz="1750" dirty="0"/>
          </a:p>
        </p:txBody>
      </p:sp>
      <p:sp>
        <p:nvSpPr>
          <p:cNvPr id="5" name="Rectángulo 4">
            <a:extLst>
              <a:ext uri="{FF2B5EF4-FFF2-40B4-BE49-F238E27FC236}">
                <a16:creationId xmlns:a16="http://schemas.microsoft.com/office/drawing/2014/main" id="{48D84BF9-ABB7-D45D-4951-6CEEA67A6D15}"/>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791533"/>
            <a:ext cx="13042821" cy="1488519"/>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Decreto N°26 de 1986 que establece el Reglamento de Carrera Académica</a:t>
            </a:r>
            <a:endParaRPr lang="en-US" sz="4650" dirty="0"/>
          </a:p>
        </p:txBody>
      </p:sp>
      <p:sp>
        <p:nvSpPr>
          <p:cNvPr id="3" name="Text 1"/>
          <p:cNvSpPr/>
          <p:nvPr/>
        </p:nvSpPr>
        <p:spPr>
          <a:xfrm>
            <a:off x="793790" y="3370778"/>
            <a:ext cx="4763333" cy="595432"/>
          </a:xfrm>
          <a:prstGeom prst="rect">
            <a:avLst/>
          </a:prstGeom>
          <a:noFill/>
          <a:ln/>
        </p:spPr>
        <p:txBody>
          <a:bodyPr wrap="none" lIns="0" tIns="0" rIns="0" bIns="0" rtlCol="0" anchor="t"/>
          <a:lstStyle/>
          <a:p>
            <a:pPr marL="0" indent="0" algn="l">
              <a:lnSpc>
                <a:spcPts val="4650"/>
              </a:lnSpc>
              <a:buNone/>
            </a:pPr>
            <a:r>
              <a:rPr lang="en-US" sz="3750" u="sng" dirty="0">
                <a:solidFill>
                  <a:srgbClr val="020202"/>
                </a:solidFill>
                <a:latin typeface="PT Serif" pitchFamily="34" charset="0"/>
                <a:ea typeface="PT Serif" pitchFamily="34" charset="-122"/>
                <a:cs typeface="PT Serif" pitchFamily="34" charset="-120"/>
              </a:rPr>
              <a:t>Áreas Académicas</a:t>
            </a:r>
            <a:endParaRPr lang="en-US" sz="3750" dirty="0"/>
          </a:p>
        </p:txBody>
      </p:sp>
      <p:sp>
        <p:nvSpPr>
          <p:cNvPr id="4" name="Text 2"/>
          <p:cNvSpPr/>
          <p:nvPr/>
        </p:nvSpPr>
        <p:spPr>
          <a:xfrm>
            <a:off x="793790" y="4306372"/>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383838"/>
                </a:solidFill>
                <a:latin typeface="DM Sans" pitchFamily="34" charset="0"/>
                <a:ea typeface="DM Sans" pitchFamily="34" charset="-122"/>
                <a:cs typeface="DM Sans" pitchFamily="34" charset="-120"/>
              </a:rPr>
              <a:t>Docencia</a:t>
            </a:r>
            <a:endParaRPr lang="en-US" sz="1750" dirty="0"/>
          </a:p>
        </p:txBody>
      </p:sp>
      <p:sp>
        <p:nvSpPr>
          <p:cNvPr id="5" name="Text 3"/>
          <p:cNvSpPr/>
          <p:nvPr/>
        </p:nvSpPr>
        <p:spPr>
          <a:xfrm>
            <a:off x="793790" y="4748570"/>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383838"/>
                </a:solidFill>
                <a:latin typeface="DM Sans" pitchFamily="34" charset="0"/>
                <a:ea typeface="DM Sans" pitchFamily="34" charset="-122"/>
                <a:cs typeface="DM Sans" pitchFamily="34" charset="-120"/>
              </a:rPr>
              <a:t>Investigación</a:t>
            </a:r>
            <a:endParaRPr lang="en-US" sz="1750" dirty="0"/>
          </a:p>
        </p:txBody>
      </p:sp>
      <p:sp>
        <p:nvSpPr>
          <p:cNvPr id="6" name="Text 4"/>
          <p:cNvSpPr/>
          <p:nvPr/>
        </p:nvSpPr>
        <p:spPr>
          <a:xfrm>
            <a:off x="793790" y="5190768"/>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383838"/>
                </a:solidFill>
                <a:latin typeface="DM Sans" pitchFamily="34" charset="0"/>
                <a:ea typeface="DM Sans" pitchFamily="34" charset="-122"/>
                <a:cs typeface="DM Sans" pitchFamily="34" charset="-120"/>
              </a:rPr>
              <a:t>Administración Académica</a:t>
            </a:r>
            <a:endParaRPr lang="en-US" sz="1750" dirty="0"/>
          </a:p>
        </p:txBody>
      </p:sp>
      <p:sp>
        <p:nvSpPr>
          <p:cNvPr id="7" name="Text 5"/>
          <p:cNvSpPr/>
          <p:nvPr/>
        </p:nvSpPr>
        <p:spPr>
          <a:xfrm>
            <a:off x="793790" y="5632966"/>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dirty="0">
                <a:solidFill>
                  <a:srgbClr val="383838"/>
                </a:solidFill>
                <a:latin typeface="DM Sans" pitchFamily="34" charset="0"/>
                <a:ea typeface="DM Sans" pitchFamily="34" charset="-122"/>
                <a:cs typeface="DM Sans" pitchFamily="34" charset="-120"/>
              </a:rPr>
              <a:t>Extensión</a:t>
            </a:r>
            <a:endParaRPr lang="en-US" sz="1750" dirty="0"/>
          </a:p>
        </p:txBody>
      </p:sp>
      <p:sp>
        <p:nvSpPr>
          <p:cNvPr id="8" name="Text 6"/>
          <p:cNvSpPr/>
          <p:nvPr/>
        </p:nvSpPr>
        <p:spPr>
          <a:xfrm>
            <a:off x="793790" y="6075164"/>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5"/>
            </a:pPr>
            <a:r>
              <a:rPr lang="en-US" sz="1750" dirty="0">
                <a:solidFill>
                  <a:srgbClr val="383838"/>
                </a:solidFill>
                <a:latin typeface="DM Sans" pitchFamily="34" charset="0"/>
                <a:ea typeface="DM Sans" pitchFamily="34" charset="-122"/>
                <a:cs typeface="DM Sans" pitchFamily="34" charset="-120"/>
              </a:rPr>
              <a:t>Perfeccionamiento</a:t>
            </a:r>
            <a:endParaRPr lang="en-US" sz="1750" dirty="0"/>
          </a:p>
        </p:txBody>
      </p:sp>
      <p:sp>
        <p:nvSpPr>
          <p:cNvPr id="9" name="Rectángulo 8">
            <a:extLst>
              <a:ext uri="{FF2B5EF4-FFF2-40B4-BE49-F238E27FC236}">
                <a16:creationId xmlns:a16="http://schemas.microsoft.com/office/drawing/2014/main" id="{6EE14C6B-5424-D438-A9C7-1D325A9B1C44}"/>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17997"/>
            <a:ext cx="13042821" cy="1488519"/>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Decreto N°26 de 1986 que establece el Reglamento de Carrera Académica</a:t>
            </a:r>
            <a:endParaRPr lang="en-US" sz="4650" dirty="0"/>
          </a:p>
        </p:txBody>
      </p:sp>
      <p:sp>
        <p:nvSpPr>
          <p:cNvPr id="3" name="Text 1"/>
          <p:cNvSpPr/>
          <p:nvPr/>
        </p:nvSpPr>
        <p:spPr>
          <a:xfrm>
            <a:off x="793790" y="2697242"/>
            <a:ext cx="12053888" cy="595432"/>
          </a:xfrm>
          <a:prstGeom prst="rect">
            <a:avLst/>
          </a:prstGeom>
          <a:noFill/>
          <a:ln/>
        </p:spPr>
        <p:txBody>
          <a:bodyPr wrap="none" lIns="0" tIns="0" rIns="0" bIns="0" rtlCol="0" anchor="t"/>
          <a:lstStyle/>
          <a:p>
            <a:pPr marL="0" indent="0" algn="l">
              <a:lnSpc>
                <a:spcPts val="4650"/>
              </a:lnSpc>
              <a:buNone/>
            </a:pPr>
            <a:r>
              <a:rPr lang="en-US" sz="3750" u="sng" dirty="0">
                <a:solidFill>
                  <a:srgbClr val="020202"/>
                </a:solidFill>
                <a:latin typeface="PT Serif" pitchFamily="34" charset="0"/>
                <a:ea typeface="PT Serif" pitchFamily="34" charset="-122"/>
                <a:cs typeface="PT Serif" pitchFamily="34" charset="-120"/>
              </a:rPr>
              <a:t>NORMAS COMUNES DE LAS JERARQUÍAS ACADÉMICAS</a:t>
            </a:r>
            <a:endParaRPr lang="en-US" sz="3750" dirty="0"/>
          </a:p>
        </p:txBody>
      </p:sp>
      <p:sp>
        <p:nvSpPr>
          <p:cNvPr id="4" name="Text 2"/>
          <p:cNvSpPr/>
          <p:nvPr/>
        </p:nvSpPr>
        <p:spPr>
          <a:xfrm>
            <a:off x="793790" y="3383399"/>
            <a:ext cx="3572470"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Art. 23°.</a:t>
            </a:r>
            <a:endParaRPr lang="en-US" sz="2800" dirty="0"/>
          </a:p>
        </p:txBody>
      </p:sp>
      <p:sp>
        <p:nvSpPr>
          <p:cNvPr id="5" name="Text 3"/>
          <p:cNvSpPr/>
          <p:nvPr/>
        </p:nvSpPr>
        <p:spPr>
          <a:xfrm>
            <a:off x="793790" y="4170164"/>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Todo académico debe estar en condiciones de cumplir con la mayoría de las funciones de su propia jerarquía, pudiendo suplir la eventual insuficiencia en algunas con la excelencia en otras.</a:t>
            </a:r>
            <a:endParaRPr lang="en-US" sz="1750" dirty="0"/>
          </a:p>
        </p:txBody>
      </p:sp>
      <p:sp>
        <p:nvSpPr>
          <p:cNvPr id="6" name="Text 4"/>
          <p:cNvSpPr/>
          <p:nvPr/>
        </p:nvSpPr>
        <p:spPr>
          <a:xfrm>
            <a:off x="793790" y="5236131"/>
            <a:ext cx="3572470"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Art. 24°.</a:t>
            </a:r>
            <a:endParaRPr lang="en-US" sz="2800" dirty="0"/>
          </a:p>
        </p:txBody>
      </p:sp>
      <p:sp>
        <p:nvSpPr>
          <p:cNvPr id="7" name="Text 5"/>
          <p:cNvSpPr/>
          <p:nvPr/>
        </p:nvSpPr>
        <p:spPr>
          <a:xfrm>
            <a:off x="793790" y="6022896"/>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La autoridad académica respectiva deberá distribuir las actividades pertinentes respetando las jerarquías y derechos y velando por el cumplimiento de los deberes establecidos en el presente reglamento. Excepcionalmente un académico podrá ser autorizado para realizar funciones correspondientes a una jerarquía superior.</a:t>
            </a:r>
            <a:endParaRPr lang="en-US" sz="1750" dirty="0"/>
          </a:p>
        </p:txBody>
      </p:sp>
      <p:sp>
        <p:nvSpPr>
          <p:cNvPr id="8" name="Rectángulo 7">
            <a:extLst>
              <a:ext uri="{FF2B5EF4-FFF2-40B4-BE49-F238E27FC236}">
                <a16:creationId xmlns:a16="http://schemas.microsoft.com/office/drawing/2014/main" id="{2BA09A12-B2DC-19D7-7DB1-2B90C769C91E}"/>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772835"/>
            <a:ext cx="13042821" cy="1897737"/>
          </a:xfrm>
          <a:prstGeom prst="rect">
            <a:avLst/>
          </a:prstGeom>
          <a:noFill/>
          <a:ln/>
        </p:spPr>
        <p:txBody>
          <a:bodyPr wrap="square" lIns="0" tIns="0" rIns="0" bIns="0" rtlCol="0" anchor="t"/>
          <a:lstStyle/>
          <a:p>
            <a:pPr marL="0" indent="0" algn="l">
              <a:lnSpc>
                <a:spcPts val="4950"/>
              </a:lnSpc>
              <a:buNone/>
            </a:pPr>
            <a:r>
              <a:rPr lang="en-US" sz="395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3950" dirty="0"/>
          </a:p>
        </p:txBody>
      </p:sp>
      <p:sp>
        <p:nvSpPr>
          <p:cNvPr id="3" name="Text 1"/>
          <p:cNvSpPr/>
          <p:nvPr/>
        </p:nvSpPr>
        <p:spPr>
          <a:xfrm>
            <a:off x="793790" y="2747605"/>
            <a:ext cx="10257353" cy="316230"/>
          </a:xfrm>
          <a:prstGeom prst="rect">
            <a:avLst/>
          </a:prstGeom>
          <a:noFill/>
          <a:ln/>
        </p:spPr>
        <p:txBody>
          <a:bodyPr wrap="none" lIns="0" tIns="0" rIns="0" bIns="0" rtlCol="0" anchor="t"/>
          <a:lstStyle/>
          <a:p>
            <a:pPr marL="0" indent="0" algn="l">
              <a:lnSpc>
                <a:spcPts val="2450"/>
              </a:lnSpc>
              <a:buNone/>
            </a:pPr>
            <a:r>
              <a:rPr lang="en-US" sz="1950" dirty="0">
                <a:solidFill>
                  <a:srgbClr val="020202"/>
                </a:solidFill>
                <a:latin typeface="PT Serif" pitchFamily="34" charset="0"/>
                <a:ea typeface="PT Serif" pitchFamily="34" charset="-122"/>
                <a:cs typeface="PT Serif" pitchFamily="34" charset="-120"/>
              </a:rPr>
              <a:t>TÍTULO I. OBJETIVO DE LA EVALUACIÓN Y CALIFICACIÓN DE DESEMPEÑO ACADÉMICO.</a:t>
            </a:r>
            <a:endParaRPr lang="en-US" sz="1950" dirty="0"/>
          </a:p>
        </p:txBody>
      </p:sp>
      <p:sp>
        <p:nvSpPr>
          <p:cNvPr id="4" name="Text 2"/>
          <p:cNvSpPr/>
          <p:nvPr/>
        </p:nvSpPr>
        <p:spPr>
          <a:xfrm>
            <a:off x="793790" y="3353038"/>
            <a:ext cx="13042821" cy="925116"/>
          </a:xfrm>
          <a:prstGeom prst="rect">
            <a:avLst/>
          </a:prstGeom>
          <a:noFill/>
          <a:ln/>
        </p:spPr>
        <p:txBody>
          <a:bodyPr wrap="square" lIns="0" tIns="0" rIns="0" bIns="0" rtlCol="0" anchor="t"/>
          <a:lstStyle/>
          <a:p>
            <a:pPr marL="0" indent="0" algn="l">
              <a:lnSpc>
                <a:spcPts val="2400"/>
              </a:lnSpc>
              <a:buNone/>
            </a:pPr>
            <a:r>
              <a:rPr lang="en-US" sz="1500" b="1" dirty="0">
                <a:solidFill>
                  <a:srgbClr val="383838"/>
                </a:solidFill>
                <a:latin typeface="DM Sans" pitchFamily="34" charset="0"/>
                <a:ea typeface="DM Sans" pitchFamily="34" charset="-122"/>
                <a:cs typeface="DM Sans" pitchFamily="34" charset="-120"/>
              </a:rPr>
              <a:t>Artículo 1:</a:t>
            </a:r>
            <a:r>
              <a:rPr lang="en-US" sz="1500" dirty="0">
                <a:solidFill>
                  <a:srgbClr val="383838"/>
                </a:solidFill>
                <a:latin typeface="DM Sans" pitchFamily="34" charset="0"/>
                <a:ea typeface="DM Sans" pitchFamily="34" charset="-122"/>
                <a:cs typeface="DM Sans" pitchFamily="34" charset="-120"/>
              </a:rPr>
              <a:t> La presente normativa tiene por objeto evaluar y calificar el trabajo realizado por cada uno de los académicos de la Universidad; constituir un incentivo permanente para el perfeccionamiento de las actividades que sirvan para promover y desarrollar su cuerpo académico y contribuir, en suma, a elevar los niveles de calidad y productividad de la Universidad.</a:t>
            </a:r>
            <a:endParaRPr lang="en-US" sz="1500" dirty="0"/>
          </a:p>
        </p:txBody>
      </p:sp>
      <p:sp>
        <p:nvSpPr>
          <p:cNvPr id="5" name="Text 3"/>
          <p:cNvSpPr/>
          <p:nvPr/>
        </p:nvSpPr>
        <p:spPr>
          <a:xfrm>
            <a:off x="793790" y="4494967"/>
            <a:ext cx="13042821" cy="616744"/>
          </a:xfrm>
          <a:prstGeom prst="rect">
            <a:avLst/>
          </a:prstGeom>
          <a:noFill/>
          <a:ln/>
        </p:spPr>
        <p:txBody>
          <a:bodyPr wrap="square" lIns="0" tIns="0" rIns="0" bIns="0" rtlCol="0" anchor="t"/>
          <a:lstStyle/>
          <a:p>
            <a:pPr marL="0" indent="0" algn="l">
              <a:lnSpc>
                <a:spcPts val="2400"/>
              </a:lnSpc>
              <a:buNone/>
            </a:pPr>
            <a:r>
              <a:rPr lang="en-US" sz="1500" dirty="0">
                <a:solidFill>
                  <a:srgbClr val="383838"/>
                </a:solidFill>
                <a:latin typeface="DM Sans" pitchFamily="34" charset="0"/>
                <a:ea typeface="DM Sans" pitchFamily="34" charset="-122"/>
                <a:cs typeface="DM Sans" pitchFamily="34" charset="-120"/>
              </a:rPr>
              <a:t>Para este efecto, la evaluación y calificación se </a:t>
            </a:r>
            <a:r>
              <a:rPr lang="en-US" sz="1500" b="1" dirty="0">
                <a:solidFill>
                  <a:srgbClr val="383838"/>
                </a:solidFill>
                <a:latin typeface="DM Sans" pitchFamily="34" charset="0"/>
                <a:ea typeface="DM Sans" pitchFamily="34" charset="-122"/>
                <a:cs typeface="DM Sans" pitchFamily="34" charset="-120"/>
              </a:rPr>
              <a:t>realizará cada dos años</a:t>
            </a:r>
            <a:r>
              <a:rPr lang="en-US" sz="1500" dirty="0">
                <a:solidFill>
                  <a:srgbClr val="383838"/>
                </a:solidFill>
                <a:latin typeface="DM Sans" pitchFamily="34" charset="0"/>
                <a:ea typeface="DM Sans" pitchFamily="34" charset="-122"/>
                <a:cs typeface="DM Sans" pitchFamily="34" charset="-120"/>
              </a:rPr>
              <a:t>, en tanto que la </a:t>
            </a:r>
            <a:r>
              <a:rPr lang="en-US" sz="1500" b="1" dirty="0">
                <a:solidFill>
                  <a:srgbClr val="383838"/>
                </a:solidFill>
                <a:latin typeface="DM Sans" pitchFamily="34" charset="0"/>
                <a:ea typeface="DM Sans" pitchFamily="34" charset="-122"/>
                <a:cs typeface="DM Sans" pitchFamily="34" charset="-120"/>
              </a:rPr>
              <a:t>precalificación será anual</a:t>
            </a:r>
            <a:r>
              <a:rPr lang="en-US" sz="1500" dirty="0">
                <a:solidFill>
                  <a:srgbClr val="383838"/>
                </a:solidFill>
                <a:latin typeface="DM Sans" pitchFamily="34" charset="0"/>
                <a:ea typeface="DM Sans" pitchFamily="34" charset="-122"/>
                <a:cs typeface="DM Sans" pitchFamily="34" charset="-120"/>
              </a:rPr>
              <a:t> y se iniciará el primer día hábil de Marzo.</a:t>
            </a:r>
            <a:endParaRPr lang="en-US" sz="1500" dirty="0"/>
          </a:p>
        </p:txBody>
      </p:sp>
      <p:sp>
        <p:nvSpPr>
          <p:cNvPr id="6" name="Text 4"/>
          <p:cNvSpPr/>
          <p:nvPr/>
        </p:nvSpPr>
        <p:spPr>
          <a:xfrm>
            <a:off x="793790" y="5400913"/>
            <a:ext cx="6063496" cy="316230"/>
          </a:xfrm>
          <a:prstGeom prst="rect">
            <a:avLst/>
          </a:prstGeom>
          <a:noFill/>
          <a:ln/>
        </p:spPr>
        <p:txBody>
          <a:bodyPr wrap="none" lIns="0" tIns="0" rIns="0" bIns="0" rtlCol="0" anchor="t"/>
          <a:lstStyle/>
          <a:p>
            <a:pPr marL="0" indent="0" algn="l">
              <a:lnSpc>
                <a:spcPts val="2450"/>
              </a:lnSpc>
              <a:buNone/>
            </a:pPr>
            <a:r>
              <a:rPr lang="en-US" sz="1950" dirty="0">
                <a:solidFill>
                  <a:srgbClr val="020202"/>
                </a:solidFill>
                <a:latin typeface="PT Serif" pitchFamily="34" charset="0"/>
                <a:ea typeface="PT Serif" pitchFamily="34" charset="-122"/>
                <a:cs typeface="PT Serif" pitchFamily="34" charset="-120"/>
              </a:rPr>
              <a:t>TÍTULO II. DEFINICIONES DE CONCEPTOS BÁSICOS.</a:t>
            </a:r>
            <a:endParaRPr lang="en-US" sz="1950" dirty="0"/>
          </a:p>
        </p:txBody>
      </p:sp>
      <p:sp>
        <p:nvSpPr>
          <p:cNvPr id="7" name="Text 5"/>
          <p:cNvSpPr/>
          <p:nvPr/>
        </p:nvSpPr>
        <p:spPr>
          <a:xfrm>
            <a:off x="793790" y="6006346"/>
            <a:ext cx="13042821" cy="308372"/>
          </a:xfrm>
          <a:prstGeom prst="rect">
            <a:avLst/>
          </a:prstGeom>
          <a:noFill/>
          <a:ln/>
        </p:spPr>
        <p:txBody>
          <a:bodyPr wrap="none" lIns="0" tIns="0" rIns="0" bIns="0" rtlCol="0" anchor="t"/>
          <a:lstStyle/>
          <a:p>
            <a:pPr marL="0" indent="0" algn="l">
              <a:lnSpc>
                <a:spcPts val="2400"/>
              </a:lnSpc>
              <a:buNone/>
            </a:pPr>
            <a:r>
              <a:rPr lang="en-US" sz="1500" b="1" dirty="0">
                <a:solidFill>
                  <a:srgbClr val="383838"/>
                </a:solidFill>
                <a:latin typeface="DM Sans" pitchFamily="34" charset="0"/>
                <a:ea typeface="DM Sans" pitchFamily="34" charset="-122"/>
                <a:cs typeface="DM Sans" pitchFamily="34" charset="-120"/>
              </a:rPr>
              <a:t>Artículo 2:</a:t>
            </a:r>
            <a:r>
              <a:rPr lang="en-US" sz="1500" dirty="0">
                <a:solidFill>
                  <a:srgbClr val="383838"/>
                </a:solidFill>
                <a:latin typeface="DM Sans" pitchFamily="34" charset="0"/>
                <a:ea typeface="DM Sans" pitchFamily="34" charset="-122"/>
                <a:cs typeface="DM Sans" pitchFamily="34" charset="-120"/>
              </a:rPr>
              <a:t> Para los efectos del presente reglamento se entenderá por:</a:t>
            </a:r>
            <a:endParaRPr lang="en-US" sz="1500" dirty="0"/>
          </a:p>
        </p:txBody>
      </p:sp>
      <p:sp>
        <p:nvSpPr>
          <p:cNvPr id="8" name="Text 6"/>
          <p:cNvSpPr/>
          <p:nvPr/>
        </p:nvSpPr>
        <p:spPr>
          <a:xfrm>
            <a:off x="793790" y="6531531"/>
            <a:ext cx="13042821" cy="925116"/>
          </a:xfrm>
          <a:prstGeom prst="rect">
            <a:avLst/>
          </a:prstGeom>
          <a:noFill/>
          <a:ln/>
        </p:spPr>
        <p:txBody>
          <a:bodyPr wrap="square" lIns="0" tIns="0" rIns="0" bIns="0" rtlCol="0" anchor="t"/>
          <a:lstStyle/>
          <a:p>
            <a:pPr marL="0" indent="0" algn="l">
              <a:lnSpc>
                <a:spcPts val="2400"/>
              </a:lnSpc>
              <a:buNone/>
            </a:pPr>
            <a:r>
              <a:rPr lang="en-US" sz="1500" b="1" dirty="0">
                <a:solidFill>
                  <a:srgbClr val="383838"/>
                </a:solidFill>
                <a:latin typeface="DM Sans" pitchFamily="34" charset="0"/>
                <a:ea typeface="DM Sans" pitchFamily="34" charset="-122"/>
                <a:cs typeface="DM Sans" pitchFamily="34" charset="-120"/>
              </a:rPr>
              <a:t>2.1. Evaluación de desempeño:</a:t>
            </a:r>
            <a:r>
              <a:rPr lang="en-US" sz="1500" dirty="0">
                <a:solidFill>
                  <a:srgbClr val="383838"/>
                </a:solidFill>
                <a:latin typeface="DM Sans" pitchFamily="34" charset="0"/>
                <a:ea typeface="DM Sans" pitchFamily="34" charset="-122"/>
                <a:cs typeface="DM Sans" pitchFamily="34" charset="-120"/>
              </a:rPr>
              <a:t> Procedimiento que mide tanto el </a:t>
            </a:r>
            <a:r>
              <a:rPr lang="en-US" sz="1500" b="1" dirty="0">
                <a:solidFill>
                  <a:srgbClr val="383838"/>
                </a:solidFill>
                <a:latin typeface="DM Sans" pitchFamily="34" charset="0"/>
                <a:ea typeface="DM Sans" pitchFamily="34" charset="-122"/>
                <a:cs typeface="DM Sans" pitchFamily="34" charset="-120"/>
              </a:rPr>
              <a:t>grado de cumplimiento</a:t>
            </a:r>
            <a:r>
              <a:rPr lang="en-US" sz="1500" dirty="0">
                <a:solidFill>
                  <a:srgbClr val="383838"/>
                </a:solidFill>
                <a:latin typeface="DM Sans" pitchFamily="34" charset="0"/>
                <a:ea typeface="DM Sans" pitchFamily="34" charset="-122"/>
                <a:cs typeface="DM Sans" pitchFamily="34" charset="-120"/>
              </a:rPr>
              <a:t>, como la </a:t>
            </a:r>
            <a:r>
              <a:rPr lang="en-US" sz="1500" b="1" dirty="0">
                <a:solidFill>
                  <a:srgbClr val="383838"/>
                </a:solidFill>
                <a:latin typeface="DM Sans" pitchFamily="34" charset="0"/>
                <a:ea typeface="DM Sans" pitchFamily="34" charset="-122"/>
                <a:cs typeface="DM Sans" pitchFamily="34" charset="-120"/>
              </a:rPr>
              <a:t>calidad de las actividades académicas</a:t>
            </a:r>
            <a:r>
              <a:rPr lang="en-US" sz="1500" dirty="0">
                <a:solidFill>
                  <a:srgbClr val="383838"/>
                </a:solidFill>
                <a:latin typeface="DM Sans" pitchFamily="34" charset="0"/>
                <a:ea typeface="DM Sans" pitchFamily="34" charset="-122"/>
                <a:cs typeface="DM Sans" pitchFamily="34" charset="-120"/>
              </a:rPr>
              <a:t> debidamente comprobadas de un académico, durante el periodo sujeto a evaluación y que culmina con la calificación respectiva. Para este propósito, se compara la actividad realizada con los compromisos acordados previamente con el Director de Departamento o unidad equivalente.</a:t>
            </a:r>
            <a:endParaRPr lang="en-US" sz="1500" dirty="0"/>
          </a:p>
        </p:txBody>
      </p:sp>
      <p:sp>
        <p:nvSpPr>
          <p:cNvPr id="9" name="Rectángulo 8">
            <a:extLst>
              <a:ext uri="{FF2B5EF4-FFF2-40B4-BE49-F238E27FC236}">
                <a16:creationId xmlns:a16="http://schemas.microsoft.com/office/drawing/2014/main" id="{7F0C1B18-857C-2C79-E1E5-7688DE418C4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50977"/>
            <a:ext cx="13042821" cy="1042035"/>
          </a:xfrm>
          <a:prstGeom prst="rect">
            <a:avLst/>
          </a:prstGeom>
          <a:noFill/>
          <a:ln/>
        </p:spPr>
        <p:txBody>
          <a:bodyPr wrap="squar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3250" dirty="0"/>
          </a:p>
        </p:txBody>
      </p:sp>
      <p:sp>
        <p:nvSpPr>
          <p:cNvPr id="3" name="Text 1"/>
          <p:cNvSpPr/>
          <p:nvPr/>
        </p:nvSpPr>
        <p:spPr>
          <a:xfrm>
            <a:off x="793790" y="2256473"/>
            <a:ext cx="9587151" cy="312539"/>
          </a:xfrm>
          <a:prstGeom prst="rect">
            <a:avLst/>
          </a:prstGeom>
          <a:noFill/>
          <a:ln/>
        </p:spPr>
        <p:txBody>
          <a:bodyPr wrap="none" lIns="0" tIns="0" rIns="0" bIns="0" rtlCol="0" anchor="t"/>
          <a:lstStyle/>
          <a:p>
            <a:pPr marL="0" indent="0" algn="l">
              <a:lnSpc>
                <a:spcPts val="2450"/>
              </a:lnSpc>
              <a:buNone/>
            </a:pPr>
            <a:r>
              <a:rPr lang="en-US" sz="1950" dirty="0">
                <a:solidFill>
                  <a:srgbClr val="020202"/>
                </a:solidFill>
                <a:latin typeface="PT Serif" pitchFamily="34" charset="0"/>
                <a:ea typeface="PT Serif" pitchFamily="34" charset="-122"/>
                <a:cs typeface="PT Serif" pitchFamily="34" charset="-120"/>
              </a:rPr>
              <a:t>2.8. Actividades académicas: Son actividades susceptibles de evaluación las siguientes:</a:t>
            </a:r>
            <a:endParaRPr lang="en-US" sz="1950" dirty="0"/>
          </a:p>
        </p:txBody>
      </p:sp>
      <p:sp>
        <p:nvSpPr>
          <p:cNvPr id="4" name="Text 2"/>
          <p:cNvSpPr/>
          <p:nvPr/>
        </p:nvSpPr>
        <p:spPr>
          <a:xfrm>
            <a:off x="793790" y="2807137"/>
            <a:ext cx="13042821" cy="762238"/>
          </a:xfrm>
          <a:prstGeom prst="rect">
            <a:avLst/>
          </a:prstGeom>
          <a:noFill/>
          <a:ln/>
        </p:spPr>
        <p:txBody>
          <a:bodyPr wrap="squar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a) Docencia:</a:t>
            </a:r>
            <a:r>
              <a:rPr lang="en-US" sz="1250" dirty="0">
                <a:solidFill>
                  <a:srgbClr val="383838"/>
                </a:solidFill>
                <a:latin typeface="DM Sans" pitchFamily="34" charset="0"/>
                <a:ea typeface="DM Sans" pitchFamily="34" charset="-122"/>
                <a:cs typeface="DM Sans" pitchFamily="34" charset="-120"/>
              </a:rPr>
              <a:t> Se considerarán actividades docentes, entre otras: la planificación, diseño y evaluación de planes y programas de pre, postgrado y postitulo, docencia en aula o a distancia, dirección de trabajos conducentes a títulos profesionales o a grados académicos, gestión y administración de carreras, publicaciones y comunicaciones docentes, proyectos de investigación y/o desarrollo docente, perfeccionamiento o actualización en docencia.</a:t>
            </a:r>
            <a:endParaRPr lang="en-US" sz="1250" dirty="0"/>
          </a:p>
        </p:txBody>
      </p:sp>
      <p:sp>
        <p:nvSpPr>
          <p:cNvPr id="5" name="Text 3"/>
          <p:cNvSpPr/>
          <p:nvPr/>
        </p:nvSpPr>
        <p:spPr>
          <a:xfrm>
            <a:off x="793790" y="3747968"/>
            <a:ext cx="13042821" cy="1016318"/>
          </a:xfrm>
          <a:prstGeom prst="rect">
            <a:avLst/>
          </a:prstGeom>
          <a:noFill/>
          <a:ln/>
        </p:spPr>
        <p:txBody>
          <a:bodyPr wrap="squar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b) Investigación:</a:t>
            </a:r>
            <a:r>
              <a:rPr lang="en-US" sz="1250" dirty="0">
                <a:solidFill>
                  <a:srgbClr val="383838"/>
                </a:solidFill>
                <a:latin typeface="DM Sans" pitchFamily="34" charset="0"/>
                <a:ea typeface="DM Sans" pitchFamily="34" charset="-122"/>
                <a:cs typeface="DM Sans" pitchFamily="34" charset="-120"/>
              </a:rPr>
              <a:t> Se considerarán actividades de investigación, entre otras, las siguientes: participación, ya sea como investigador principal, investigador asociado o consultor, en proyectos de investigación; planificación, diseño e implementación de proyectos de investigación; gestión administrativa y desarrollo de proyectos de investigación; organización de encuentros científicos; elaboración de productos de los proyectos de investigación (libros, capítulos de libros, artículos en revistas, patentes, entre otros); perfeccionamiento en investigación; dirección de tesis de postgrado en investigación; participación en programas de postgrado.</a:t>
            </a:r>
            <a:endParaRPr lang="en-US" sz="1250" dirty="0"/>
          </a:p>
        </p:txBody>
      </p:sp>
      <p:sp>
        <p:nvSpPr>
          <p:cNvPr id="6" name="Text 4"/>
          <p:cNvSpPr/>
          <p:nvPr/>
        </p:nvSpPr>
        <p:spPr>
          <a:xfrm>
            <a:off x="793790" y="4942880"/>
            <a:ext cx="13042821" cy="762238"/>
          </a:xfrm>
          <a:prstGeom prst="rect">
            <a:avLst/>
          </a:prstGeom>
          <a:noFill/>
          <a:ln/>
        </p:spPr>
        <p:txBody>
          <a:bodyPr wrap="squar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c) Asistencia técnica:</a:t>
            </a:r>
            <a:r>
              <a:rPr lang="en-US" sz="1250" dirty="0">
                <a:solidFill>
                  <a:srgbClr val="383838"/>
                </a:solidFill>
                <a:latin typeface="DM Sans" pitchFamily="34" charset="0"/>
                <a:ea typeface="DM Sans" pitchFamily="34" charset="-122"/>
                <a:cs typeface="DM Sans" pitchFamily="34" charset="-120"/>
              </a:rPr>
              <a:t> Se considerarán actividades de asistencia técnica, entre otras, las siguientes: formulación de proyectos de asistencia técnica en calidad de responsable o colaborador; participación en proyectos de asistencia técnica como responsable o colaborador; gestión y desarrollo de proyectos de asistencia técnica; formulación de proyectos de capacitación en calidad de responsable o colaborador; gestión y desarrollo de proyectos de capacitación en calidad de responsable o docente.</a:t>
            </a:r>
            <a:endParaRPr lang="en-US" sz="1250" dirty="0"/>
          </a:p>
        </p:txBody>
      </p:sp>
      <p:sp>
        <p:nvSpPr>
          <p:cNvPr id="7" name="Text 5"/>
          <p:cNvSpPr/>
          <p:nvPr/>
        </p:nvSpPr>
        <p:spPr>
          <a:xfrm>
            <a:off x="793790" y="5883712"/>
            <a:ext cx="13042821" cy="508159"/>
          </a:xfrm>
          <a:prstGeom prst="rect">
            <a:avLst/>
          </a:prstGeom>
          <a:noFill/>
          <a:ln/>
        </p:spPr>
        <p:txBody>
          <a:bodyPr wrap="squar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d) Extensión:</a:t>
            </a:r>
            <a:r>
              <a:rPr lang="en-US" sz="1250" dirty="0">
                <a:solidFill>
                  <a:srgbClr val="383838"/>
                </a:solidFill>
                <a:latin typeface="DM Sans" pitchFamily="34" charset="0"/>
                <a:ea typeface="DM Sans" pitchFamily="34" charset="-122"/>
                <a:cs typeface="DM Sans" pitchFamily="34" charset="-120"/>
              </a:rPr>
              <a:t> Se considerarán actividades de extensión, entre otras, las siguientes: conferencias, charlas, participación en seminarios, mesas redondas, programas de radio y televisión, artículos en prensa, artículos de divulgación científica y técnica.</a:t>
            </a:r>
            <a:endParaRPr lang="en-US" sz="1250" dirty="0"/>
          </a:p>
        </p:txBody>
      </p:sp>
      <p:sp>
        <p:nvSpPr>
          <p:cNvPr id="8" name="Text 6"/>
          <p:cNvSpPr/>
          <p:nvPr/>
        </p:nvSpPr>
        <p:spPr>
          <a:xfrm>
            <a:off x="793790" y="6570464"/>
            <a:ext cx="13042821" cy="508159"/>
          </a:xfrm>
          <a:prstGeom prst="rect">
            <a:avLst/>
          </a:prstGeom>
          <a:noFill/>
          <a:ln/>
        </p:spPr>
        <p:txBody>
          <a:bodyPr wrap="square" lIns="0" tIns="0" rIns="0" bIns="0" rtlCol="0" anchor="t"/>
          <a:lstStyle/>
          <a:p>
            <a:pPr marL="0" indent="0" algn="l">
              <a:lnSpc>
                <a:spcPts val="2000"/>
              </a:lnSpc>
              <a:buNone/>
            </a:pPr>
            <a:r>
              <a:rPr lang="en-US" sz="1250" b="1" dirty="0">
                <a:solidFill>
                  <a:srgbClr val="383838"/>
                </a:solidFill>
                <a:latin typeface="DM Sans" pitchFamily="34" charset="0"/>
                <a:ea typeface="DM Sans" pitchFamily="34" charset="-122"/>
                <a:cs typeface="DM Sans" pitchFamily="34" charset="-120"/>
              </a:rPr>
              <a:t>e) Otras actividades académico administrativas</a:t>
            </a:r>
            <a:r>
              <a:rPr lang="en-US" sz="1250" dirty="0">
                <a:solidFill>
                  <a:srgbClr val="383838"/>
                </a:solidFill>
                <a:latin typeface="DM Sans" pitchFamily="34" charset="0"/>
                <a:ea typeface="DM Sans" pitchFamily="34" charset="-122"/>
                <a:cs typeface="DM Sans" pitchFamily="34" charset="-120"/>
              </a:rPr>
              <a:t> no consideradas en las áreas anteriores, tales como Consejeros de Departamento, Consejeros de Facultad, Consejeros Académicos de la Universidad, cargos de representación en organismos nacionales o internacionales, en consejos y comités editoriales de revistas profesionales y científicas.</a:t>
            </a:r>
            <a:endParaRPr lang="en-US" sz="1250" dirty="0"/>
          </a:p>
        </p:txBody>
      </p:sp>
      <p:sp>
        <p:nvSpPr>
          <p:cNvPr id="9" name="Rectángulo 8">
            <a:extLst>
              <a:ext uri="{FF2B5EF4-FFF2-40B4-BE49-F238E27FC236}">
                <a16:creationId xmlns:a16="http://schemas.microsoft.com/office/drawing/2014/main" id="{E74803DD-029A-A290-3A85-40101D59C279}"/>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150025"/>
            <a:ext cx="13042821" cy="2232779"/>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4650" dirty="0"/>
          </a:p>
        </p:txBody>
      </p:sp>
      <p:sp>
        <p:nvSpPr>
          <p:cNvPr id="3" name="Text 1"/>
          <p:cNvSpPr/>
          <p:nvPr/>
        </p:nvSpPr>
        <p:spPr>
          <a:xfrm>
            <a:off x="793790" y="3473529"/>
            <a:ext cx="1165574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TÍTULO IV. DE LOS EVALUADORES Y CALIFICADORES</a:t>
            </a:r>
            <a:endParaRPr lang="en-US" sz="3750" dirty="0"/>
          </a:p>
        </p:txBody>
      </p:sp>
      <p:sp>
        <p:nvSpPr>
          <p:cNvPr id="4" name="Text 2"/>
          <p:cNvSpPr/>
          <p:nvPr/>
        </p:nvSpPr>
        <p:spPr>
          <a:xfrm>
            <a:off x="793790" y="4409122"/>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383838"/>
                </a:solidFill>
                <a:latin typeface="DM Sans" pitchFamily="34" charset="0"/>
                <a:ea typeface="DM Sans" pitchFamily="34" charset="-122"/>
                <a:cs typeface="DM Sans" pitchFamily="34" charset="-120"/>
              </a:rPr>
              <a:t>Artículo 4:</a:t>
            </a:r>
            <a:r>
              <a:rPr lang="en-US" sz="1750" dirty="0">
                <a:solidFill>
                  <a:srgbClr val="383838"/>
                </a:solidFill>
                <a:latin typeface="DM Sans" pitchFamily="34" charset="0"/>
                <a:ea typeface="DM Sans" pitchFamily="34" charset="-122"/>
                <a:cs typeface="DM Sans" pitchFamily="34" charset="-120"/>
              </a:rPr>
              <a:t> Participarán en el proceso de evaluación y calificación del desempeño académico los siguientes órganos:</a:t>
            </a:r>
            <a:endParaRPr lang="en-US" sz="1750" dirty="0"/>
          </a:p>
        </p:txBody>
      </p:sp>
      <p:sp>
        <p:nvSpPr>
          <p:cNvPr id="5" name="Text 3"/>
          <p:cNvSpPr/>
          <p:nvPr/>
        </p:nvSpPr>
        <p:spPr>
          <a:xfrm>
            <a:off x="793790" y="5027176"/>
            <a:ext cx="13042821" cy="725805"/>
          </a:xfrm>
          <a:prstGeom prst="rect">
            <a:avLst/>
          </a:prstGeom>
          <a:noFill/>
          <a:ln/>
        </p:spPr>
        <p:txBody>
          <a:bodyPr wrap="square" lIns="0" tIns="0" rIns="0" bIns="0" rtlCol="0" anchor="t"/>
          <a:lstStyle/>
          <a:p>
            <a:pPr marL="342900" indent="-342900" algn="l">
              <a:lnSpc>
                <a:spcPts val="2850"/>
              </a:lnSpc>
              <a:buSzPct val="100000"/>
              <a:buFont typeface="+mj-lt"/>
              <a:buAutoNum type="arabicPeriod"/>
            </a:pPr>
            <a:r>
              <a:rPr lang="en-US" sz="1750" b="1" dirty="0">
                <a:solidFill>
                  <a:srgbClr val="383838"/>
                </a:solidFill>
                <a:latin typeface="DM Sans" pitchFamily="34" charset="0"/>
                <a:ea typeface="DM Sans" pitchFamily="34" charset="-122"/>
                <a:cs typeface="DM Sans" pitchFamily="34" charset="-120"/>
              </a:rPr>
              <a:t>Comisión de Evaluación y Calificación de Departamento</a:t>
            </a:r>
            <a:r>
              <a:rPr lang="en-US" sz="1750" dirty="0">
                <a:solidFill>
                  <a:srgbClr val="383838"/>
                </a:solidFill>
                <a:latin typeface="DM Sans" pitchFamily="34" charset="0"/>
                <a:ea typeface="DM Sans" pitchFamily="34" charset="-122"/>
                <a:cs typeface="DM Sans" pitchFamily="34" charset="-120"/>
              </a:rPr>
              <a:t> o unidad equivalente, denominada "Comisión de Departamento".</a:t>
            </a:r>
            <a:endParaRPr lang="en-US" sz="1750" dirty="0"/>
          </a:p>
        </p:txBody>
      </p:sp>
      <p:sp>
        <p:nvSpPr>
          <p:cNvPr id="6" name="Text 4"/>
          <p:cNvSpPr/>
          <p:nvPr/>
        </p:nvSpPr>
        <p:spPr>
          <a:xfrm>
            <a:off x="793790" y="5832277"/>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b="1" dirty="0">
                <a:solidFill>
                  <a:srgbClr val="383838"/>
                </a:solidFill>
                <a:latin typeface="DM Sans" pitchFamily="34" charset="0"/>
                <a:ea typeface="DM Sans" pitchFamily="34" charset="-122"/>
                <a:cs typeface="DM Sans" pitchFamily="34" charset="-120"/>
              </a:rPr>
              <a:t>Comisión de Evaluación y Calificación de Facultad</a:t>
            </a:r>
            <a:r>
              <a:rPr lang="en-US" sz="1750" dirty="0">
                <a:solidFill>
                  <a:srgbClr val="383838"/>
                </a:solidFill>
                <a:latin typeface="DM Sans" pitchFamily="34" charset="0"/>
                <a:ea typeface="DM Sans" pitchFamily="34" charset="-122"/>
                <a:cs typeface="DM Sans" pitchFamily="34" charset="-120"/>
              </a:rPr>
              <a:t> o unidad equivalente, denominada "Comisión de Facultad".</a:t>
            </a:r>
            <a:endParaRPr lang="en-US" sz="1750" dirty="0"/>
          </a:p>
        </p:txBody>
      </p:sp>
      <p:sp>
        <p:nvSpPr>
          <p:cNvPr id="7" name="Text 5"/>
          <p:cNvSpPr/>
          <p:nvPr/>
        </p:nvSpPr>
        <p:spPr>
          <a:xfrm>
            <a:off x="793790" y="6274475"/>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b="1" dirty="0">
                <a:solidFill>
                  <a:srgbClr val="383838"/>
                </a:solidFill>
                <a:latin typeface="DM Sans" pitchFamily="34" charset="0"/>
                <a:ea typeface="DM Sans" pitchFamily="34" charset="-122"/>
                <a:cs typeface="DM Sans" pitchFamily="34" charset="-120"/>
              </a:rPr>
              <a:t>Consejo de Facultad</a:t>
            </a:r>
            <a:r>
              <a:rPr lang="en-US" sz="1750" dirty="0">
                <a:solidFill>
                  <a:srgbClr val="383838"/>
                </a:solidFill>
                <a:latin typeface="DM Sans" pitchFamily="34" charset="0"/>
                <a:ea typeface="DM Sans" pitchFamily="34" charset="-122"/>
                <a:cs typeface="DM Sans" pitchFamily="34" charset="-120"/>
              </a:rPr>
              <a:t>.</a:t>
            </a:r>
            <a:endParaRPr lang="en-US" sz="1750" dirty="0"/>
          </a:p>
        </p:txBody>
      </p:sp>
      <p:sp>
        <p:nvSpPr>
          <p:cNvPr id="8" name="Text 6"/>
          <p:cNvSpPr/>
          <p:nvPr/>
        </p:nvSpPr>
        <p:spPr>
          <a:xfrm>
            <a:off x="793790" y="6716673"/>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4"/>
            </a:pPr>
            <a:r>
              <a:rPr lang="en-US" sz="1750" b="1" dirty="0">
                <a:solidFill>
                  <a:srgbClr val="383838"/>
                </a:solidFill>
                <a:latin typeface="DM Sans" pitchFamily="34" charset="0"/>
                <a:ea typeface="DM Sans" pitchFamily="34" charset="-122"/>
                <a:cs typeface="DM Sans" pitchFamily="34" charset="-120"/>
              </a:rPr>
              <a:t>Comisión Superior de Calificación y Desempeño Académico</a:t>
            </a:r>
            <a:r>
              <a:rPr lang="en-US" sz="1750" dirty="0">
                <a:solidFill>
                  <a:srgbClr val="383838"/>
                </a:solidFill>
                <a:latin typeface="DM Sans" pitchFamily="34" charset="0"/>
                <a:ea typeface="DM Sans" pitchFamily="34" charset="-122"/>
                <a:cs typeface="DM Sans" pitchFamily="34" charset="-120"/>
              </a:rPr>
              <a:t>, denominada "Comisión Superior".</a:t>
            </a:r>
            <a:endParaRPr lang="en-US" sz="1750" dirty="0"/>
          </a:p>
        </p:txBody>
      </p:sp>
      <p:sp>
        <p:nvSpPr>
          <p:cNvPr id="9" name="Rectángulo 8">
            <a:extLst>
              <a:ext uri="{FF2B5EF4-FFF2-40B4-BE49-F238E27FC236}">
                <a16:creationId xmlns:a16="http://schemas.microsoft.com/office/drawing/2014/main" id="{39A3BCDA-3C60-79D5-75A8-BF7D16BAA9C7}"/>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999173"/>
            <a:ext cx="13042821" cy="2120979"/>
          </a:xfrm>
          <a:prstGeom prst="rect">
            <a:avLst/>
          </a:prstGeom>
          <a:noFill/>
          <a:ln/>
        </p:spPr>
        <p:txBody>
          <a:bodyPr wrap="square" lIns="0" tIns="0" rIns="0" bIns="0" rtlCol="0" anchor="t"/>
          <a:lstStyle/>
          <a:p>
            <a:pPr marL="0" indent="0" algn="l">
              <a:lnSpc>
                <a:spcPts val="5550"/>
              </a:lnSpc>
              <a:buNone/>
            </a:pPr>
            <a:r>
              <a:rPr lang="en-US" sz="445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4450" dirty="0"/>
          </a:p>
        </p:txBody>
      </p:sp>
      <p:sp>
        <p:nvSpPr>
          <p:cNvPr id="3" name="Text 1"/>
          <p:cNvSpPr/>
          <p:nvPr/>
        </p:nvSpPr>
        <p:spPr>
          <a:xfrm>
            <a:off x="793790" y="3206234"/>
            <a:ext cx="12447984" cy="565666"/>
          </a:xfrm>
          <a:prstGeom prst="rect">
            <a:avLst/>
          </a:prstGeom>
          <a:noFill/>
          <a:ln/>
        </p:spPr>
        <p:txBody>
          <a:bodyPr wrap="none" lIns="0" tIns="0" rIns="0" bIns="0" rtlCol="0" anchor="t"/>
          <a:lstStyle/>
          <a:p>
            <a:pPr marL="0" indent="0" algn="l">
              <a:lnSpc>
                <a:spcPts val="4450"/>
              </a:lnSpc>
              <a:buNone/>
            </a:pPr>
            <a:r>
              <a:rPr lang="en-US" sz="3550" dirty="0">
                <a:solidFill>
                  <a:srgbClr val="020202"/>
                </a:solidFill>
                <a:latin typeface="PT Serif" pitchFamily="34" charset="0"/>
                <a:ea typeface="PT Serif" pitchFamily="34" charset="-122"/>
                <a:cs typeface="PT Serif" pitchFamily="34" charset="-120"/>
              </a:rPr>
              <a:t>Artículo 6: Serán funciones de la Comisión del Departamento:</a:t>
            </a:r>
            <a:endParaRPr lang="en-US" sz="3550" dirty="0"/>
          </a:p>
        </p:txBody>
      </p:sp>
      <p:sp>
        <p:nvSpPr>
          <p:cNvPr id="4" name="Text 2"/>
          <p:cNvSpPr/>
          <p:nvPr/>
        </p:nvSpPr>
        <p:spPr>
          <a:xfrm>
            <a:off x="793790" y="4095036"/>
            <a:ext cx="13042821" cy="344805"/>
          </a:xfrm>
          <a:prstGeom prst="rect">
            <a:avLst/>
          </a:prstGeom>
          <a:noFill/>
          <a:ln/>
        </p:spPr>
        <p:txBody>
          <a:bodyPr wrap="none" lIns="0" tIns="0" rIns="0" bIns="0" rtlCol="0" anchor="t"/>
          <a:lstStyle/>
          <a:p>
            <a:pPr marL="342900" indent="-342900" algn="l">
              <a:lnSpc>
                <a:spcPts val="2700"/>
              </a:lnSpc>
              <a:buSzPct val="100000"/>
              <a:buFont typeface="+mj-lt"/>
              <a:buAutoNum type="arabicPeriod"/>
            </a:pPr>
            <a:r>
              <a:rPr lang="en-US" sz="1650" dirty="0">
                <a:solidFill>
                  <a:srgbClr val="383838"/>
                </a:solidFill>
                <a:latin typeface="DM Sans" pitchFamily="34" charset="0"/>
                <a:ea typeface="DM Sans" pitchFamily="34" charset="-122"/>
                <a:cs typeface="DM Sans" pitchFamily="34" charset="-120"/>
              </a:rPr>
              <a:t>Recibir los convenios de desempeño pactados entre el académico y su Director de Departamento o unidad equivalente.</a:t>
            </a:r>
            <a:endParaRPr lang="en-US" sz="1650" dirty="0"/>
          </a:p>
        </p:txBody>
      </p:sp>
      <p:sp>
        <p:nvSpPr>
          <p:cNvPr id="5" name="Text 3"/>
          <p:cNvSpPr/>
          <p:nvPr/>
        </p:nvSpPr>
        <p:spPr>
          <a:xfrm>
            <a:off x="793790" y="4515207"/>
            <a:ext cx="13042821" cy="344805"/>
          </a:xfrm>
          <a:prstGeom prst="rect">
            <a:avLst/>
          </a:prstGeom>
          <a:noFill/>
          <a:ln/>
        </p:spPr>
        <p:txBody>
          <a:bodyPr wrap="none" lIns="0" tIns="0" rIns="0" bIns="0" rtlCol="0" anchor="t"/>
          <a:lstStyle/>
          <a:p>
            <a:pPr marL="342900" indent="-342900" algn="l">
              <a:lnSpc>
                <a:spcPts val="2700"/>
              </a:lnSpc>
              <a:buSzPct val="100000"/>
              <a:buFont typeface="+mj-lt"/>
              <a:buAutoNum type="arabicPeriod" startAt="2"/>
            </a:pPr>
            <a:r>
              <a:rPr lang="en-US" sz="1650" dirty="0">
                <a:solidFill>
                  <a:srgbClr val="383838"/>
                </a:solidFill>
                <a:latin typeface="DM Sans" pitchFamily="34" charset="0"/>
                <a:ea typeface="DM Sans" pitchFamily="34" charset="-122"/>
                <a:cs typeface="DM Sans" pitchFamily="34" charset="-120"/>
              </a:rPr>
              <a:t>Recibir anualmente de cada académico </a:t>
            </a:r>
            <a:r>
              <a:rPr lang="en-US" sz="1650" b="1" dirty="0">
                <a:solidFill>
                  <a:srgbClr val="383838"/>
                </a:solidFill>
                <a:latin typeface="DM Sans" pitchFamily="34" charset="0"/>
                <a:ea typeface="DM Sans" pitchFamily="34" charset="-122"/>
                <a:cs typeface="DM Sans" pitchFamily="34" charset="-120"/>
              </a:rPr>
              <a:t>un informe de las actividades</a:t>
            </a:r>
            <a:r>
              <a:rPr lang="en-US" sz="1650" dirty="0">
                <a:solidFill>
                  <a:srgbClr val="383838"/>
                </a:solidFill>
                <a:latin typeface="DM Sans" pitchFamily="34" charset="0"/>
                <a:ea typeface="DM Sans" pitchFamily="34" charset="-122"/>
                <a:cs typeface="DM Sans" pitchFamily="34" charset="-120"/>
              </a:rPr>
              <a:t> realizadas.</a:t>
            </a:r>
            <a:endParaRPr lang="en-US" sz="1650" dirty="0"/>
          </a:p>
        </p:txBody>
      </p:sp>
      <p:sp>
        <p:nvSpPr>
          <p:cNvPr id="6" name="Text 4"/>
          <p:cNvSpPr/>
          <p:nvPr/>
        </p:nvSpPr>
        <p:spPr>
          <a:xfrm>
            <a:off x="793790" y="4935379"/>
            <a:ext cx="13042821" cy="689610"/>
          </a:xfrm>
          <a:prstGeom prst="rect">
            <a:avLst/>
          </a:prstGeom>
          <a:noFill/>
          <a:ln/>
        </p:spPr>
        <p:txBody>
          <a:bodyPr wrap="square" lIns="0" tIns="0" rIns="0" bIns="0" rtlCol="0" anchor="t"/>
          <a:lstStyle/>
          <a:p>
            <a:pPr marL="342900" indent="-342900" algn="l">
              <a:lnSpc>
                <a:spcPts val="2700"/>
              </a:lnSpc>
              <a:buSzPct val="100000"/>
              <a:buFont typeface="+mj-lt"/>
              <a:buAutoNum type="arabicPeriod" startAt="3"/>
            </a:pPr>
            <a:r>
              <a:rPr lang="en-US" sz="1650" b="1" dirty="0">
                <a:solidFill>
                  <a:srgbClr val="383838"/>
                </a:solidFill>
                <a:latin typeface="DM Sans" pitchFamily="34" charset="0"/>
                <a:ea typeface="DM Sans" pitchFamily="34" charset="-122"/>
                <a:cs typeface="DM Sans" pitchFamily="34" charset="-120"/>
              </a:rPr>
              <a:t>Evaluar anualmente</a:t>
            </a:r>
            <a:r>
              <a:rPr lang="en-US" sz="1650" dirty="0">
                <a:solidFill>
                  <a:srgbClr val="383838"/>
                </a:solidFill>
                <a:latin typeface="DM Sans" pitchFamily="34" charset="0"/>
                <a:ea typeface="DM Sans" pitchFamily="34" charset="-122"/>
                <a:cs typeface="DM Sans" pitchFamily="34" charset="-120"/>
              </a:rPr>
              <a:t> el desempeño de cada académico, </a:t>
            </a:r>
            <a:r>
              <a:rPr lang="en-US" sz="1650" b="1" dirty="0">
                <a:solidFill>
                  <a:srgbClr val="383838"/>
                </a:solidFill>
                <a:latin typeface="DM Sans" pitchFamily="34" charset="0"/>
                <a:ea typeface="DM Sans" pitchFamily="34" charset="-122"/>
                <a:cs typeface="DM Sans" pitchFamily="34" charset="-120"/>
              </a:rPr>
              <a:t>aplicando el Manual</a:t>
            </a:r>
            <a:r>
              <a:rPr lang="en-US" sz="1650" dirty="0">
                <a:solidFill>
                  <a:srgbClr val="383838"/>
                </a:solidFill>
                <a:latin typeface="DM Sans" pitchFamily="34" charset="0"/>
                <a:ea typeface="DM Sans" pitchFamily="34" charset="-122"/>
                <a:cs typeface="DM Sans" pitchFamily="34" charset="-120"/>
              </a:rPr>
              <a:t> de Evaluación y Calificación de Desempeño de la Facultad.</a:t>
            </a:r>
            <a:endParaRPr lang="en-US" sz="1650" dirty="0"/>
          </a:p>
        </p:txBody>
      </p:sp>
      <p:sp>
        <p:nvSpPr>
          <p:cNvPr id="7" name="Text 5"/>
          <p:cNvSpPr/>
          <p:nvPr/>
        </p:nvSpPr>
        <p:spPr>
          <a:xfrm>
            <a:off x="793790" y="5700355"/>
            <a:ext cx="13042821" cy="344805"/>
          </a:xfrm>
          <a:prstGeom prst="rect">
            <a:avLst/>
          </a:prstGeom>
          <a:noFill/>
          <a:ln/>
        </p:spPr>
        <p:txBody>
          <a:bodyPr wrap="none" lIns="0" tIns="0" rIns="0" bIns="0" rtlCol="0" anchor="t"/>
          <a:lstStyle/>
          <a:p>
            <a:pPr marL="342900" indent="-342900" algn="l">
              <a:lnSpc>
                <a:spcPts val="2700"/>
              </a:lnSpc>
              <a:buSzPct val="100000"/>
              <a:buFont typeface="+mj-lt"/>
              <a:buAutoNum type="arabicPeriod" startAt="4"/>
            </a:pPr>
            <a:r>
              <a:rPr lang="en-US" sz="1650" dirty="0">
                <a:solidFill>
                  <a:srgbClr val="383838"/>
                </a:solidFill>
                <a:latin typeface="DM Sans" pitchFamily="34" charset="0"/>
                <a:ea typeface="DM Sans" pitchFamily="34" charset="-122"/>
                <a:cs typeface="DM Sans" pitchFamily="34" charset="-120"/>
              </a:rPr>
              <a:t>Precalificar el desempeño de los académicos.</a:t>
            </a:r>
            <a:endParaRPr lang="en-US" sz="1650" dirty="0"/>
          </a:p>
        </p:txBody>
      </p:sp>
      <p:sp>
        <p:nvSpPr>
          <p:cNvPr id="8" name="Text 6"/>
          <p:cNvSpPr/>
          <p:nvPr/>
        </p:nvSpPr>
        <p:spPr>
          <a:xfrm>
            <a:off x="793790" y="6120527"/>
            <a:ext cx="13042821" cy="344805"/>
          </a:xfrm>
          <a:prstGeom prst="rect">
            <a:avLst/>
          </a:prstGeom>
          <a:noFill/>
          <a:ln/>
        </p:spPr>
        <p:txBody>
          <a:bodyPr wrap="none" lIns="0" tIns="0" rIns="0" bIns="0" rtlCol="0" anchor="t"/>
          <a:lstStyle/>
          <a:p>
            <a:pPr marL="342900" indent="-342900" algn="l">
              <a:lnSpc>
                <a:spcPts val="2700"/>
              </a:lnSpc>
              <a:buSzPct val="100000"/>
              <a:buFont typeface="+mj-lt"/>
              <a:buAutoNum type="arabicPeriod" startAt="5"/>
            </a:pPr>
            <a:r>
              <a:rPr lang="en-US" sz="1650" dirty="0">
                <a:solidFill>
                  <a:srgbClr val="383838"/>
                </a:solidFill>
                <a:latin typeface="DM Sans" pitchFamily="34" charset="0"/>
                <a:ea typeface="DM Sans" pitchFamily="34" charset="-122"/>
                <a:cs typeface="DM Sans" pitchFamily="34" charset="-120"/>
              </a:rPr>
              <a:t>Notificar por escrito el resultado de la precalificación al académico evaluado.</a:t>
            </a:r>
            <a:endParaRPr lang="en-US" sz="1650" dirty="0"/>
          </a:p>
        </p:txBody>
      </p:sp>
      <p:sp>
        <p:nvSpPr>
          <p:cNvPr id="9" name="Text 7"/>
          <p:cNvSpPr/>
          <p:nvPr/>
        </p:nvSpPr>
        <p:spPr>
          <a:xfrm>
            <a:off x="793790" y="6540698"/>
            <a:ext cx="13042821" cy="689610"/>
          </a:xfrm>
          <a:prstGeom prst="rect">
            <a:avLst/>
          </a:prstGeom>
          <a:noFill/>
          <a:ln/>
        </p:spPr>
        <p:txBody>
          <a:bodyPr wrap="square" lIns="0" tIns="0" rIns="0" bIns="0" rtlCol="0" anchor="t"/>
          <a:lstStyle/>
          <a:p>
            <a:pPr marL="342900" indent="-342900" algn="l">
              <a:lnSpc>
                <a:spcPts val="2700"/>
              </a:lnSpc>
              <a:buSzPct val="100000"/>
              <a:buFont typeface="+mj-lt"/>
              <a:buAutoNum type="arabicPeriod" startAt="6"/>
            </a:pPr>
            <a:r>
              <a:rPr lang="en-US" sz="1650" dirty="0">
                <a:solidFill>
                  <a:srgbClr val="383838"/>
                </a:solidFill>
                <a:latin typeface="DM Sans" pitchFamily="34" charset="0"/>
                <a:ea typeface="DM Sans" pitchFamily="34" charset="-122"/>
                <a:cs typeface="DM Sans" pitchFamily="34" charset="-120"/>
              </a:rPr>
              <a:t>Proponer a la Comisión de Facultad una determinada calificación para cada académico, acompañada de un informe debidamente fundamentado.</a:t>
            </a:r>
            <a:endParaRPr lang="en-US" sz="1650" dirty="0"/>
          </a:p>
        </p:txBody>
      </p:sp>
      <p:sp>
        <p:nvSpPr>
          <p:cNvPr id="10" name="Rectángulo 9">
            <a:extLst>
              <a:ext uri="{FF2B5EF4-FFF2-40B4-BE49-F238E27FC236}">
                <a16:creationId xmlns:a16="http://schemas.microsoft.com/office/drawing/2014/main" id="{373B8DF1-7D82-45C5-DD9B-46D388816470}"/>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625912"/>
            <a:ext cx="13042821" cy="1674495"/>
          </a:xfrm>
          <a:prstGeom prst="rect">
            <a:avLst/>
          </a:prstGeom>
          <a:noFill/>
          <a:ln/>
        </p:spPr>
        <p:txBody>
          <a:bodyPr wrap="square" lIns="0" tIns="0" rIns="0" bIns="0" rtlCol="0" anchor="t"/>
          <a:lstStyle/>
          <a:p>
            <a:pPr marL="0" indent="0" algn="l">
              <a:lnSpc>
                <a:spcPts val="4350"/>
              </a:lnSpc>
              <a:buNone/>
            </a:pPr>
            <a:r>
              <a:rPr lang="en-US" sz="350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3500" dirty="0"/>
          </a:p>
        </p:txBody>
      </p:sp>
      <p:sp>
        <p:nvSpPr>
          <p:cNvPr id="3" name="Text 1"/>
          <p:cNvSpPr/>
          <p:nvPr/>
        </p:nvSpPr>
        <p:spPr>
          <a:xfrm>
            <a:off x="793790" y="2368391"/>
            <a:ext cx="13042821" cy="893207"/>
          </a:xfrm>
          <a:prstGeom prst="rect">
            <a:avLst/>
          </a:prstGeom>
          <a:noFill/>
          <a:ln/>
        </p:spPr>
        <p:txBody>
          <a:bodyPr wrap="square" lIns="0" tIns="0" rIns="0" bIns="0" rtlCol="0" anchor="t"/>
          <a:lstStyle/>
          <a:p>
            <a:pPr marL="0" indent="0" algn="l">
              <a:lnSpc>
                <a:spcPts val="3500"/>
              </a:lnSpc>
              <a:buNone/>
            </a:pPr>
            <a:r>
              <a:rPr lang="en-US" sz="2000" dirty="0">
                <a:solidFill>
                  <a:srgbClr val="020202"/>
                </a:solidFill>
                <a:latin typeface="PT Serif" pitchFamily="34" charset="0"/>
                <a:ea typeface="PT Serif" pitchFamily="34" charset="-122"/>
                <a:cs typeface="PT Serif" pitchFamily="34" charset="-120"/>
              </a:rPr>
              <a:t>TÍTULO V. DEL PROCEDIMIENTO DE EVALUACIÓN Y CALIFICACIÓN DEL DESEMPEÑO</a:t>
            </a:r>
            <a:endParaRPr lang="en-US" sz="2000" dirty="0"/>
          </a:p>
        </p:txBody>
      </p:sp>
      <p:sp>
        <p:nvSpPr>
          <p:cNvPr id="11" name="Text 9"/>
          <p:cNvSpPr/>
          <p:nvPr/>
        </p:nvSpPr>
        <p:spPr>
          <a:xfrm>
            <a:off x="793790" y="7331393"/>
            <a:ext cx="13042821" cy="272177"/>
          </a:xfrm>
          <a:prstGeom prst="rect">
            <a:avLst/>
          </a:prstGeom>
          <a:noFill/>
          <a:ln/>
        </p:spPr>
        <p:txBody>
          <a:bodyPr wrap="none" lIns="0" tIns="0" rIns="0" bIns="0" rtlCol="0" anchor="t"/>
          <a:lstStyle/>
          <a:p>
            <a:pPr marL="0" indent="0" algn="l">
              <a:lnSpc>
                <a:spcPts val="2100"/>
              </a:lnSpc>
              <a:buNone/>
            </a:pPr>
            <a:endParaRPr lang="en-US" sz="1300" dirty="0"/>
          </a:p>
        </p:txBody>
      </p:sp>
      <p:sp>
        <p:nvSpPr>
          <p:cNvPr id="12" name="Rectángulo 11">
            <a:extLst>
              <a:ext uri="{FF2B5EF4-FFF2-40B4-BE49-F238E27FC236}">
                <a16:creationId xmlns:a16="http://schemas.microsoft.com/office/drawing/2014/main" id="{7DB2B380-4261-B558-7DD3-896DE91DF19E}"/>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4" name="CuadroTexto 13">
            <a:extLst>
              <a:ext uri="{FF2B5EF4-FFF2-40B4-BE49-F238E27FC236}">
                <a16:creationId xmlns:a16="http://schemas.microsoft.com/office/drawing/2014/main" id="{94BA86AB-AF0A-013A-8549-D1BA3F66F040}"/>
              </a:ext>
            </a:extLst>
          </p:cNvPr>
          <p:cNvSpPr txBox="1"/>
          <p:nvPr/>
        </p:nvSpPr>
        <p:spPr>
          <a:xfrm>
            <a:off x="662901" y="2914236"/>
            <a:ext cx="13684865" cy="5016758"/>
          </a:xfrm>
          <a:prstGeom prst="rect">
            <a:avLst/>
          </a:prstGeom>
          <a:noFill/>
        </p:spPr>
        <p:txBody>
          <a:bodyPr wrap="square">
            <a:spAutoFit/>
          </a:bodyPr>
          <a:lstStyle/>
          <a:p>
            <a:pPr marL="342900" indent="-342900">
              <a:buFont typeface="+mj-lt"/>
              <a:buAutoNum type="arabicPeriod"/>
            </a:pPr>
            <a:r>
              <a:rPr lang="es-ES" sz="1600" dirty="0">
                <a:latin typeface="DM Sans" pitchFamily="2" charset="0"/>
              </a:rPr>
              <a:t>Inicio: suscripción del convenio de desempeño entre el académico y su director. Este convenio se suscribirá dentro de los primeros quince días del mes de marzo de cada año. En caso de que no se llegara a un acuerdo, el académico podrá reclamar al superior jerárquico de ambos.</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b="1" dirty="0">
                <a:latin typeface="DM Sans" pitchFamily="2" charset="0"/>
              </a:rPr>
              <a:t>Remisión del convenio a la Comisión de Departamento</a:t>
            </a:r>
            <a:r>
              <a:rPr lang="es-ES" sz="1600" dirty="0">
                <a:latin typeface="DM Sans" pitchFamily="2" charset="0"/>
              </a:rPr>
              <a:t>, dentro de la segunda quincena de marzo de cada año.</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dirty="0">
                <a:latin typeface="DM Sans" pitchFamily="2" charset="0"/>
              </a:rPr>
              <a:t>Al final de cada período de precalificación, esto es, en el mes de enero de cada año, </a:t>
            </a:r>
            <a:r>
              <a:rPr lang="es-ES" sz="1600" b="1" dirty="0">
                <a:latin typeface="DM Sans" pitchFamily="2" charset="0"/>
              </a:rPr>
              <a:t>el académico hará entrega a la Comisión del Departamento o unidad equivalente de un informe sobre el trabajo realizado.</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dirty="0">
                <a:latin typeface="DM Sans" pitchFamily="2" charset="0"/>
              </a:rPr>
              <a:t>La Comisión de Departamento revisará el informe del académico y lo cotejará con su convenio de desempeño, previamente suscrito, y emitirá una precalificación en un plazo no superior a quince días hábiles, la que no será susceptible de recurso alguno, sin perjuicio de las sugerencias y observaciones que quisiera presentar el académico respectivo. Esta precalificación se efectuará dentro de los primeros quince días de marzo de cada año.</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dirty="0">
                <a:latin typeface="DM Sans" pitchFamily="2" charset="0"/>
              </a:rPr>
              <a:t>Anualmente, se suscribirá un nuevo convenio de desempeño, en el mes de marzo.</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dirty="0">
                <a:latin typeface="DM Sans" pitchFamily="2" charset="0"/>
              </a:rPr>
              <a:t>Para la elaboración de la precalificación, la Comisión de Departamento se ajustará a lo dispuesto en el artículo 6° del presente Reglamento</a:t>
            </a:r>
          </a:p>
          <a:p>
            <a:pPr marL="342900" indent="-342900">
              <a:buFont typeface="+mj-lt"/>
              <a:buAutoNum type="arabicPeriod"/>
            </a:pPr>
            <a:endParaRPr lang="es-ES" sz="1600" dirty="0">
              <a:latin typeface="DM Sans" pitchFamily="2" charset="0"/>
            </a:endParaRPr>
          </a:p>
          <a:p>
            <a:pPr marL="342900" indent="-342900">
              <a:buFont typeface="+mj-lt"/>
              <a:buAutoNum type="arabicPeriod"/>
            </a:pPr>
            <a:r>
              <a:rPr lang="es-ES" sz="1600" dirty="0">
                <a:latin typeface="DM Sans" pitchFamily="2" charset="0"/>
              </a:rPr>
              <a:t>La precalificación será remitida a la Comisión de Facultad, la que cada dos años realizará la calificación final, según lo dispone el artículo octavo de este Reglamento. La calificación deberá efectuarse a más tardar el día 31 de marzo.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053346"/>
            <a:ext cx="13042821" cy="1674495"/>
          </a:xfrm>
          <a:prstGeom prst="rect">
            <a:avLst/>
          </a:prstGeom>
          <a:noFill/>
          <a:ln/>
        </p:spPr>
        <p:txBody>
          <a:bodyPr wrap="square" lIns="0" tIns="0" rIns="0" bIns="0" rtlCol="0" anchor="t"/>
          <a:lstStyle/>
          <a:p>
            <a:pPr marL="0" indent="0" algn="l">
              <a:lnSpc>
                <a:spcPts val="4350"/>
              </a:lnSpc>
              <a:buNone/>
            </a:pPr>
            <a:r>
              <a:rPr lang="en-US" sz="350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3500" dirty="0"/>
          </a:p>
        </p:txBody>
      </p:sp>
      <p:sp>
        <p:nvSpPr>
          <p:cNvPr id="3" name="Text 1"/>
          <p:cNvSpPr/>
          <p:nvPr/>
        </p:nvSpPr>
        <p:spPr>
          <a:xfrm>
            <a:off x="793790" y="2795826"/>
            <a:ext cx="13042821" cy="893207"/>
          </a:xfrm>
          <a:prstGeom prst="rect">
            <a:avLst/>
          </a:prstGeom>
          <a:noFill/>
          <a:ln/>
        </p:spPr>
        <p:txBody>
          <a:bodyPr wrap="square" lIns="0" tIns="0" rIns="0" bIns="0" rtlCol="0" anchor="t"/>
          <a:lstStyle/>
          <a:p>
            <a:pPr marL="0" indent="0" algn="l">
              <a:lnSpc>
                <a:spcPts val="3500"/>
              </a:lnSpc>
              <a:buNone/>
            </a:pPr>
            <a:r>
              <a:rPr lang="en-US" dirty="0">
                <a:solidFill>
                  <a:srgbClr val="020202"/>
                </a:solidFill>
                <a:latin typeface="PT Serif" pitchFamily="34" charset="0"/>
                <a:ea typeface="PT Serif" pitchFamily="34" charset="-122"/>
                <a:cs typeface="PT Serif" pitchFamily="34" charset="-120"/>
              </a:rPr>
              <a:t>TÍTULO V. DEL PROCEDIMIENTO DE EVALUACIÓN Y CALIFICACIÓN DEL DESEMPEÑO</a:t>
            </a:r>
            <a:endParaRPr lang="en-US" dirty="0"/>
          </a:p>
        </p:txBody>
      </p:sp>
      <p:sp>
        <p:nvSpPr>
          <p:cNvPr id="9" name="Rectángulo 8">
            <a:extLst>
              <a:ext uri="{FF2B5EF4-FFF2-40B4-BE49-F238E27FC236}">
                <a16:creationId xmlns:a16="http://schemas.microsoft.com/office/drawing/2014/main" id="{C68432A2-4346-FAB0-D40A-CFB73D5D848A}"/>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CuadroTexto 10">
            <a:extLst>
              <a:ext uri="{FF2B5EF4-FFF2-40B4-BE49-F238E27FC236}">
                <a16:creationId xmlns:a16="http://schemas.microsoft.com/office/drawing/2014/main" id="{C927F8B0-A688-E58E-BF71-7C8F4D10B2A7}"/>
              </a:ext>
            </a:extLst>
          </p:cNvPr>
          <p:cNvSpPr txBox="1"/>
          <p:nvPr/>
        </p:nvSpPr>
        <p:spPr>
          <a:xfrm>
            <a:off x="712779" y="3689033"/>
            <a:ext cx="12839083" cy="3754874"/>
          </a:xfrm>
          <a:prstGeom prst="rect">
            <a:avLst/>
          </a:prstGeom>
          <a:noFill/>
        </p:spPr>
        <p:txBody>
          <a:bodyPr wrap="square">
            <a:spAutoFit/>
          </a:bodyPr>
          <a:lstStyle/>
          <a:p>
            <a:pPr marL="342900" indent="-342900">
              <a:buFont typeface="+mj-lt"/>
              <a:buAutoNum type="arabicPeriod" startAt="8"/>
            </a:pPr>
            <a:r>
              <a:rPr lang="es-ES" sz="1400" dirty="0">
                <a:latin typeface="DM Sans" pitchFamily="2" charset="0"/>
              </a:rPr>
              <a:t>Las calificaciones acordadas por la Comisión de Facultad podrán ser apeladas por el académico ante el Consejo de Facultad dentro de diez días hábiles, contados desde el día de su notificación. El Consejo de Facultad tendrá un plazo máximo de veinte días hábiles para resolver la apelación.</a:t>
            </a:r>
          </a:p>
          <a:p>
            <a:pPr marL="342900" indent="-342900">
              <a:buFont typeface="+mj-lt"/>
              <a:buAutoNum type="arabicPeriod" startAt="8"/>
            </a:pPr>
            <a:endParaRPr lang="es-ES" sz="1400" dirty="0">
              <a:latin typeface="DM Sans" pitchFamily="2" charset="0"/>
            </a:endParaRPr>
          </a:p>
          <a:p>
            <a:pPr marL="342900" indent="-342900">
              <a:buFont typeface="+mj-lt"/>
              <a:buAutoNum type="arabicPeriod" startAt="8"/>
            </a:pPr>
            <a:r>
              <a:rPr lang="es-ES" sz="1400" dirty="0">
                <a:latin typeface="DM Sans" pitchFamily="2" charset="0"/>
              </a:rPr>
              <a:t>El Consejo de Facultad conocerá de las apelaciones y las acogerá o rechazará, conforme a los criterios establecidos en el Reglamento Interno de cada Consejo.</a:t>
            </a:r>
          </a:p>
          <a:p>
            <a:pPr marL="342900" indent="-342900">
              <a:buFont typeface="+mj-lt"/>
              <a:buAutoNum type="arabicPeriod" startAt="8"/>
            </a:pPr>
            <a:endParaRPr lang="es-ES" sz="1400" dirty="0">
              <a:latin typeface="DM Sans" pitchFamily="2" charset="0"/>
            </a:endParaRPr>
          </a:p>
          <a:p>
            <a:pPr marL="342900" indent="-342900">
              <a:buFont typeface="+mj-lt"/>
              <a:buAutoNum type="arabicPeriod" startAt="8"/>
            </a:pPr>
            <a:r>
              <a:rPr lang="es-ES" sz="1400" dirty="0">
                <a:latin typeface="DM Sans" pitchFamily="2" charset="0"/>
              </a:rPr>
              <a:t>Existirá el recurso de revisión de la resolución de apelación emitida por el Consejo de Facultad. Se deberá interponer ante la Comisión Superior dentro del plazo de diez días hábiles contados desde la notificación respectiva.</a:t>
            </a:r>
          </a:p>
          <a:p>
            <a:pPr marL="342900" indent="-342900">
              <a:buFont typeface="+mj-lt"/>
              <a:buAutoNum type="arabicPeriod" startAt="8"/>
            </a:pPr>
            <a:endParaRPr lang="es-ES" sz="1400" dirty="0">
              <a:latin typeface="DM Sans" pitchFamily="2" charset="0"/>
            </a:endParaRPr>
          </a:p>
          <a:p>
            <a:pPr marL="342900" indent="-342900">
              <a:buFont typeface="+mj-lt"/>
              <a:buAutoNum type="arabicPeriod" startAt="8"/>
            </a:pPr>
            <a:r>
              <a:rPr lang="es-ES" sz="1400" dirty="0">
                <a:latin typeface="DM Sans" pitchFamily="2" charset="0"/>
              </a:rPr>
              <a:t>La Comisión Superior examinará las solicitudes de Revisión, debiendo resolver dentro del plazo de 20 días hábiles, contados desde la recepción del recurso.</a:t>
            </a:r>
          </a:p>
          <a:p>
            <a:pPr marL="342900" indent="-342900">
              <a:buFont typeface="+mj-lt"/>
              <a:buAutoNum type="arabicPeriod" startAt="8"/>
            </a:pPr>
            <a:endParaRPr lang="es-ES" sz="1400" dirty="0">
              <a:latin typeface="DM Sans" pitchFamily="2" charset="0"/>
            </a:endParaRPr>
          </a:p>
          <a:p>
            <a:pPr marL="342900" indent="-342900">
              <a:buFont typeface="+mj-lt"/>
              <a:buAutoNum type="arabicPeriod" startAt="8"/>
            </a:pPr>
            <a:r>
              <a:rPr lang="es-ES" sz="1400" dirty="0">
                <a:latin typeface="DM Sans" pitchFamily="2" charset="0"/>
              </a:rPr>
              <a:t>En relación a las notificaciones que se realicen durante el proceso de evaluación y calificación, éstas se efectuarán por escrito, a través de la entrega del documento respectivo en la oficina del académico. En caso que el académico se encuentre ausente de la Universidad, se practicará mediante carta certificada, dirigida al domicilio del interesado. Las notificaciones así realizadas, se entenderá que producen efectos a contar del tercer día siguiente a su recepción en la oficina de correos que corresponda. Las notificaciones podrán hacerse también de manera personal, entregando una copia de la precalificación o calificación al académico, dejando constancia del hecho.</a:t>
            </a:r>
            <a:endParaRPr lang="es-CL" sz="1400" dirty="0">
              <a:latin typeface="DM Sans"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670322"/>
            <a:ext cx="13042821" cy="1786295"/>
          </a:xfrm>
          <a:prstGeom prst="rect">
            <a:avLst/>
          </a:prstGeom>
          <a:noFill/>
          <a:ln/>
        </p:spPr>
        <p:txBody>
          <a:bodyPr wrap="squar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Resolución N°5949 de 2009 que aprueba el Reglamento de Evaluación y Calificación del Desempeño Académico y sus modificaciones</a:t>
            </a:r>
            <a:endParaRPr lang="en-US" sz="3750" dirty="0"/>
          </a:p>
        </p:txBody>
      </p:sp>
      <p:sp>
        <p:nvSpPr>
          <p:cNvPr id="3" name="Text 1"/>
          <p:cNvSpPr/>
          <p:nvPr/>
        </p:nvSpPr>
        <p:spPr>
          <a:xfrm>
            <a:off x="793790" y="2529126"/>
            <a:ext cx="13042821" cy="952738"/>
          </a:xfrm>
          <a:prstGeom prst="rect">
            <a:avLst/>
          </a:prstGeom>
          <a:noFill/>
          <a:ln/>
        </p:spPr>
        <p:txBody>
          <a:bodyPr wrap="square" lIns="0" tIns="0" rIns="0" bIns="0" rtlCol="0" anchor="t"/>
          <a:lstStyle/>
          <a:p>
            <a:pPr marL="0" indent="0" algn="l">
              <a:lnSpc>
                <a:spcPts val="3750"/>
              </a:lnSpc>
              <a:buNone/>
            </a:pPr>
            <a:r>
              <a:rPr lang="en-US" sz="3000" dirty="0">
                <a:solidFill>
                  <a:srgbClr val="020202"/>
                </a:solidFill>
                <a:latin typeface="PT Serif" pitchFamily="34" charset="0"/>
                <a:ea typeface="PT Serif" pitchFamily="34" charset="-122"/>
                <a:cs typeface="PT Serif" pitchFamily="34" charset="-120"/>
              </a:rPr>
              <a:t>TÍTULO VI. DE LA METODOLOGÍA DE EVALUACIÓN Y CALIFICACIÓN DEL DESEMPEÑO ACADÉMICO</a:t>
            </a:r>
            <a:endParaRPr lang="en-US" sz="3000" dirty="0"/>
          </a:p>
        </p:txBody>
      </p:sp>
      <p:sp>
        <p:nvSpPr>
          <p:cNvPr id="4" name="Text 2"/>
          <p:cNvSpPr/>
          <p:nvPr/>
        </p:nvSpPr>
        <p:spPr>
          <a:xfrm>
            <a:off x="793790" y="3754041"/>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Artículo 12: </a:t>
            </a:r>
            <a:r>
              <a:rPr lang="en-US" sz="1400" dirty="0">
                <a:solidFill>
                  <a:srgbClr val="383838"/>
                </a:solidFill>
                <a:latin typeface="DM Sans" pitchFamily="34" charset="0"/>
                <a:ea typeface="DM Sans" pitchFamily="34" charset="-122"/>
                <a:cs typeface="DM Sans" pitchFamily="34" charset="-120"/>
              </a:rPr>
              <a:t>La evaluación y calificación del desempeño de un académico deberá hacerse </a:t>
            </a:r>
            <a:r>
              <a:rPr lang="en-US" sz="1400" b="1" dirty="0">
                <a:solidFill>
                  <a:srgbClr val="383838"/>
                </a:solidFill>
                <a:latin typeface="DM Sans" pitchFamily="34" charset="0"/>
                <a:ea typeface="DM Sans" pitchFamily="34" charset="-122"/>
                <a:cs typeface="DM Sans" pitchFamily="34" charset="-120"/>
              </a:rPr>
              <a:t>cuantitativa y cualitativamente.</a:t>
            </a:r>
            <a:endParaRPr lang="en-US" sz="1400" dirty="0"/>
          </a:p>
        </p:txBody>
      </p:sp>
      <p:sp>
        <p:nvSpPr>
          <p:cNvPr id="5" name="Text 3"/>
          <p:cNvSpPr/>
          <p:nvPr/>
        </p:nvSpPr>
        <p:spPr>
          <a:xfrm>
            <a:off x="793790" y="4248388"/>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Artículo 13: </a:t>
            </a:r>
            <a:r>
              <a:rPr lang="en-US" sz="1400" dirty="0">
                <a:solidFill>
                  <a:srgbClr val="383838"/>
                </a:solidFill>
                <a:latin typeface="DM Sans" pitchFamily="34" charset="0"/>
                <a:ea typeface="DM Sans" pitchFamily="34" charset="-122"/>
                <a:cs typeface="DM Sans" pitchFamily="34" charset="-120"/>
              </a:rPr>
              <a:t>Los académicos serán calificados en alguna de las siguientes categorías:</a:t>
            </a:r>
            <a:endParaRPr lang="en-US" sz="1400" dirty="0"/>
          </a:p>
        </p:txBody>
      </p:sp>
      <p:sp>
        <p:nvSpPr>
          <p:cNvPr id="6" name="Text 4"/>
          <p:cNvSpPr/>
          <p:nvPr/>
        </p:nvSpPr>
        <p:spPr>
          <a:xfrm>
            <a:off x="793790" y="4742736"/>
            <a:ext cx="13042821" cy="1451372"/>
          </a:xfrm>
          <a:prstGeom prst="rect">
            <a:avLst/>
          </a:prstGeom>
          <a:noFill/>
          <a:ln/>
        </p:spPr>
        <p:txBody>
          <a:bodyPr wrap="squar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1. Sobresaliente.</a:t>
            </a:r>
            <a:endParaRPr lang="en-US" sz="1400" dirty="0"/>
          </a:p>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2. Bueno.</a:t>
            </a:r>
            <a:endParaRPr lang="en-US" sz="1400" dirty="0"/>
          </a:p>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3. Aceptable.</a:t>
            </a:r>
            <a:endParaRPr lang="en-US" sz="1400" dirty="0"/>
          </a:p>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4. Condicional.</a:t>
            </a:r>
            <a:endParaRPr lang="en-US" sz="1400" dirty="0"/>
          </a:p>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5. Insuficiente.</a:t>
            </a:r>
            <a:endParaRPr lang="en-US" sz="1400" dirty="0"/>
          </a:p>
        </p:txBody>
      </p:sp>
      <p:sp>
        <p:nvSpPr>
          <p:cNvPr id="7" name="Text 5"/>
          <p:cNvSpPr/>
          <p:nvPr/>
        </p:nvSpPr>
        <p:spPr>
          <a:xfrm>
            <a:off x="793790" y="6494481"/>
            <a:ext cx="13042821" cy="870823"/>
          </a:xfrm>
          <a:prstGeom prst="rect">
            <a:avLst/>
          </a:prstGeom>
          <a:noFill/>
          <a:ln/>
        </p:spPr>
        <p:txBody>
          <a:bodyPr wrap="square" lIns="0" tIns="0" rIns="0" bIns="0" rtlCol="0" anchor="t"/>
          <a:lstStyle/>
          <a:p>
            <a:pPr marL="0" indent="0" algn="l">
              <a:lnSpc>
                <a:spcPts val="2250"/>
              </a:lnSpc>
              <a:buNone/>
            </a:pPr>
            <a:r>
              <a:rPr lang="en-US" sz="1400" b="1" dirty="0">
                <a:solidFill>
                  <a:srgbClr val="383838"/>
                </a:solidFill>
                <a:latin typeface="DM Sans" pitchFamily="34" charset="0"/>
                <a:ea typeface="DM Sans" pitchFamily="34" charset="-122"/>
                <a:cs typeface="DM Sans" pitchFamily="34" charset="-120"/>
              </a:rPr>
              <a:t>Artículo 14</a:t>
            </a:r>
            <a:r>
              <a:rPr lang="en-US" sz="1400" dirty="0">
                <a:solidFill>
                  <a:srgbClr val="383838"/>
                </a:solidFill>
                <a:latin typeface="DM Sans" pitchFamily="34" charset="0"/>
                <a:ea typeface="DM Sans" pitchFamily="34" charset="-122"/>
                <a:cs typeface="DM Sans" pitchFamily="34" charset="-120"/>
              </a:rPr>
              <a:t>: La calificación final del académico resultará de la </a:t>
            </a:r>
            <a:r>
              <a:rPr lang="en-US" sz="1400" b="1" dirty="0">
                <a:solidFill>
                  <a:srgbClr val="383838"/>
                </a:solidFill>
                <a:latin typeface="DM Sans" pitchFamily="34" charset="0"/>
                <a:ea typeface="DM Sans" pitchFamily="34" charset="-122"/>
                <a:cs typeface="DM Sans" pitchFamily="34" charset="-120"/>
              </a:rPr>
              <a:t>suma ponderada de la calificación de cada actividad por el tiempo destinado a la misma</a:t>
            </a:r>
            <a:r>
              <a:rPr lang="en-US" sz="1400" dirty="0">
                <a:solidFill>
                  <a:srgbClr val="383838"/>
                </a:solidFill>
                <a:latin typeface="DM Sans" pitchFamily="34" charset="0"/>
                <a:ea typeface="DM Sans" pitchFamily="34" charset="-122"/>
                <a:cs typeface="DM Sans" pitchFamily="34" charset="-120"/>
              </a:rPr>
              <a:t>. El tiempo dedicado a cada actividad comprometida se expresará como porcentaje de la jornada del académico, de 44, 33, 22 y 11, según se trate la clase de jornada. Las actividades a evaluar son aquellas expresadas en el N°2.8 del artículo 2 y respecto de ellas se asigna la nota correspondiente. </a:t>
            </a:r>
            <a:endParaRPr lang="en-US" sz="1400" dirty="0"/>
          </a:p>
        </p:txBody>
      </p:sp>
      <p:sp>
        <p:nvSpPr>
          <p:cNvPr id="8" name="Rectángulo 7">
            <a:extLst>
              <a:ext uri="{FF2B5EF4-FFF2-40B4-BE49-F238E27FC236}">
                <a16:creationId xmlns:a16="http://schemas.microsoft.com/office/drawing/2014/main" id="{5AAD145B-549C-759C-FB53-FEAD7A958FAE}"/>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6" name="Google Shape;84;p13" descr="image.png">
            <a:extLst>
              <a:ext uri="{FF2B5EF4-FFF2-40B4-BE49-F238E27FC236}">
                <a16:creationId xmlns:a16="http://schemas.microsoft.com/office/drawing/2014/main" id="{904D7C95-34BF-1E39-9959-84C9DE84FBEF}"/>
              </a:ext>
            </a:extLst>
          </p:cNvPr>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 name="Text 0"/>
          <p:cNvSpPr/>
          <p:nvPr/>
        </p:nvSpPr>
        <p:spPr>
          <a:xfrm>
            <a:off x="793790" y="3159681"/>
            <a:ext cx="9970294"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Evaluación del desempeño académico</a:t>
            </a:r>
            <a:endParaRPr lang="en-US" sz="4650" dirty="0"/>
          </a:p>
        </p:txBody>
      </p:sp>
      <p:sp>
        <p:nvSpPr>
          <p:cNvPr id="3" name="Text 1"/>
          <p:cNvSpPr/>
          <p:nvPr/>
        </p:nvSpPr>
        <p:spPr>
          <a:xfrm>
            <a:off x="793790" y="3994666"/>
            <a:ext cx="797194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Recomendaciones de la literatura para mejorar la evaluación</a:t>
            </a:r>
            <a:endParaRPr lang="en-US" sz="2300" dirty="0"/>
          </a:p>
        </p:txBody>
      </p:sp>
      <p:sp>
        <p:nvSpPr>
          <p:cNvPr id="4" name="Text 2"/>
          <p:cNvSpPr/>
          <p:nvPr/>
        </p:nvSpPr>
        <p:spPr>
          <a:xfrm>
            <a:off x="793790" y="4706898"/>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5" name="Rectángulo 4">
            <a:extLst>
              <a:ext uri="{FF2B5EF4-FFF2-40B4-BE49-F238E27FC236}">
                <a16:creationId xmlns:a16="http://schemas.microsoft.com/office/drawing/2014/main" id="{66EB01DC-8B65-F3B3-2D66-445299988772}"/>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651748"/>
            <a:ext cx="8260913" cy="558165"/>
          </a:xfrm>
          <a:prstGeom prst="rect">
            <a:avLst/>
          </a:prstGeom>
          <a:noFill/>
          <a:ln/>
        </p:spPr>
        <p:txBody>
          <a:bodyPr wrap="none" lIns="0" tIns="0" rIns="0" bIns="0" rtlCol="0" anchor="t"/>
          <a:lstStyle/>
          <a:p>
            <a:pPr marL="0" indent="0" algn="l">
              <a:lnSpc>
                <a:spcPts val="4350"/>
              </a:lnSpc>
              <a:buNone/>
            </a:pPr>
            <a:r>
              <a:rPr lang="en-US" sz="3500" dirty="0">
                <a:solidFill>
                  <a:srgbClr val="020202"/>
                </a:solidFill>
                <a:latin typeface="PT Serif" pitchFamily="34" charset="0"/>
                <a:ea typeface="PT Serif" pitchFamily="34" charset="-122"/>
                <a:cs typeface="PT Serif" pitchFamily="34" charset="-120"/>
              </a:rPr>
              <a:t>Diversificación y calidad de las evidencias</a:t>
            </a:r>
            <a:endParaRPr lang="en-US" sz="3500" dirty="0"/>
          </a:p>
        </p:txBody>
      </p:sp>
      <p:sp>
        <p:nvSpPr>
          <p:cNvPr id="3" name="Shape 1"/>
          <p:cNvSpPr/>
          <p:nvPr/>
        </p:nvSpPr>
        <p:spPr>
          <a:xfrm>
            <a:off x="793790" y="1550075"/>
            <a:ext cx="6436400" cy="2030849"/>
          </a:xfrm>
          <a:prstGeom prst="roundRect">
            <a:avLst>
              <a:gd name="adj" fmla="val 1257"/>
            </a:avLst>
          </a:prstGeom>
          <a:solidFill>
            <a:srgbClr val="F2F2F2"/>
          </a:solidFill>
          <a:ln/>
        </p:spPr>
        <p:txBody>
          <a:bodyPr/>
          <a:lstStyle/>
          <a:p>
            <a:endParaRPr lang="es-CL"/>
          </a:p>
        </p:txBody>
      </p:sp>
      <p:sp>
        <p:nvSpPr>
          <p:cNvPr id="4" name="Text 2"/>
          <p:cNvSpPr/>
          <p:nvPr/>
        </p:nvSpPr>
        <p:spPr>
          <a:xfrm>
            <a:off x="963811" y="1720096"/>
            <a:ext cx="2234684" cy="278963"/>
          </a:xfrm>
          <a:prstGeom prst="rect">
            <a:avLst/>
          </a:prstGeom>
          <a:noFill/>
          <a:ln/>
        </p:spPr>
        <p:txBody>
          <a:bodyPr wrap="none" lIns="0" tIns="0" rIns="0" bIns="0" rtlCol="0" anchor="t"/>
          <a:lstStyle/>
          <a:p>
            <a:pPr marL="0" indent="0" algn="l">
              <a:lnSpc>
                <a:spcPts val="2150"/>
              </a:lnSpc>
              <a:buNone/>
            </a:pPr>
            <a:r>
              <a:rPr lang="en-US" sz="1750" dirty="0">
                <a:solidFill>
                  <a:srgbClr val="000000"/>
                </a:solidFill>
                <a:latin typeface="PT Serif" pitchFamily="34" charset="0"/>
                <a:ea typeface="PT Serif" pitchFamily="34" charset="-122"/>
                <a:cs typeface="PT Serif" pitchFamily="34" charset="-120"/>
              </a:rPr>
              <a:t>Diversificar evidencias</a:t>
            </a:r>
            <a:endParaRPr lang="en-US" sz="1750" dirty="0"/>
          </a:p>
        </p:txBody>
      </p:sp>
      <p:sp>
        <p:nvSpPr>
          <p:cNvPr id="5" name="Text 3"/>
          <p:cNvSpPr/>
          <p:nvPr/>
        </p:nvSpPr>
        <p:spPr>
          <a:xfrm>
            <a:off x="963811" y="2101096"/>
            <a:ext cx="6096357" cy="272177"/>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DM Sans" pitchFamily="34" charset="0"/>
                <a:ea typeface="DM Sans" pitchFamily="34" charset="-122"/>
                <a:cs typeface="DM Sans" pitchFamily="34" charset="-120"/>
              </a:rPr>
              <a:t>Encuestas, evaluación de pares, portafolios, resultados de aprendizaje</a:t>
            </a:r>
            <a:endParaRPr lang="en-US" sz="1300" dirty="0"/>
          </a:p>
        </p:txBody>
      </p:sp>
      <p:sp>
        <p:nvSpPr>
          <p:cNvPr id="6" name="Text 4"/>
          <p:cNvSpPr/>
          <p:nvPr/>
        </p:nvSpPr>
        <p:spPr>
          <a:xfrm>
            <a:off x="963811" y="2475309"/>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Disminuye sesgos</a:t>
            </a:r>
            <a:endParaRPr lang="en-US" sz="1300" dirty="0"/>
          </a:p>
        </p:txBody>
      </p:sp>
      <p:sp>
        <p:nvSpPr>
          <p:cNvPr id="7" name="Text 5"/>
          <p:cNvSpPr/>
          <p:nvPr/>
        </p:nvSpPr>
        <p:spPr>
          <a:xfrm>
            <a:off x="963811" y="2807018"/>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Visión integral</a:t>
            </a:r>
            <a:endParaRPr lang="en-US" sz="1300" dirty="0"/>
          </a:p>
        </p:txBody>
      </p:sp>
      <p:sp>
        <p:nvSpPr>
          <p:cNvPr id="8" name="Text 6"/>
          <p:cNvSpPr/>
          <p:nvPr/>
        </p:nvSpPr>
        <p:spPr>
          <a:xfrm>
            <a:off x="963811" y="3138726"/>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Evaluación justa</a:t>
            </a:r>
            <a:endParaRPr lang="en-US" sz="1300" dirty="0"/>
          </a:p>
        </p:txBody>
      </p:sp>
      <p:sp>
        <p:nvSpPr>
          <p:cNvPr id="9" name="Shape 7"/>
          <p:cNvSpPr/>
          <p:nvPr/>
        </p:nvSpPr>
        <p:spPr>
          <a:xfrm>
            <a:off x="7400211" y="1550075"/>
            <a:ext cx="6436400" cy="2030849"/>
          </a:xfrm>
          <a:prstGeom prst="roundRect">
            <a:avLst>
              <a:gd name="adj" fmla="val 1257"/>
            </a:avLst>
          </a:prstGeom>
          <a:solidFill>
            <a:srgbClr val="F2F2F2"/>
          </a:solidFill>
          <a:ln/>
        </p:spPr>
        <p:txBody>
          <a:bodyPr/>
          <a:lstStyle/>
          <a:p>
            <a:endParaRPr lang="es-CL"/>
          </a:p>
        </p:txBody>
      </p:sp>
      <p:sp>
        <p:nvSpPr>
          <p:cNvPr id="10" name="Text 8"/>
          <p:cNvSpPr/>
          <p:nvPr/>
        </p:nvSpPr>
        <p:spPr>
          <a:xfrm>
            <a:off x="7570232" y="1720096"/>
            <a:ext cx="2259687" cy="278963"/>
          </a:xfrm>
          <a:prstGeom prst="rect">
            <a:avLst/>
          </a:prstGeom>
          <a:noFill/>
          <a:ln/>
        </p:spPr>
        <p:txBody>
          <a:bodyPr wrap="none" lIns="0" tIns="0" rIns="0" bIns="0" rtlCol="0" anchor="t"/>
          <a:lstStyle/>
          <a:p>
            <a:pPr marL="0" indent="0" algn="l">
              <a:lnSpc>
                <a:spcPts val="2150"/>
              </a:lnSpc>
              <a:buNone/>
            </a:pPr>
            <a:r>
              <a:rPr lang="en-US" sz="1750" dirty="0">
                <a:solidFill>
                  <a:srgbClr val="000000"/>
                </a:solidFill>
                <a:latin typeface="PT Serif" pitchFamily="34" charset="0"/>
                <a:ea typeface="PT Serif" pitchFamily="34" charset="-122"/>
                <a:cs typeface="PT Serif" pitchFamily="34" charset="-120"/>
              </a:rPr>
              <a:t>Calidad sobre cantidad</a:t>
            </a:r>
            <a:endParaRPr lang="en-US" sz="1750" dirty="0"/>
          </a:p>
        </p:txBody>
      </p:sp>
      <p:sp>
        <p:nvSpPr>
          <p:cNvPr id="11" name="Text 9"/>
          <p:cNvSpPr/>
          <p:nvPr/>
        </p:nvSpPr>
        <p:spPr>
          <a:xfrm>
            <a:off x="7570232" y="2101096"/>
            <a:ext cx="6096357" cy="272177"/>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DM Sans" pitchFamily="34" charset="0"/>
                <a:ea typeface="DM Sans" pitchFamily="34" charset="-122"/>
                <a:cs typeface="DM Sans" pitchFamily="34" charset="-120"/>
              </a:rPr>
              <a:t>Valorar impacto real: revistas de alto estándar, citas, proyectos, patentes</a:t>
            </a:r>
            <a:endParaRPr lang="en-US" sz="1300" dirty="0"/>
          </a:p>
        </p:txBody>
      </p:sp>
      <p:sp>
        <p:nvSpPr>
          <p:cNvPr id="12" name="Text 10"/>
          <p:cNvSpPr/>
          <p:nvPr/>
        </p:nvSpPr>
        <p:spPr>
          <a:xfrm>
            <a:off x="7570232" y="2475309"/>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Transferencia tecnológica</a:t>
            </a:r>
            <a:endParaRPr lang="en-US" sz="1300" dirty="0"/>
          </a:p>
        </p:txBody>
      </p:sp>
      <p:sp>
        <p:nvSpPr>
          <p:cNvPr id="13" name="Text 11"/>
          <p:cNvSpPr/>
          <p:nvPr/>
        </p:nvSpPr>
        <p:spPr>
          <a:xfrm>
            <a:off x="7570232" y="2807018"/>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Impacto verificable</a:t>
            </a:r>
            <a:endParaRPr lang="en-US" sz="1300" dirty="0"/>
          </a:p>
        </p:txBody>
      </p:sp>
      <p:sp>
        <p:nvSpPr>
          <p:cNvPr id="14" name="Text 12"/>
          <p:cNvSpPr/>
          <p:nvPr/>
        </p:nvSpPr>
        <p:spPr>
          <a:xfrm>
            <a:off x="7570232" y="3138726"/>
            <a:ext cx="6096357" cy="272177"/>
          </a:xfrm>
          <a:prstGeom prst="rect">
            <a:avLst/>
          </a:prstGeom>
          <a:noFill/>
          <a:ln/>
        </p:spPr>
        <p:txBody>
          <a:bodyPr wrap="none" lIns="0" tIns="0" rIns="0" bIns="0" rtlCol="0" anchor="t"/>
          <a:lstStyle/>
          <a:p>
            <a:pPr marL="342900" indent="-342900" algn="l">
              <a:lnSpc>
                <a:spcPts val="2100"/>
              </a:lnSpc>
              <a:buSzPct val="100000"/>
              <a:buChar char="•"/>
            </a:pPr>
            <a:r>
              <a:rPr lang="en-US" sz="1300" dirty="0">
                <a:solidFill>
                  <a:srgbClr val="000000"/>
                </a:solidFill>
                <a:latin typeface="DM Sans" pitchFamily="34" charset="0"/>
                <a:ea typeface="DM Sans" pitchFamily="34" charset="-122"/>
                <a:cs typeface="DM Sans" pitchFamily="34" charset="-120"/>
              </a:rPr>
              <a:t>Resultados significativos</a:t>
            </a:r>
            <a:endParaRPr lang="en-US" sz="1300" dirty="0"/>
          </a:p>
        </p:txBody>
      </p:sp>
      <p:sp>
        <p:nvSpPr>
          <p:cNvPr id="15" name="Text 13"/>
          <p:cNvSpPr/>
          <p:nvPr/>
        </p:nvSpPr>
        <p:spPr>
          <a:xfrm>
            <a:off x="793790" y="3836075"/>
            <a:ext cx="6478310"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Instrumentos y estándares de evaluación</a:t>
            </a:r>
            <a:endParaRPr lang="en-US" sz="2800" dirty="0"/>
          </a:p>
        </p:txBody>
      </p:sp>
      <p:sp>
        <p:nvSpPr>
          <p:cNvPr id="16" name="Shape 14"/>
          <p:cNvSpPr/>
          <p:nvPr/>
        </p:nvSpPr>
        <p:spPr>
          <a:xfrm>
            <a:off x="793790" y="4537829"/>
            <a:ext cx="6436400" cy="1038939"/>
          </a:xfrm>
          <a:prstGeom prst="roundRect">
            <a:avLst>
              <a:gd name="adj" fmla="val 10562"/>
            </a:avLst>
          </a:prstGeom>
          <a:solidFill>
            <a:srgbClr val="FFFFFF"/>
          </a:solidFill>
          <a:ln w="22860">
            <a:solidFill>
              <a:srgbClr val="AFCBF8"/>
            </a:solidFill>
            <a:prstDash val="solid"/>
          </a:ln>
        </p:spPr>
        <p:txBody>
          <a:bodyPr/>
          <a:lstStyle/>
          <a:p>
            <a:endParaRPr lang="es-CL"/>
          </a:p>
        </p:txBody>
      </p:sp>
      <p:sp>
        <p:nvSpPr>
          <p:cNvPr id="17" name="Shape 15"/>
          <p:cNvSpPr/>
          <p:nvPr/>
        </p:nvSpPr>
        <p:spPr>
          <a:xfrm>
            <a:off x="770930" y="4537829"/>
            <a:ext cx="91440" cy="1038939"/>
          </a:xfrm>
          <a:prstGeom prst="roundRect">
            <a:avLst>
              <a:gd name="adj" fmla="val 27907"/>
            </a:avLst>
          </a:prstGeom>
          <a:solidFill>
            <a:srgbClr val="AFCBF8"/>
          </a:solidFill>
          <a:ln/>
        </p:spPr>
        <p:txBody>
          <a:bodyPr/>
          <a:lstStyle/>
          <a:p>
            <a:endParaRPr lang="es-CL"/>
          </a:p>
        </p:txBody>
      </p:sp>
      <p:sp>
        <p:nvSpPr>
          <p:cNvPr id="18" name="Text 16"/>
          <p:cNvSpPr/>
          <p:nvPr/>
        </p:nvSpPr>
        <p:spPr>
          <a:xfrm>
            <a:off x="1055251" y="4730710"/>
            <a:ext cx="2639020" cy="278963"/>
          </a:xfrm>
          <a:prstGeom prst="rect">
            <a:avLst/>
          </a:prstGeom>
          <a:noFill/>
          <a:ln/>
        </p:spPr>
        <p:txBody>
          <a:bodyPr wrap="none" lIns="0" tIns="0" rIns="0" bIns="0" rtlCol="0" anchor="t"/>
          <a:lstStyle/>
          <a:p>
            <a:pPr marL="0" indent="0" algn="l">
              <a:lnSpc>
                <a:spcPts val="2150"/>
              </a:lnSpc>
              <a:buNone/>
            </a:pPr>
            <a:r>
              <a:rPr lang="en-US" sz="1750" dirty="0">
                <a:solidFill>
                  <a:srgbClr val="383838"/>
                </a:solidFill>
                <a:latin typeface="PT Serif" pitchFamily="34" charset="0"/>
                <a:ea typeface="PT Serif" pitchFamily="34" charset="-122"/>
                <a:cs typeface="PT Serif" pitchFamily="34" charset="-120"/>
              </a:rPr>
              <a:t>Rúbricas y niveles de logro</a:t>
            </a:r>
            <a:endParaRPr lang="en-US" sz="1750" dirty="0"/>
          </a:p>
        </p:txBody>
      </p:sp>
      <p:sp>
        <p:nvSpPr>
          <p:cNvPr id="19" name="Text 17"/>
          <p:cNvSpPr/>
          <p:nvPr/>
        </p:nvSpPr>
        <p:spPr>
          <a:xfrm>
            <a:off x="1041916" y="5020747"/>
            <a:ext cx="5982057" cy="272177"/>
          </a:xfrm>
          <a:prstGeom prst="rect">
            <a:avLst/>
          </a:prstGeom>
          <a:noFill/>
          <a:ln/>
        </p:spPr>
        <p:txBody>
          <a:bodyPr wrap="none" lIns="0" tIns="0" rIns="0" bIns="0" rtlCol="0" anchor="t"/>
          <a:lstStyle/>
          <a:p>
            <a:pPr>
              <a:lnSpc>
                <a:spcPts val="2100"/>
              </a:lnSpc>
            </a:pPr>
            <a:r>
              <a:rPr lang="en-US" sz="1300" dirty="0" err="1">
                <a:solidFill>
                  <a:srgbClr val="383838"/>
                </a:solidFill>
                <a:latin typeface="DM Sans" pitchFamily="34" charset="0"/>
                <a:ea typeface="DM Sans" pitchFamily="34" charset="-122"/>
                <a:cs typeface="DM Sans" pitchFamily="34" charset="-120"/>
              </a:rPr>
              <a:t>Establecer</a:t>
            </a:r>
            <a:r>
              <a:rPr lang="en-US" sz="1300" dirty="0">
                <a:solidFill>
                  <a:srgbClr val="383838"/>
                </a:solidFill>
                <a:latin typeface="DM Sans" pitchFamily="34" charset="0"/>
                <a:ea typeface="DM Sans" pitchFamily="34" charset="-122"/>
                <a:cs typeface="DM Sans" pitchFamily="34" charset="-120"/>
              </a:rPr>
              <a:t> </a:t>
            </a:r>
            <a:r>
              <a:rPr lang="en-US" sz="1300" dirty="0" err="1">
                <a:solidFill>
                  <a:srgbClr val="383838"/>
                </a:solidFill>
                <a:latin typeface="DM Sans" pitchFamily="34" charset="0"/>
                <a:ea typeface="DM Sans" pitchFamily="34" charset="-122"/>
                <a:cs typeface="DM Sans" pitchFamily="34" charset="-120"/>
              </a:rPr>
              <a:t>descriptores</a:t>
            </a:r>
            <a:r>
              <a:rPr lang="en-US" sz="1300" dirty="0">
                <a:solidFill>
                  <a:srgbClr val="383838"/>
                </a:solidFill>
                <a:latin typeface="DM Sans" pitchFamily="34" charset="0"/>
                <a:ea typeface="DM Sans" pitchFamily="34" charset="-122"/>
                <a:cs typeface="DM Sans" pitchFamily="34" charset="-120"/>
              </a:rPr>
              <a:t> </a:t>
            </a:r>
            <a:r>
              <a:rPr lang="en-US" sz="1200" dirty="0">
                <a:solidFill>
                  <a:srgbClr val="383838"/>
                </a:solidFill>
                <a:latin typeface="DM Sans" pitchFamily="34" charset="0"/>
                <a:ea typeface="DM Sans" pitchFamily="34" charset="-122"/>
                <a:cs typeface="DM Sans" pitchFamily="34" charset="-120"/>
              </a:rPr>
              <a:t>claros </a:t>
            </a:r>
            <a:r>
              <a:rPr lang="es-ES" sz="1200" dirty="0">
                <a:solidFill>
                  <a:srgbClr val="383838"/>
                </a:solidFill>
                <a:latin typeface="DM Sans" pitchFamily="34" charset="0"/>
              </a:rPr>
              <a:t>para cada criterio, fundamentando los juicios en </a:t>
            </a:r>
          </a:p>
          <a:p>
            <a:pPr>
              <a:lnSpc>
                <a:spcPts val="2100"/>
              </a:lnSpc>
            </a:pPr>
            <a:r>
              <a:rPr lang="es-ES" sz="1200" dirty="0">
                <a:solidFill>
                  <a:srgbClr val="383838"/>
                </a:solidFill>
                <a:latin typeface="DM Sans" pitchFamily="34" charset="0"/>
              </a:rPr>
              <a:t>evidencias verificables</a:t>
            </a:r>
            <a:r>
              <a:rPr lang="es-ES" sz="1200" b="0" i="0" u="none" strike="noStrike" dirty="0">
                <a:solidFill>
                  <a:schemeClr val="accent6">
                    <a:lumMod val="50000"/>
                  </a:schemeClr>
                </a:solidFill>
                <a:effectLst/>
                <a:latin typeface="Aptos" panose="020B0004020202020204" pitchFamily="34" charset="0"/>
              </a:rPr>
              <a:t>.</a:t>
            </a:r>
            <a:endParaRPr lang="en-US" sz="1300" dirty="0"/>
          </a:p>
        </p:txBody>
      </p:sp>
      <p:sp>
        <p:nvSpPr>
          <p:cNvPr id="20" name="Shape 18"/>
          <p:cNvSpPr/>
          <p:nvPr/>
        </p:nvSpPr>
        <p:spPr>
          <a:xfrm>
            <a:off x="7400211" y="4537830"/>
            <a:ext cx="6436400" cy="1032986"/>
          </a:xfrm>
          <a:prstGeom prst="roundRect">
            <a:avLst>
              <a:gd name="adj" fmla="val 10562"/>
            </a:avLst>
          </a:prstGeom>
          <a:solidFill>
            <a:srgbClr val="FFFFFF"/>
          </a:solidFill>
          <a:ln w="22860">
            <a:solidFill>
              <a:srgbClr val="AFCBF8"/>
            </a:solidFill>
            <a:prstDash val="solid"/>
          </a:ln>
        </p:spPr>
        <p:txBody>
          <a:bodyPr/>
          <a:lstStyle/>
          <a:p>
            <a:endParaRPr lang="es-CL"/>
          </a:p>
        </p:txBody>
      </p:sp>
      <p:sp>
        <p:nvSpPr>
          <p:cNvPr id="21" name="Shape 19"/>
          <p:cNvSpPr/>
          <p:nvPr/>
        </p:nvSpPr>
        <p:spPr>
          <a:xfrm>
            <a:off x="7377351" y="4537829"/>
            <a:ext cx="91440" cy="1038939"/>
          </a:xfrm>
          <a:prstGeom prst="roundRect">
            <a:avLst>
              <a:gd name="adj" fmla="val 27907"/>
            </a:avLst>
          </a:prstGeom>
          <a:solidFill>
            <a:srgbClr val="AFCBF8"/>
          </a:solidFill>
          <a:ln/>
        </p:spPr>
        <p:txBody>
          <a:bodyPr/>
          <a:lstStyle/>
          <a:p>
            <a:endParaRPr lang="es-CL"/>
          </a:p>
        </p:txBody>
      </p:sp>
      <p:sp>
        <p:nvSpPr>
          <p:cNvPr id="22" name="Text 20"/>
          <p:cNvSpPr/>
          <p:nvPr/>
        </p:nvSpPr>
        <p:spPr>
          <a:xfrm>
            <a:off x="7661672" y="4681027"/>
            <a:ext cx="2232779" cy="278963"/>
          </a:xfrm>
          <a:prstGeom prst="rect">
            <a:avLst/>
          </a:prstGeom>
          <a:noFill/>
          <a:ln/>
        </p:spPr>
        <p:txBody>
          <a:bodyPr wrap="none" lIns="0" tIns="0" rIns="0" bIns="0" rtlCol="0" anchor="t"/>
          <a:lstStyle/>
          <a:p>
            <a:pPr marL="0" indent="0" algn="l">
              <a:lnSpc>
                <a:spcPts val="2150"/>
              </a:lnSpc>
              <a:buNone/>
            </a:pPr>
            <a:r>
              <a:rPr lang="en-US" sz="1750" dirty="0" err="1">
                <a:solidFill>
                  <a:srgbClr val="383838"/>
                </a:solidFill>
                <a:latin typeface="PT Serif" pitchFamily="34" charset="0"/>
                <a:ea typeface="PT Serif" pitchFamily="34" charset="-122"/>
                <a:cs typeface="PT Serif" pitchFamily="34" charset="-120"/>
              </a:rPr>
              <a:t>Portafolios</a:t>
            </a:r>
            <a:r>
              <a:rPr lang="en-US" sz="1750" dirty="0">
                <a:solidFill>
                  <a:srgbClr val="383838"/>
                </a:solidFill>
                <a:latin typeface="PT Serif" pitchFamily="34" charset="0"/>
                <a:ea typeface="PT Serif" pitchFamily="34" charset="-122"/>
                <a:cs typeface="PT Serif" pitchFamily="34" charset="-120"/>
              </a:rPr>
              <a:t> </a:t>
            </a:r>
            <a:r>
              <a:rPr lang="en-US" sz="1750" dirty="0" err="1">
                <a:solidFill>
                  <a:srgbClr val="383838"/>
                </a:solidFill>
                <a:latin typeface="PT Serif" pitchFamily="34" charset="0"/>
                <a:ea typeface="PT Serif" pitchFamily="34" charset="-122"/>
                <a:cs typeface="PT Serif" pitchFamily="34" charset="-120"/>
              </a:rPr>
              <a:t>digitales</a:t>
            </a:r>
            <a:r>
              <a:rPr lang="en-US" sz="1750" dirty="0">
                <a:solidFill>
                  <a:srgbClr val="383838"/>
                </a:solidFill>
                <a:latin typeface="PT Serif" pitchFamily="34" charset="0"/>
                <a:ea typeface="PT Serif" pitchFamily="34" charset="-122"/>
                <a:cs typeface="PT Serif" pitchFamily="34" charset="-120"/>
              </a:rPr>
              <a:t> </a:t>
            </a:r>
            <a:r>
              <a:rPr lang="en-US" sz="1750" dirty="0" err="1">
                <a:solidFill>
                  <a:srgbClr val="383838"/>
                </a:solidFill>
                <a:latin typeface="PT Serif" pitchFamily="34" charset="0"/>
                <a:ea typeface="PT Serif" pitchFamily="34" charset="-122"/>
                <a:cs typeface="PT Serif" pitchFamily="34" charset="-120"/>
              </a:rPr>
              <a:t>estructurados</a:t>
            </a:r>
            <a:endParaRPr lang="en-US" sz="1750" dirty="0"/>
          </a:p>
        </p:txBody>
      </p:sp>
      <p:sp>
        <p:nvSpPr>
          <p:cNvPr id="23" name="Text 21"/>
          <p:cNvSpPr/>
          <p:nvPr/>
        </p:nvSpPr>
        <p:spPr>
          <a:xfrm>
            <a:off x="7661672" y="5066464"/>
            <a:ext cx="5982057" cy="272177"/>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Plataformas para registrar logros, facilitar trazabilidad y </a:t>
            </a:r>
            <a:r>
              <a:rPr lang="en-US" sz="1300" dirty="0" err="1">
                <a:solidFill>
                  <a:srgbClr val="383838"/>
                </a:solidFill>
                <a:latin typeface="DM Sans" pitchFamily="34" charset="0"/>
                <a:ea typeface="DM Sans" pitchFamily="34" charset="-122"/>
                <a:cs typeface="DM Sans" pitchFamily="34" charset="-120"/>
              </a:rPr>
              <a:t>autoevaluación</a:t>
            </a:r>
            <a:r>
              <a:rPr lang="en-US" sz="1300" dirty="0">
                <a:solidFill>
                  <a:srgbClr val="383838"/>
                </a:solidFill>
                <a:latin typeface="DM Sans" pitchFamily="34" charset="0"/>
                <a:ea typeface="DM Sans" pitchFamily="34" charset="-122"/>
                <a:cs typeface="DM Sans" pitchFamily="34" charset="-120"/>
              </a:rPr>
              <a:t>.</a:t>
            </a:r>
            <a:r>
              <a:rPr lang="es-ES" sz="1300" dirty="0">
                <a:solidFill>
                  <a:srgbClr val="383838"/>
                </a:solidFill>
                <a:latin typeface="DM Sans" pitchFamily="34" charset="0"/>
                <a:ea typeface="DM Sans" pitchFamily="34" charset="-122"/>
                <a:cs typeface="DM Sans" pitchFamily="34" charset="-120"/>
              </a:rPr>
              <a:t> </a:t>
            </a:r>
          </a:p>
          <a:p>
            <a:pPr marL="0" indent="0" algn="l">
              <a:lnSpc>
                <a:spcPts val="2100"/>
              </a:lnSpc>
              <a:buNone/>
            </a:pPr>
            <a:r>
              <a:rPr lang="es-ES" sz="1300" dirty="0">
                <a:solidFill>
                  <a:srgbClr val="383838"/>
                </a:solidFill>
                <a:latin typeface="DM Sans" pitchFamily="34" charset="0"/>
                <a:ea typeface="DM Sans" pitchFamily="34" charset="-122"/>
                <a:cs typeface="DM Sans" pitchFamily="34" charset="-120"/>
              </a:rPr>
              <a:t>Estandarizar procesos y reducir carga administrativa</a:t>
            </a:r>
            <a:r>
              <a:rPr lang="en-US" sz="1300" dirty="0">
                <a:solidFill>
                  <a:srgbClr val="383838"/>
                </a:solidFill>
                <a:latin typeface="DM Sans" pitchFamily="34" charset="0"/>
                <a:ea typeface="DM Sans" pitchFamily="34" charset="-122"/>
                <a:cs typeface="DM Sans" pitchFamily="34" charset="-120"/>
              </a:rPr>
              <a:t> </a:t>
            </a:r>
            <a:endParaRPr lang="en-US" sz="1300" dirty="0"/>
          </a:p>
        </p:txBody>
      </p:sp>
      <p:sp>
        <p:nvSpPr>
          <p:cNvPr id="24" name="Text 22"/>
          <p:cNvSpPr/>
          <p:nvPr/>
        </p:nvSpPr>
        <p:spPr>
          <a:xfrm>
            <a:off x="793790" y="5831919"/>
            <a:ext cx="6346865" cy="446603"/>
          </a:xfrm>
          <a:prstGeom prst="rect">
            <a:avLst/>
          </a:prstGeom>
          <a:noFill/>
          <a:ln/>
        </p:spPr>
        <p:txBody>
          <a:bodyPr wrap="none" lIns="0" tIns="0" rIns="0" bIns="0" rtlCol="0" anchor="t"/>
          <a:lstStyle/>
          <a:p>
            <a:pPr marL="0" indent="0" algn="l">
              <a:lnSpc>
                <a:spcPts val="3500"/>
              </a:lnSpc>
              <a:buNone/>
            </a:pPr>
            <a:r>
              <a:rPr lang="en-US" sz="2800" dirty="0">
                <a:solidFill>
                  <a:srgbClr val="020202"/>
                </a:solidFill>
                <a:latin typeface="PT Serif" pitchFamily="34" charset="0"/>
                <a:ea typeface="PT Serif" pitchFamily="34" charset="-122"/>
                <a:cs typeface="PT Serif" pitchFamily="34" charset="-120"/>
              </a:rPr>
              <a:t>Calibración, legitimidad y transparencia</a:t>
            </a:r>
            <a:endParaRPr lang="en-US" sz="2800" dirty="0"/>
          </a:p>
        </p:txBody>
      </p:sp>
      <p:sp>
        <p:nvSpPr>
          <p:cNvPr id="25" name="Text 23"/>
          <p:cNvSpPr/>
          <p:nvPr/>
        </p:nvSpPr>
        <p:spPr>
          <a:xfrm>
            <a:off x="793790" y="6703695"/>
            <a:ext cx="3124795" cy="278963"/>
          </a:xfrm>
          <a:prstGeom prst="rect">
            <a:avLst/>
          </a:prstGeom>
          <a:noFill/>
          <a:ln/>
        </p:spPr>
        <p:txBody>
          <a:bodyPr wrap="none" lIns="0" tIns="0" rIns="0" bIns="0" rtlCol="0" anchor="t"/>
          <a:lstStyle/>
          <a:p>
            <a:pPr marL="0" indent="0" algn="l">
              <a:lnSpc>
                <a:spcPts val="2150"/>
              </a:lnSpc>
              <a:buNone/>
            </a:pPr>
            <a:r>
              <a:rPr lang="en-US" sz="1750" dirty="0">
                <a:solidFill>
                  <a:srgbClr val="020202"/>
                </a:solidFill>
                <a:latin typeface="PT Serif" pitchFamily="34" charset="0"/>
                <a:ea typeface="PT Serif" pitchFamily="34" charset="-122"/>
                <a:cs typeface="PT Serif" pitchFamily="34" charset="-120"/>
              </a:rPr>
              <a:t>Calibrar y revisar externamente</a:t>
            </a:r>
            <a:endParaRPr lang="en-US" sz="1750" dirty="0"/>
          </a:p>
        </p:txBody>
      </p:sp>
      <p:sp>
        <p:nvSpPr>
          <p:cNvPr id="26" name="Text 24"/>
          <p:cNvSpPr/>
          <p:nvPr/>
        </p:nvSpPr>
        <p:spPr>
          <a:xfrm>
            <a:off x="793790" y="7152680"/>
            <a:ext cx="6313884" cy="272177"/>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Sesiones de calibración, evaluadores externos, y </a:t>
            </a:r>
            <a:r>
              <a:rPr lang="en-US" sz="1300" dirty="0" err="1">
                <a:solidFill>
                  <a:srgbClr val="383838"/>
                </a:solidFill>
                <a:latin typeface="DM Sans" pitchFamily="34" charset="0"/>
                <a:ea typeface="DM Sans" pitchFamily="34" charset="-122"/>
                <a:cs typeface="DM Sans" pitchFamily="34" charset="-120"/>
              </a:rPr>
              <a:t>expertos</a:t>
            </a:r>
            <a:endParaRPr lang="en-US" sz="1300" dirty="0"/>
          </a:p>
        </p:txBody>
      </p:sp>
      <p:sp>
        <p:nvSpPr>
          <p:cNvPr id="27" name="Text 25"/>
          <p:cNvSpPr/>
          <p:nvPr/>
        </p:nvSpPr>
        <p:spPr>
          <a:xfrm>
            <a:off x="7530346" y="6703695"/>
            <a:ext cx="3012877" cy="278963"/>
          </a:xfrm>
          <a:prstGeom prst="rect">
            <a:avLst/>
          </a:prstGeom>
          <a:noFill/>
          <a:ln/>
        </p:spPr>
        <p:txBody>
          <a:bodyPr wrap="none" lIns="0" tIns="0" rIns="0" bIns="0" rtlCol="0" anchor="t"/>
          <a:lstStyle/>
          <a:p>
            <a:pPr marL="0" indent="0" algn="l">
              <a:lnSpc>
                <a:spcPts val="2150"/>
              </a:lnSpc>
              <a:buNone/>
            </a:pPr>
            <a:r>
              <a:rPr lang="en-US" sz="1750" dirty="0">
                <a:solidFill>
                  <a:srgbClr val="020202"/>
                </a:solidFill>
                <a:latin typeface="PT Serif" pitchFamily="34" charset="0"/>
                <a:ea typeface="PT Serif" pitchFamily="34" charset="-122"/>
                <a:cs typeface="PT Serif" pitchFamily="34" charset="-120"/>
              </a:rPr>
              <a:t>Comisiones interdisciplinarias</a:t>
            </a:r>
            <a:endParaRPr lang="en-US" sz="1750" dirty="0"/>
          </a:p>
        </p:txBody>
      </p:sp>
      <p:sp>
        <p:nvSpPr>
          <p:cNvPr id="28" name="Text 26"/>
          <p:cNvSpPr/>
          <p:nvPr/>
        </p:nvSpPr>
        <p:spPr>
          <a:xfrm>
            <a:off x="7530346" y="7152680"/>
            <a:ext cx="6313884" cy="272177"/>
          </a:xfrm>
          <a:prstGeom prst="rect">
            <a:avLst/>
          </a:prstGeom>
          <a:noFill/>
          <a:ln/>
        </p:spPr>
        <p:txBody>
          <a:bodyPr wrap="none" lIns="0" tIns="0" rIns="0" bIns="0" rtlCol="0" anchor="t"/>
          <a:lstStyle/>
          <a:p>
            <a:pPr marL="0" indent="0" algn="l">
              <a:lnSpc>
                <a:spcPts val="2100"/>
              </a:lnSpc>
              <a:buNone/>
            </a:pPr>
            <a:r>
              <a:rPr lang="en-US" sz="1300" dirty="0">
                <a:solidFill>
                  <a:srgbClr val="383838"/>
                </a:solidFill>
                <a:latin typeface="DM Sans" pitchFamily="34" charset="0"/>
                <a:ea typeface="DM Sans" pitchFamily="34" charset="-122"/>
                <a:cs typeface="DM Sans" pitchFamily="34" charset="-120"/>
              </a:rPr>
              <a:t>Miembros de diversas áreas, pluralidad de miradas, reducción de sesgos</a:t>
            </a:r>
            <a:endParaRPr lang="en-US" sz="1300" dirty="0"/>
          </a:p>
        </p:txBody>
      </p:sp>
      <p:sp>
        <p:nvSpPr>
          <p:cNvPr id="29" name="Rectángulo 28">
            <a:extLst>
              <a:ext uri="{FF2B5EF4-FFF2-40B4-BE49-F238E27FC236}">
                <a16:creationId xmlns:a16="http://schemas.microsoft.com/office/drawing/2014/main" id="{DC25C56C-0F83-39F7-4859-E0DE07960AD4}"/>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983099"/>
            <a:ext cx="10117931"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Desarrollo y motivación del personal académico</a:t>
            </a:r>
            <a:endParaRPr lang="en-US" sz="37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2032159"/>
            <a:ext cx="566976" cy="566976"/>
          </a:xfrm>
          <a:prstGeom prst="rect">
            <a:avLst/>
          </a:prstGeom>
        </p:spPr>
      </p:pic>
      <p:sp>
        <p:nvSpPr>
          <p:cNvPr id="4" name="Text 1"/>
          <p:cNvSpPr/>
          <p:nvPr/>
        </p:nvSpPr>
        <p:spPr>
          <a:xfrm>
            <a:off x="793790" y="288262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Evaluaciones 360°</a:t>
            </a:r>
            <a:endParaRPr lang="en-US" sz="2300" dirty="0"/>
          </a:p>
        </p:txBody>
      </p:sp>
      <p:sp>
        <p:nvSpPr>
          <p:cNvPr id="5" name="Text 2"/>
          <p:cNvSpPr/>
          <p:nvPr/>
        </p:nvSpPr>
        <p:spPr>
          <a:xfrm>
            <a:off x="793790" y="3390781"/>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Retroalimentación de superiores, pares, estudiantes y colaboradores orientada al desarrollo</a:t>
            </a:r>
            <a:endParaRPr lang="en-US" sz="17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5893" y="2032159"/>
            <a:ext cx="566976" cy="566976"/>
          </a:xfrm>
          <a:prstGeom prst="rect">
            <a:avLst/>
          </a:prstGeom>
        </p:spPr>
      </p:pic>
      <p:sp>
        <p:nvSpPr>
          <p:cNvPr id="7" name="Text 3"/>
          <p:cNvSpPr/>
          <p:nvPr/>
        </p:nvSpPr>
        <p:spPr>
          <a:xfrm>
            <a:off x="5235893" y="2882622"/>
            <a:ext cx="2997994"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Sistemas de incentivos</a:t>
            </a:r>
            <a:endParaRPr lang="en-US" sz="2300" dirty="0"/>
          </a:p>
        </p:txBody>
      </p:sp>
      <p:sp>
        <p:nvSpPr>
          <p:cNvPr id="8" name="Text 4"/>
          <p:cNvSpPr/>
          <p:nvPr/>
        </p:nvSpPr>
        <p:spPr>
          <a:xfrm>
            <a:off x="5235893" y="3390781"/>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Beneficios: reducción de carga, formación, mentorías vinculadas a oportunidades reales</a:t>
            </a:r>
            <a:endParaRPr lang="en-US" sz="17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7995" y="2032159"/>
            <a:ext cx="566976" cy="566976"/>
          </a:xfrm>
          <a:prstGeom prst="rect">
            <a:avLst/>
          </a:prstGeom>
        </p:spPr>
      </p:pic>
      <p:sp>
        <p:nvSpPr>
          <p:cNvPr id="10" name="Text 5"/>
          <p:cNvSpPr/>
          <p:nvPr/>
        </p:nvSpPr>
        <p:spPr>
          <a:xfrm>
            <a:off x="9677995" y="2882622"/>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Carácter formativo</a:t>
            </a:r>
            <a:endParaRPr lang="en-US" sz="2300" dirty="0"/>
          </a:p>
        </p:txBody>
      </p:sp>
      <p:sp>
        <p:nvSpPr>
          <p:cNvPr id="11" name="Text 6"/>
          <p:cNvSpPr/>
          <p:nvPr/>
        </p:nvSpPr>
        <p:spPr>
          <a:xfrm>
            <a:off x="9677995" y="3390781"/>
            <a:ext cx="415861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Retroalimentación cualitativa y planes personalizados de mejora continua</a:t>
            </a:r>
            <a:endParaRPr lang="en-US" sz="1750" dirty="0"/>
          </a:p>
        </p:txBody>
      </p:sp>
      <p:sp>
        <p:nvSpPr>
          <p:cNvPr id="12" name="Text 7"/>
          <p:cNvSpPr/>
          <p:nvPr/>
        </p:nvSpPr>
        <p:spPr>
          <a:xfrm>
            <a:off x="793790" y="4819650"/>
            <a:ext cx="6320314"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Innovación y mejora continua</a:t>
            </a:r>
            <a:endParaRPr lang="en-US" sz="3750" dirty="0"/>
          </a:p>
        </p:txBody>
      </p:sp>
      <p:sp>
        <p:nvSpPr>
          <p:cNvPr id="13" name="Text 8"/>
          <p:cNvSpPr/>
          <p:nvPr/>
        </p:nvSpPr>
        <p:spPr>
          <a:xfrm>
            <a:off x="1133951" y="6010394"/>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Valorar la progresión respecto a una línea base y reconocer la experimentación pedagógica o investigativa</a:t>
            </a:r>
            <a:endParaRPr lang="en-US" sz="1750" dirty="0"/>
          </a:p>
        </p:txBody>
      </p:sp>
      <p:sp>
        <p:nvSpPr>
          <p:cNvPr id="14" name="Shape 9"/>
          <p:cNvSpPr/>
          <p:nvPr/>
        </p:nvSpPr>
        <p:spPr>
          <a:xfrm>
            <a:off x="793790" y="5755243"/>
            <a:ext cx="30480" cy="873204"/>
          </a:xfrm>
          <a:prstGeom prst="rect">
            <a:avLst/>
          </a:prstGeom>
          <a:solidFill>
            <a:srgbClr val="E04F00"/>
          </a:solidFill>
          <a:ln/>
        </p:spPr>
        <p:txBody>
          <a:bodyPr/>
          <a:lstStyle/>
          <a:p>
            <a:endParaRPr lang="es-CL"/>
          </a:p>
        </p:txBody>
      </p:sp>
      <p:sp>
        <p:nvSpPr>
          <p:cNvPr id="15" name="Text 10"/>
          <p:cNvSpPr/>
          <p:nvPr/>
        </p:nvSpPr>
        <p:spPr>
          <a:xfrm>
            <a:off x="793790" y="688359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Incentivar la innovación y el aprendizaje institucional sostenido</a:t>
            </a:r>
            <a:endParaRPr lang="en-US" sz="1750" dirty="0"/>
          </a:p>
        </p:txBody>
      </p:sp>
      <p:sp>
        <p:nvSpPr>
          <p:cNvPr id="16" name="Rectángulo 15">
            <a:extLst>
              <a:ext uri="{FF2B5EF4-FFF2-40B4-BE49-F238E27FC236}">
                <a16:creationId xmlns:a16="http://schemas.microsoft.com/office/drawing/2014/main" id="{01CB1658-780A-25D7-6082-6B434F3037A0}"/>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785337" y="1125975"/>
            <a:ext cx="1184910" cy="426244"/>
          </a:xfrm>
          <a:prstGeom prst="roundRect">
            <a:avLst>
              <a:gd name="adj" fmla="val 6386"/>
            </a:avLst>
          </a:prstGeom>
          <a:solidFill>
            <a:srgbClr val="FFDECC"/>
          </a:solidFill>
          <a:ln/>
        </p:spPr>
        <p:txBody>
          <a:bodyPr/>
          <a:lstStyle/>
          <a:p>
            <a:endParaRPr lang="es-CL"/>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1425" y="1248371"/>
            <a:ext cx="181451" cy="181451"/>
          </a:xfrm>
          <a:prstGeom prst="rect">
            <a:avLst/>
          </a:prstGeom>
        </p:spPr>
      </p:pic>
      <p:sp>
        <p:nvSpPr>
          <p:cNvPr id="4" name="Text 1"/>
          <p:cNvSpPr/>
          <p:nvPr/>
        </p:nvSpPr>
        <p:spPr>
          <a:xfrm>
            <a:off x="1193602" y="1193959"/>
            <a:ext cx="640556"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DISEÑO</a:t>
            </a:r>
            <a:endParaRPr lang="en-US" sz="1400" dirty="0"/>
          </a:p>
        </p:txBody>
      </p:sp>
      <p:sp>
        <p:nvSpPr>
          <p:cNvPr id="5" name="Text 2"/>
          <p:cNvSpPr/>
          <p:nvPr/>
        </p:nvSpPr>
        <p:spPr>
          <a:xfrm>
            <a:off x="744081" y="1510785"/>
            <a:ext cx="12915305" cy="744260"/>
          </a:xfrm>
          <a:prstGeom prst="rect">
            <a:avLst/>
          </a:prstGeom>
          <a:noFill/>
          <a:ln/>
        </p:spPr>
        <p:txBody>
          <a:bodyPr wrap="none" lIns="0" tIns="0" rIns="0" bIns="0" rtlCol="0" anchor="t"/>
          <a:lstStyle/>
          <a:p>
            <a:pPr marL="0" indent="0" algn="l">
              <a:lnSpc>
                <a:spcPts val="5850"/>
              </a:lnSpc>
              <a:buNone/>
            </a:pPr>
            <a:r>
              <a:rPr lang="en-US" sz="2800" dirty="0">
                <a:solidFill>
                  <a:srgbClr val="020202"/>
                </a:solidFill>
                <a:latin typeface="PT Serif" pitchFamily="34" charset="0"/>
                <a:ea typeface="PT Serif" pitchFamily="34" charset="-122"/>
                <a:cs typeface="PT Serif" pitchFamily="34" charset="-120"/>
              </a:rPr>
              <a:t>Diseño de modelos e instrumentos de evaluación</a:t>
            </a:r>
            <a:endParaRPr lang="en-US" sz="2800" dirty="0"/>
          </a:p>
        </p:txBody>
      </p:sp>
      <p:sp>
        <p:nvSpPr>
          <p:cNvPr id="6" name="Shape 3"/>
          <p:cNvSpPr/>
          <p:nvPr/>
        </p:nvSpPr>
        <p:spPr>
          <a:xfrm>
            <a:off x="744081" y="2327650"/>
            <a:ext cx="6407944" cy="2464557"/>
          </a:xfrm>
          <a:prstGeom prst="roundRect">
            <a:avLst>
              <a:gd name="adj" fmla="val 1311"/>
            </a:avLst>
          </a:prstGeom>
          <a:solidFill>
            <a:srgbClr val="F2EEEE"/>
          </a:solidFill>
          <a:ln/>
        </p:spPr>
        <p:txBody>
          <a:bodyPr/>
          <a:lstStyle/>
          <a:p>
            <a:endParaRPr lang="es-CL"/>
          </a:p>
        </p:txBody>
      </p:sp>
      <p:sp>
        <p:nvSpPr>
          <p:cNvPr id="7" name="Shape 4"/>
          <p:cNvSpPr/>
          <p:nvPr/>
        </p:nvSpPr>
        <p:spPr>
          <a:xfrm>
            <a:off x="970895" y="2554464"/>
            <a:ext cx="680442" cy="680442"/>
          </a:xfrm>
          <a:prstGeom prst="roundRect">
            <a:avLst>
              <a:gd name="adj" fmla="val 13436980"/>
            </a:avLst>
          </a:prstGeom>
          <a:solidFill>
            <a:srgbClr val="AFCBF8"/>
          </a:solidFill>
          <a:ln/>
        </p:spPr>
        <p:txBody>
          <a:bodyPr/>
          <a:lstStyle/>
          <a:p>
            <a:endParaRPr lang="es-CL"/>
          </a:p>
        </p:txBody>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58061" y="2741512"/>
            <a:ext cx="306110" cy="306110"/>
          </a:xfrm>
          <a:prstGeom prst="rect">
            <a:avLst/>
          </a:prstGeom>
        </p:spPr>
      </p:pic>
      <p:sp>
        <p:nvSpPr>
          <p:cNvPr id="9" name="Text 5"/>
          <p:cNvSpPr/>
          <p:nvPr/>
        </p:nvSpPr>
        <p:spPr>
          <a:xfrm>
            <a:off x="970895" y="3461721"/>
            <a:ext cx="382547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Modelos multidimensionales</a:t>
            </a:r>
            <a:endParaRPr lang="en-US" sz="2300" dirty="0"/>
          </a:p>
        </p:txBody>
      </p:sp>
      <p:sp>
        <p:nvSpPr>
          <p:cNvPr id="10" name="Text 6"/>
          <p:cNvSpPr/>
          <p:nvPr/>
        </p:nvSpPr>
        <p:spPr>
          <a:xfrm>
            <a:off x="970895" y="3969879"/>
            <a:ext cx="5954316"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Combinar múltiples fuentes: encuestas, observaciones, portafolios, resultados de aprendizaje y autoevaluación</a:t>
            </a:r>
            <a:endParaRPr lang="en-US" sz="1750" dirty="0"/>
          </a:p>
        </p:txBody>
      </p:sp>
      <p:sp>
        <p:nvSpPr>
          <p:cNvPr id="11" name="Shape 7"/>
          <p:cNvSpPr/>
          <p:nvPr/>
        </p:nvSpPr>
        <p:spPr>
          <a:xfrm>
            <a:off x="7378839" y="2327650"/>
            <a:ext cx="6408063" cy="2464557"/>
          </a:xfrm>
          <a:prstGeom prst="roundRect">
            <a:avLst>
              <a:gd name="adj" fmla="val 1311"/>
            </a:avLst>
          </a:prstGeom>
          <a:solidFill>
            <a:srgbClr val="F2EEEE"/>
          </a:solidFill>
          <a:ln/>
        </p:spPr>
        <p:txBody>
          <a:bodyPr/>
          <a:lstStyle/>
          <a:p>
            <a:endParaRPr lang="es-CL"/>
          </a:p>
        </p:txBody>
      </p:sp>
      <p:sp>
        <p:nvSpPr>
          <p:cNvPr id="12" name="Shape 8"/>
          <p:cNvSpPr/>
          <p:nvPr/>
        </p:nvSpPr>
        <p:spPr>
          <a:xfrm>
            <a:off x="7605653" y="2554464"/>
            <a:ext cx="680442" cy="680442"/>
          </a:xfrm>
          <a:prstGeom prst="roundRect">
            <a:avLst>
              <a:gd name="adj" fmla="val 13436980"/>
            </a:avLst>
          </a:prstGeom>
          <a:solidFill>
            <a:srgbClr val="AFCBF8"/>
          </a:solidFill>
          <a:ln/>
        </p:spPr>
        <p:txBody>
          <a:bodyPr/>
          <a:lstStyle/>
          <a:p>
            <a:endParaRPr lang="es-CL"/>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92819" y="2741512"/>
            <a:ext cx="306110" cy="306110"/>
          </a:xfrm>
          <a:prstGeom prst="rect">
            <a:avLst/>
          </a:prstGeom>
        </p:spPr>
      </p:pic>
      <p:sp>
        <p:nvSpPr>
          <p:cNvPr id="14" name="Text 9"/>
          <p:cNvSpPr/>
          <p:nvPr/>
        </p:nvSpPr>
        <p:spPr>
          <a:xfrm>
            <a:off x="7605653" y="3461721"/>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Constructos claros</a:t>
            </a:r>
            <a:endParaRPr lang="en-US" sz="2300" dirty="0"/>
          </a:p>
        </p:txBody>
      </p:sp>
      <p:sp>
        <p:nvSpPr>
          <p:cNvPr id="15" name="Text 10"/>
          <p:cNvSpPr/>
          <p:nvPr/>
        </p:nvSpPr>
        <p:spPr>
          <a:xfrm>
            <a:off x="7605653" y="3969879"/>
            <a:ext cx="595443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Sustentar instrumentos en marcos teóricos que alineen competencias, enfoques pedagógicos y criterios</a:t>
            </a:r>
            <a:endParaRPr lang="en-US" sz="1750" dirty="0"/>
          </a:p>
        </p:txBody>
      </p:sp>
      <p:sp>
        <p:nvSpPr>
          <p:cNvPr id="16" name="Shape 11"/>
          <p:cNvSpPr/>
          <p:nvPr/>
        </p:nvSpPr>
        <p:spPr>
          <a:xfrm>
            <a:off x="8736605" y="1447067"/>
            <a:ext cx="5050297" cy="834529"/>
          </a:xfrm>
          <a:prstGeom prst="roundRect">
            <a:avLst>
              <a:gd name="adj" fmla="val 3530"/>
            </a:avLst>
          </a:prstGeom>
          <a:solidFill>
            <a:srgbClr val="FFCDB3"/>
          </a:solidFill>
          <a:ln/>
        </p:spPr>
        <p:txBody>
          <a:bodyPr/>
          <a:lstStyle/>
          <a:p>
            <a:endParaRPr lang="es-CL"/>
          </a:p>
        </p:txBody>
      </p:sp>
      <p:sp>
        <p:nvSpPr>
          <p:cNvPr id="19" name="Rectángulo 18">
            <a:extLst>
              <a:ext uri="{FF2B5EF4-FFF2-40B4-BE49-F238E27FC236}">
                <a16:creationId xmlns:a16="http://schemas.microsoft.com/office/drawing/2014/main" id="{E17F3375-DA2B-28F6-4711-678E951ADBEF}"/>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Text 0">
            <a:extLst>
              <a:ext uri="{FF2B5EF4-FFF2-40B4-BE49-F238E27FC236}">
                <a16:creationId xmlns:a16="http://schemas.microsoft.com/office/drawing/2014/main" id="{C00EDC53-E507-E1BE-BA18-2A0265699161}"/>
              </a:ext>
            </a:extLst>
          </p:cNvPr>
          <p:cNvSpPr/>
          <p:nvPr/>
        </p:nvSpPr>
        <p:spPr>
          <a:xfrm>
            <a:off x="799863" y="219237"/>
            <a:ext cx="7319431" cy="895730"/>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Evaluación de la docencia</a:t>
            </a:r>
            <a:endParaRPr lang="en-US" sz="4650" dirty="0"/>
          </a:p>
        </p:txBody>
      </p:sp>
      <p:sp>
        <p:nvSpPr>
          <p:cNvPr id="21" name="Shape 0">
            <a:extLst>
              <a:ext uri="{FF2B5EF4-FFF2-40B4-BE49-F238E27FC236}">
                <a16:creationId xmlns:a16="http://schemas.microsoft.com/office/drawing/2014/main" id="{EA265B12-8A46-3A82-B4EE-9DA98D2F4A28}"/>
              </a:ext>
            </a:extLst>
          </p:cNvPr>
          <p:cNvSpPr/>
          <p:nvPr/>
        </p:nvSpPr>
        <p:spPr>
          <a:xfrm>
            <a:off x="785337" y="4967862"/>
            <a:ext cx="1178123" cy="383738"/>
          </a:xfrm>
          <a:prstGeom prst="roundRect">
            <a:avLst>
              <a:gd name="adj" fmla="val 6384"/>
            </a:avLst>
          </a:prstGeom>
          <a:solidFill>
            <a:srgbClr val="FFDECC"/>
          </a:solidFill>
          <a:ln/>
        </p:spPr>
        <p:txBody>
          <a:bodyPr/>
          <a:lstStyle/>
          <a:p>
            <a:endParaRPr lang="es-CL"/>
          </a:p>
        </p:txBody>
      </p:sp>
      <p:pic>
        <p:nvPicPr>
          <p:cNvPr id="22" name="Image 0" descr="preencoded.png">
            <a:extLst>
              <a:ext uri="{FF2B5EF4-FFF2-40B4-BE49-F238E27FC236}">
                <a16:creationId xmlns:a16="http://schemas.microsoft.com/office/drawing/2014/main" id="{A2CCD98C-9835-AA0E-FA67-F7624ACFC4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8084" y="5062522"/>
            <a:ext cx="163235" cy="163235"/>
          </a:xfrm>
          <a:prstGeom prst="rect">
            <a:avLst/>
          </a:prstGeom>
        </p:spPr>
      </p:pic>
      <p:sp>
        <p:nvSpPr>
          <p:cNvPr id="23" name="Text 1">
            <a:extLst>
              <a:ext uri="{FF2B5EF4-FFF2-40B4-BE49-F238E27FC236}">
                <a16:creationId xmlns:a16="http://schemas.microsoft.com/office/drawing/2014/main" id="{F40F2B4F-E076-471E-A697-8B13851027D9}"/>
              </a:ext>
            </a:extLst>
          </p:cNvPr>
          <p:cNvSpPr/>
          <p:nvPr/>
        </p:nvSpPr>
        <p:spPr>
          <a:xfrm>
            <a:off x="1102876" y="5013468"/>
            <a:ext cx="688538" cy="261342"/>
          </a:xfrm>
          <a:prstGeom prst="rect">
            <a:avLst/>
          </a:prstGeom>
          <a:noFill/>
          <a:ln/>
        </p:spPr>
        <p:txBody>
          <a:bodyPr wrap="none" lIns="0" tIns="0" rIns="0" bIns="0" rtlCol="0" anchor="t"/>
          <a:lstStyle/>
          <a:p>
            <a:pPr marL="0" indent="0" algn="l">
              <a:lnSpc>
                <a:spcPts val="2050"/>
              </a:lnSpc>
              <a:buNone/>
            </a:pPr>
            <a:r>
              <a:rPr lang="en-US" sz="1250" dirty="0">
                <a:solidFill>
                  <a:srgbClr val="383838"/>
                </a:solidFill>
                <a:latin typeface="DM Sans" pitchFamily="34" charset="0"/>
                <a:ea typeface="DM Sans" pitchFamily="34" charset="-122"/>
                <a:cs typeface="DM Sans" pitchFamily="34" charset="-120"/>
              </a:rPr>
              <a:t>EQUIDAD</a:t>
            </a:r>
            <a:endParaRPr lang="en-US" sz="1250" dirty="0"/>
          </a:p>
        </p:txBody>
      </p:sp>
      <p:sp>
        <p:nvSpPr>
          <p:cNvPr id="24" name="Text 2">
            <a:extLst>
              <a:ext uri="{FF2B5EF4-FFF2-40B4-BE49-F238E27FC236}">
                <a16:creationId xmlns:a16="http://schemas.microsoft.com/office/drawing/2014/main" id="{F56E0B58-7307-3C4C-6C46-3FE36859D2F2}"/>
              </a:ext>
            </a:extLst>
          </p:cNvPr>
          <p:cNvSpPr/>
          <p:nvPr/>
        </p:nvSpPr>
        <p:spPr>
          <a:xfrm>
            <a:off x="744081" y="5366347"/>
            <a:ext cx="7140893" cy="669846"/>
          </a:xfrm>
          <a:prstGeom prst="rect">
            <a:avLst/>
          </a:prstGeom>
          <a:noFill/>
          <a:ln/>
        </p:spPr>
        <p:txBody>
          <a:bodyPr wrap="none" lIns="0" tIns="0" rIns="0" bIns="0" rtlCol="0" anchor="t"/>
          <a:lstStyle/>
          <a:p>
            <a:pPr marL="0" indent="0" algn="l">
              <a:lnSpc>
                <a:spcPts val="5250"/>
              </a:lnSpc>
              <a:buNone/>
            </a:pPr>
            <a:r>
              <a:rPr lang="en-US" sz="2800" dirty="0">
                <a:solidFill>
                  <a:srgbClr val="020202"/>
                </a:solidFill>
                <a:latin typeface="PT Serif" pitchFamily="34" charset="0"/>
                <a:ea typeface="PT Serif" pitchFamily="34" charset="-122"/>
                <a:cs typeface="PT Serif" pitchFamily="34" charset="-120"/>
              </a:rPr>
              <a:t>Equidad, validez y legitimidad</a:t>
            </a:r>
            <a:endParaRPr lang="en-US" sz="2800" dirty="0"/>
          </a:p>
        </p:txBody>
      </p:sp>
      <p:sp>
        <p:nvSpPr>
          <p:cNvPr id="28" name="Shape 7">
            <a:extLst>
              <a:ext uri="{FF2B5EF4-FFF2-40B4-BE49-F238E27FC236}">
                <a16:creationId xmlns:a16="http://schemas.microsoft.com/office/drawing/2014/main" id="{B833802C-B9BD-A76D-B0D7-8CD4C41A143A}"/>
              </a:ext>
            </a:extLst>
          </p:cNvPr>
          <p:cNvSpPr/>
          <p:nvPr/>
        </p:nvSpPr>
        <p:spPr>
          <a:xfrm>
            <a:off x="7558087" y="6241146"/>
            <a:ext cx="459224" cy="459224"/>
          </a:xfrm>
          <a:prstGeom prst="roundRect">
            <a:avLst>
              <a:gd name="adj" fmla="val 6668"/>
            </a:avLst>
          </a:prstGeom>
          <a:solidFill>
            <a:srgbClr val="F2EEEE"/>
          </a:solidFill>
          <a:ln/>
        </p:spPr>
        <p:txBody>
          <a:bodyPr/>
          <a:lstStyle/>
          <a:p>
            <a:endParaRPr lang="es-CL"/>
          </a:p>
        </p:txBody>
      </p:sp>
      <p:sp>
        <p:nvSpPr>
          <p:cNvPr id="29" name="Text 8">
            <a:extLst>
              <a:ext uri="{FF2B5EF4-FFF2-40B4-BE49-F238E27FC236}">
                <a16:creationId xmlns:a16="http://schemas.microsoft.com/office/drawing/2014/main" id="{1835A39D-52E8-2863-53D4-F81D83E0260B}"/>
              </a:ext>
            </a:extLst>
          </p:cNvPr>
          <p:cNvSpPr/>
          <p:nvPr/>
        </p:nvSpPr>
        <p:spPr>
          <a:xfrm>
            <a:off x="8221384" y="6311274"/>
            <a:ext cx="3485317" cy="334804"/>
          </a:xfrm>
          <a:prstGeom prst="rect">
            <a:avLst/>
          </a:prstGeom>
          <a:noFill/>
          <a:ln/>
        </p:spPr>
        <p:txBody>
          <a:bodyPr wrap="none" lIns="0" tIns="0" rIns="0" bIns="0" rtlCol="0" anchor="t"/>
          <a:lstStyle/>
          <a:p>
            <a:pPr marL="0" indent="0" algn="l">
              <a:lnSpc>
                <a:spcPts val="2600"/>
              </a:lnSpc>
              <a:buNone/>
            </a:pPr>
            <a:r>
              <a:rPr lang="en-US" sz="2100" dirty="0">
                <a:solidFill>
                  <a:srgbClr val="383838"/>
                </a:solidFill>
                <a:latin typeface="PT Serif" pitchFamily="34" charset="0"/>
                <a:ea typeface="PT Serif" pitchFamily="34" charset="-122"/>
                <a:cs typeface="PT Serif" pitchFamily="34" charset="-120"/>
              </a:rPr>
              <a:t>Participación y transparencia</a:t>
            </a:r>
            <a:endParaRPr lang="en-US" sz="2100" dirty="0"/>
          </a:p>
        </p:txBody>
      </p:sp>
      <p:sp>
        <p:nvSpPr>
          <p:cNvPr id="30" name="Text 9">
            <a:extLst>
              <a:ext uri="{FF2B5EF4-FFF2-40B4-BE49-F238E27FC236}">
                <a16:creationId xmlns:a16="http://schemas.microsoft.com/office/drawing/2014/main" id="{E745CB7C-E08C-720E-5436-7DFCF677DB63}"/>
              </a:ext>
            </a:extLst>
          </p:cNvPr>
          <p:cNvSpPr/>
          <p:nvPr/>
        </p:nvSpPr>
        <p:spPr>
          <a:xfrm>
            <a:off x="8221384" y="6850151"/>
            <a:ext cx="5609153" cy="653415"/>
          </a:xfrm>
          <a:prstGeom prst="rect">
            <a:avLst/>
          </a:prstGeom>
          <a:noFill/>
          <a:ln/>
        </p:spPr>
        <p:txBody>
          <a:bodyPr wrap="square" lIns="0" tIns="0" rIns="0" bIns="0" rtlCol="0" anchor="t"/>
          <a:lstStyle/>
          <a:p>
            <a:pPr marL="0" indent="0" algn="l">
              <a:lnSpc>
                <a:spcPts val="2550"/>
              </a:lnSpc>
              <a:buNone/>
            </a:pPr>
            <a:r>
              <a:rPr lang="en-US" sz="1600" dirty="0" err="1">
                <a:solidFill>
                  <a:srgbClr val="383838"/>
                </a:solidFill>
                <a:latin typeface="DM Sans" pitchFamily="34" charset="0"/>
                <a:ea typeface="DM Sans" pitchFamily="34" charset="-122"/>
                <a:cs typeface="DM Sans" pitchFamily="34" charset="-120"/>
              </a:rPr>
              <a:t>Involucrar</a:t>
            </a:r>
            <a:r>
              <a:rPr lang="en-US" sz="1600" dirty="0">
                <a:solidFill>
                  <a:srgbClr val="383838"/>
                </a:solidFill>
                <a:latin typeface="DM Sans" pitchFamily="34" charset="0"/>
                <a:ea typeface="DM Sans" pitchFamily="34" charset="-122"/>
                <a:cs typeface="DM Sans" pitchFamily="34" charset="-120"/>
              </a:rPr>
              <a:t> </a:t>
            </a:r>
            <a:r>
              <a:rPr lang="en-US" sz="1600" dirty="0" err="1">
                <a:solidFill>
                  <a:srgbClr val="383838"/>
                </a:solidFill>
                <a:latin typeface="DM Sans" pitchFamily="34" charset="0"/>
                <a:ea typeface="DM Sans" pitchFamily="34" charset="-122"/>
                <a:cs typeface="DM Sans" pitchFamily="34" charset="-120"/>
              </a:rPr>
              <a:t>expertos</a:t>
            </a:r>
            <a:r>
              <a:rPr lang="en-US" sz="1600" dirty="0">
                <a:solidFill>
                  <a:srgbClr val="383838"/>
                </a:solidFill>
                <a:latin typeface="DM Sans" pitchFamily="34" charset="0"/>
                <a:ea typeface="DM Sans" pitchFamily="34" charset="-122"/>
                <a:cs typeface="DM Sans" pitchFamily="34" charset="-120"/>
              </a:rPr>
              <a:t> </a:t>
            </a:r>
            <a:r>
              <a:rPr lang="en-US" sz="1600" dirty="0" err="1">
                <a:solidFill>
                  <a:srgbClr val="383838"/>
                </a:solidFill>
                <a:latin typeface="DM Sans" pitchFamily="34" charset="0"/>
                <a:ea typeface="DM Sans" pitchFamily="34" charset="-122"/>
                <a:cs typeface="DM Sans" pitchFamily="34" charset="-120"/>
              </a:rPr>
              <a:t>externos</a:t>
            </a:r>
            <a:r>
              <a:rPr lang="en-US" sz="1600" dirty="0">
                <a:solidFill>
                  <a:srgbClr val="383838"/>
                </a:solidFill>
                <a:latin typeface="DM Sans" pitchFamily="34" charset="0"/>
                <a:ea typeface="DM Sans" pitchFamily="34" charset="-122"/>
                <a:cs typeface="DM Sans" pitchFamily="34" charset="-120"/>
              </a:rPr>
              <a:t> y pares en comisiones evaluadoras, difundir resultados claramente</a:t>
            </a:r>
            <a:endParaRPr lang="en-US" sz="1600" dirty="0"/>
          </a:p>
        </p:txBody>
      </p:sp>
      <p:sp>
        <p:nvSpPr>
          <p:cNvPr id="33" name="CuadroTexto 32">
            <a:extLst>
              <a:ext uri="{FF2B5EF4-FFF2-40B4-BE49-F238E27FC236}">
                <a16:creationId xmlns:a16="http://schemas.microsoft.com/office/drawing/2014/main" id="{DEF54BC3-0A36-4D05-2F59-C40E37D2B88E}"/>
              </a:ext>
            </a:extLst>
          </p:cNvPr>
          <p:cNvSpPr txBox="1"/>
          <p:nvPr/>
        </p:nvSpPr>
        <p:spPr>
          <a:xfrm>
            <a:off x="9105564" y="1429822"/>
            <a:ext cx="4739499" cy="807978"/>
          </a:xfrm>
          <a:prstGeom prst="rect">
            <a:avLst/>
          </a:prstGeom>
          <a:noFill/>
        </p:spPr>
        <p:txBody>
          <a:bodyPr wrap="square">
            <a:spAutoFit/>
          </a:bodyPr>
          <a:lstStyle/>
          <a:p>
            <a:pPr marL="0" indent="0" algn="l">
              <a:lnSpc>
                <a:spcPts val="2850"/>
              </a:lnSpc>
              <a:buNone/>
            </a:pPr>
            <a:r>
              <a:rPr lang="en-US" sz="1400" b="1" dirty="0">
                <a:solidFill>
                  <a:srgbClr val="000000"/>
                </a:solidFill>
                <a:latin typeface="DM Sans" pitchFamily="34" charset="0"/>
                <a:ea typeface="DM Sans" pitchFamily="34" charset="-122"/>
                <a:cs typeface="DM Sans" pitchFamily="34" charset="-120"/>
              </a:rPr>
              <a:t>Felder &amp; Brent (2004)</a:t>
            </a:r>
            <a:r>
              <a:rPr lang="en-US" sz="1400" dirty="0">
                <a:solidFill>
                  <a:srgbClr val="000000"/>
                </a:solidFill>
                <a:latin typeface="DM Sans" pitchFamily="34" charset="0"/>
                <a:ea typeface="DM Sans" pitchFamily="34" charset="-122"/>
                <a:cs typeface="DM Sans" pitchFamily="34" charset="-120"/>
              </a:rPr>
              <a:t>: </a:t>
            </a:r>
            <a:r>
              <a:rPr lang="en-US" sz="1400" dirty="0" err="1">
                <a:solidFill>
                  <a:srgbClr val="000000"/>
                </a:solidFill>
                <a:latin typeface="DM Sans" pitchFamily="34" charset="0"/>
                <a:ea typeface="DM Sans" pitchFamily="34" charset="-122"/>
                <a:cs typeface="DM Sans" pitchFamily="34" charset="-120"/>
              </a:rPr>
              <a:t>Capturar</a:t>
            </a:r>
            <a:r>
              <a:rPr lang="en-US" sz="1400" dirty="0">
                <a:solidFill>
                  <a:srgbClr val="000000"/>
                </a:solidFill>
                <a:latin typeface="DM Sans" pitchFamily="34" charset="0"/>
                <a:ea typeface="DM Sans" pitchFamily="34" charset="-122"/>
                <a:cs typeface="DM Sans" pitchFamily="34" charset="-120"/>
              </a:rPr>
              <a:t> </a:t>
            </a:r>
            <a:r>
              <a:rPr lang="en-US" sz="1400" dirty="0" err="1">
                <a:solidFill>
                  <a:srgbClr val="000000"/>
                </a:solidFill>
                <a:latin typeface="DM Sans" pitchFamily="34" charset="0"/>
                <a:ea typeface="DM Sans" pitchFamily="34" charset="-122"/>
                <a:cs typeface="DM Sans" pitchFamily="34" charset="-120"/>
              </a:rPr>
              <a:t>distintas</a:t>
            </a:r>
            <a:r>
              <a:rPr lang="en-US" sz="1400" dirty="0">
                <a:solidFill>
                  <a:srgbClr val="000000"/>
                </a:solidFill>
                <a:latin typeface="DM Sans" pitchFamily="34" charset="0"/>
                <a:ea typeface="DM Sans" pitchFamily="34" charset="-122"/>
                <a:cs typeface="DM Sans" pitchFamily="34" charset="-120"/>
              </a:rPr>
              <a:t> </a:t>
            </a:r>
            <a:r>
              <a:rPr lang="en-US" sz="1400" dirty="0" err="1">
                <a:solidFill>
                  <a:srgbClr val="000000"/>
                </a:solidFill>
                <a:latin typeface="DM Sans" pitchFamily="34" charset="0"/>
                <a:ea typeface="DM Sans" pitchFamily="34" charset="-122"/>
                <a:cs typeface="DM Sans" pitchFamily="34" charset="-120"/>
              </a:rPr>
              <a:t>dimensiones</a:t>
            </a:r>
            <a:r>
              <a:rPr lang="en-US" sz="1400" dirty="0">
                <a:solidFill>
                  <a:srgbClr val="000000"/>
                </a:solidFill>
                <a:latin typeface="DM Sans" pitchFamily="34" charset="0"/>
                <a:ea typeface="DM Sans" pitchFamily="34" charset="-122"/>
                <a:cs typeface="DM Sans" pitchFamily="34" charset="-120"/>
              </a:rPr>
              <a:t> del </a:t>
            </a:r>
            <a:r>
              <a:rPr lang="en-US" sz="1400" dirty="0" err="1">
                <a:solidFill>
                  <a:srgbClr val="000000"/>
                </a:solidFill>
                <a:latin typeface="DM Sans" pitchFamily="34" charset="0"/>
                <a:ea typeface="DM Sans" pitchFamily="34" charset="-122"/>
                <a:cs typeface="DM Sans" pitchFamily="34" charset="-120"/>
              </a:rPr>
              <a:t>desempeño</a:t>
            </a:r>
            <a:r>
              <a:rPr lang="en-US" sz="1400" dirty="0">
                <a:solidFill>
                  <a:srgbClr val="000000"/>
                </a:solidFill>
                <a:latin typeface="DM Sans" pitchFamily="34" charset="0"/>
                <a:ea typeface="DM Sans" pitchFamily="34" charset="-122"/>
                <a:cs typeface="DM Sans" pitchFamily="34" charset="-120"/>
              </a:rPr>
              <a:t> </a:t>
            </a:r>
            <a:r>
              <a:rPr lang="en-US" sz="1400" dirty="0" err="1">
                <a:solidFill>
                  <a:srgbClr val="000000"/>
                </a:solidFill>
                <a:latin typeface="DM Sans" pitchFamily="34" charset="0"/>
                <a:ea typeface="DM Sans" pitchFamily="34" charset="-122"/>
                <a:cs typeface="DM Sans" pitchFamily="34" charset="-120"/>
              </a:rPr>
              <a:t>docente</a:t>
            </a:r>
            <a:endParaRPr lang="en-US" sz="1400" dirty="0"/>
          </a:p>
        </p:txBody>
      </p:sp>
      <p:pic>
        <p:nvPicPr>
          <p:cNvPr id="34" name="Image 3" descr="preencoded.png"/>
          <p:cNvPicPr>
            <a:picLocks noChangeAspect="1"/>
          </p:cNvPicPr>
          <p:nvPr/>
        </p:nvPicPr>
        <p:blipFill>
          <a:blip r:embed="rId11"/>
          <a:stretch>
            <a:fillRect/>
          </a:stretch>
        </p:blipFill>
        <p:spPr>
          <a:xfrm>
            <a:off x="8824197" y="1750924"/>
            <a:ext cx="283488" cy="226814"/>
          </a:xfrm>
          <a:prstGeom prst="rect">
            <a:avLst/>
          </a:prstGeom>
        </p:spPr>
      </p:pic>
      <p:sp>
        <p:nvSpPr>
          <p:cNvPr id="35" name="Shape 4">
            <a:extLst>
              <a:ext uri="{FF2B5EF4-FFF2-40B4-BE49-F238E27FC236}">
                <a16:creationId xmlns:a16="http://schemas.microsoft.com/office/drawing/2014/main" id="{7B1EF07D-CAFD-6DBE-4A2F-03703CA60D70}"/>
              </a:ext>
            </a:extLst>
          </p:cNvPr>
          <p:cNvSpPr/>
          <p:nvPr/>
        </p:nvSpPr>
        <p:spPr>
          <a:xfrm>
            <a:off x="799863" y="6264134"/>
            <a:ext cx="459224" cy="459224"/>
          </a:xfrm>
          <a:prstGeom prst="roundRect">
            <a:avLst>
              <a:gd name="adj" fmla="val 6668"/>
            </a:avLst>
          </a:prstGeom>
          <a:solidFill>
            <a:srgbClr val="F2EEEE"/>
          </a:solidFill>
          <a:ln/>
        </p:spPr>
        <p:txBody>
          <a:bodyPr/>
          <a:lstStyle/>
          <a:p>
            <a:endParaRPr lang="es-CL"/>
          </a:p>
        </p:txBody>
      </p:sp>
      <p:sp>
        <p:nvSpPr>
          <p:cNvPr id="36" name="Text 5">
            <a:extLst>
              <a:ext uri="{FF2B5EF4-FFF2-40B4-BE49-F238E27FC236}">
                <a16:creationId xmlns:a16="http://schemas.microsoft.com/office/drawing/2014/main" id="{ED8201A8-E61E-4B97-4760-748BB0698684}"/>
              </a:ext>
            </a:extLst>
          </p:cNvPr>
          <p:cNvSpPr/>
          <p:nvPr/>
        </p:nvSpPr>
        <p:spPr>
          <a:xfrm>
            <a:off x="1463160" y="6334262"/>
            <a:ext cx="4414838" cy="334804"/>
          </a:xfrm>
          <a:prstGeom prst="rect">
            <a:avLst/>
          </a:prstGeom>
          <a:noFill/>
          <a:ln/>
        </p:spPr>
        <p:txBody>
          <a:bodyPr wrap="none" lIns="0" tIns="0" rIns="0" bIns="0" rtlCol="0" anchor="t"/>
          <a:lstStyle/>
          <a:p>
            <a:pPr marL="0" indent="0" algn="l">
              <a:lnSpc>
                <a:spcPts val="2600"/>
              </a:lnSpc>
              <a:buNone/>
            </a:pPr>
            <a:r>
              <a:rPr lang="en-US" sz="2100" dirty="0">
                <a:solidFill>
                  <a:srgbClr val="383838"/>
                </a:solidFill>
                <a:latin typeface="PT Serif" pitchFamily="34" charset="0"/>
                <a:ea typeface="PT Serif" pitchFamily="34" charset="-122"/>
                <a:cs typeface="PT Serif" pitchFamily="34" charset="-120"/>
              </a:rPr>
              <a:t>Mitigar sesgos y promover la equidad</a:t>
            </a:r>
            <a:endParaRPr lang="en-US" sz="2100" dirty="0"/>
          </a:p>
        </p:txBody>
      </p:sp>
      <p:sp>
        <p:nvSpPr>
          <p:cNvPr id="37" name="Text 6">
            <a:extLst>
              <a:ext uri="{FF2B5EF4-FFF2-40B4-BE49-F238E27FC236}">
                <a16:creationId xmlns:a16="http://schemas.microsoft.com/office/drawing/2014/main" id="{265BD50C-1DF8-3F57-E87C-D67D0EF6F3F5}"/>
              </a:ext>
            </a:extLst>
          </p:cNvPr>
          <p:cNvSpPr/>
          <p:nvPr/>
        </p:nvSpPr>
        <p:spPr>
          <a:xfrm>
            <a:off x="1542872" y="6855598"/>
            <a:ext cx="5609153" cy="653415"/>
          </a:xfrm>
          <a:prstGeom prst="rect">
            <a:avLst/>
          </a:prstGeom>
          <a:noFill/>
          <a:ln/>
        </p:spPr>
        <p:txBody>
          <a:bodyPr wrap="square" lIns="0" tIns="0" rIns="0" bIns="0" rtlCol="0" anchor="t"/>
          <a:lstStyle/>
          <a:p>
            <a:pPr marL="0" indent="0" algn="l">
              <a:lnSpc>
                <a:spcPts val="2550"/>
              </a:lnSpc>
              <a:buNone/>
            </a:pPr>
            <a:r>
              <a:rPr lang="en-US" sz="1600" dirty="0">
                <a:solidFill>
                  <a:srgbClr val="383838"/>
                </a:solidFill>
                <a:latin typeface="DM Sans" pitchFamily="34" charset="0"/>
                <a:ea typeface="DM Sans" pitchFamily="34" charset="-122"/>
                <a:cs typeface="DM Sans" pitchFamily="34" charset="-120"/>
              </a:rPr>
              <a:t>Métodos estadísticos, revisión de instrumentos, capacitación de evaluadores</a:t>
            </a:r>
            <a:endParaRPr lang="en-US" sz="1600" dirty="0"/>
          </a:p>
        </p:txBody>
      </p:sp>
      <p:sp>
        <p:nvSpPr>
          <p:cNvPr id="38" name="Text 11">
            <a:extLst>
              <a:ext uri="{FF2B5EF4-FFF2-40B4-BE49-F238E27FC236}">
                <a16:creationId xmlns:a16="http://schemas.microsoft.com/office/drawing/2014/main" id="{EAAD68B9-D3D5-9D5D-0772-829267C7F7E1}"/>
              </a:ext>
            </a:extLst>
          </p:cNvPr>
          <p:cNvSpPr/>
          <p:nvPr/>
        </p:nvSpPr>
        <p:spPr>
          <a:xfrm>
            <a:off x="1010483" y="7727237"/>
            <a:ext cx="12736711" cy="326708"/>
          </a:xfrm>
          <a:prstGeom prst="rect">
            <a:avLst/>
          </a:prstGeom>
          <a:noFill/>
          <a:ln/>
        </p:spPr>
        <p:txBody>
          <a:bodyPr wrap="none" lIns="0" tIns="0" rIns="0" bIns="0" rtlCol="0" anchor="t"/>
          <a:lstStyle/>
          <a:p>
            <a:pPr>
              <a:lnSpc>
                <a:spcPts val="2550"/>
              </a:lnSpc>
            </a:pPr>
            <a:r>
              <a:rPr lang="en-US" sz="1050" b="1" dirty="0">
                <a:solidFill>
                  <a:srgbClr val="383838"/>
                </a:solidFill>
                <a:latin typeface="DM Sans" pitchFamily="34" charset="0"/>
                <a:ea typeface="DM Sans" pitchFamily="34" charset="-122"/>
                <a:cs typeface="DM Sans" pitchFamily="34" charset="-120"/>
              </a:rPr>
              <a:t>Clavijo-Cáceres &amp; Balaguera-Rodríguez (2020)</a:t>
            </a:r>
            <a:r>
              <a:rPr lang="en-US" sz="1050" dirty="0">
                <a:solidFill>
                  <a:srgbClr val="383838"/>
                </a:solidFill>
                <a:latin typeface="DM Sans" pitchFamily="34" charset="0"/>
                <a:ea typeface="DM Sans" pitchFamily="34" charset="-122"/>
                <a:cs typeface="DM Sans" pitchFamily="34" charset="-120"/>
              </a:rPr>
              <a:t>: Garantizar justicia y </a:t>
            </a:r>
            <a:r>
              <a:rPr lang="en-US" sz="1050" dirty="0" err="1">
                <a:solidFill>
                  <a:srgbClr val="383838"/>
                </a:solidFill>
                <a:latin typeface="DM Sans" pitchFamily="34" charset="0"/>
                <a:ea typeface="DM Sans" pitchFamily="34" charset="-122"/>
                <a:cs typeface="DM Sans" pitchFamily="34" charset="-120"/>
              </a:rPr>
              <a:t>objetividad</a:t>
            </a:r>
            <a:r>
              <a:rPr lang="en-US" sz="1050" dirty="0">
                <a:solidFill>
                  <a:srgbClr val="383838"/>
                </a:solidFill>
                <a:latin typeface="DM Sans" pitchFamily="34" charset="0"/>
                <a:ea typeface="DM Sans" pitchFamily="34" charset="-122"/>
                <a:cs typeface="DM Sans" pitchFamily="34" charset="-120"/>
              </a:rPr>
              <a:t> / </a:t>
            </a:r>
            <a:r>
              <a:rPr lang="en-US" sz="1050" b="1" dirty="0" err="1">
                <a:solidFill>
                  <a:srgbClr val="383838"/>
                </a:solidFill>
                <a:latin typeface="DM Sans" pitchFamily="34" charset="0"/>
                <a:ea typeface="DM Sans" pitchFamily="34" charset="-122"/>
                <a:cs typeface="DM Sans" pitchFamily="34" charset="-120"/>
              </a:rPr>
              <a:t>Asún</a:t>
            </a:r>
            <a:r>
              <a:rPr lang="en-US" sz="1050" b="1" dirty="0">
                <a:solidFill>
                  <a:srgbClr val="383838"/>
                </a:solidFill>
                <a:latin typeface="DM Sans" pitchFamily="34" charset="0"/>
                <a:ea typeface="DM Sans" pitchFamily="34" charset="-122"/>
                <a:cs typeface="DM Sans" pitchFamily="34" charset="-120"/>
              </a:rPr>
              <a:t> &amp; Zúñiga (2017)</a:t>
            </a:r>
            <a:r>
              <a:rPr lang="en-US" sz="1050" dirty="0">
                <a:solidFill>
                  <a:srgbClr val="383838"/>
                </a:solidFill>
                <a:latin typeface="DM Sans" pitchFamily="34" charset="0"/>
                <a:ea typeface="DM Sans" pitchFamily="34" charset="-122"/>
                <a:cs typeface="DM Sans" pitchFamily="34" charset="-120"/>
              </a:rPr>
              <a:t>: </a:t>
            </a:r>
            <a:r>
              <a:rPr lang="en-US" sz="1050" dirty="0" err="1">
                <a:solidFill>
                  <a:srgbClr val="383838"/>
                </a:solidFill>
                <a:latin typeface="DM Sans" pitchFamily="34" charset="0"/>
                <a:ea typeface="DM Sans" pitchFamily="34" charset="-122"/>
                <a:cs typeface="DM Sans" pitchFamily="34" charset="-120"/>
              </a:rPr>
              <a:t>Fortalecer</a:t>
            </a:r>
            <a:r>
              <a:rPr lang="en-US" sz="1050" dirty="0">
                <a:solidFill>
                  <a:srgbClr val="383838"/>
                </a:solidFill>
                <a:latin typeface="DM Sans" pitchFamily="34" charset="0"/>
                <a:ea typeface="DM Sans" pitchFamily="34" charset="-122"/>
                <a:cs typeface="DM Sans" pitchFamily="34" charset="-120"/>
              </a:rPr>
              <a:t> la </a:t>
            </a:r>
            <a:r>
              <a:rPr lang="en-US" sz="1050" dirty="0" err="1">
                <a:solidFill>
                  <a:srgbClr val="383838"/>
                </a:solidFill>
                <a:latin typeface="DM Sans" pitchFamily="34" charset="0"/>
                <a:ea typeface="DM Sans" pitchFamily="34" charset="-122"/>
                <a:cs typeface="DM Sans" pitchFamily="34" charset="-120"/>
              </a:rPr>
              <a:t>confianza</a:t>
            </a:r>
            <a:r>
              <a:rPr lang="en-US" sz="1050" dirty="0">
                <a:solidFill>
                  <a:srgbClr val="383838"/>
                </a:solidFill>
                <a:latin typeface="DM Sans" pitchFamily="34" charset="0"/>
                <a:ea typeface="DM Sans" pitchFamily="34" charset="-122"/>
                <a:cs typeface="DM Sans" pitchFamily="34" charset="-120"/>
              </a:rPr>
              <a:t> </a:t>
            </a:r>
            <a:r>
              <a:rPr lang="en-US" sz="1050" dirty="0" err="1">
                <a:solidFill>
                  <a:srgbClr val="383838"/>
                </a:solidFill>
                <a:latin typeface="DM Sans" pitchFamily="34" charset="0"/>
                <a:ea typeface="DM Sans" pitchFamily="34" charset="-122"/>
                <a:cs typeface="DM Sans" pitchFamily="34" charset="-120"/>
              </a:rPr>
              <a:t>institucional</a:t>
            </a:r>
            <a:endParaRPr lang="en-US" sz="1050" dirty="0"/>
          </a:p>
          <a:p>
            <a:pPr marL="0" indent="0" algn="l">
              <a:lnSpc>
                <a:spcPts val="2550"/>
              </a:lnSpc>
              <a:buNone/>
            </a:pP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1862257"/>
            <a:ext cx="7987903"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Evaluación de la investigación</a:t>
            </a:r>
            <a:endParaRPr lang="en-US" sz="4650" dirty="0"/>
          </a:p>
        </p:txBody>
      </p:sp>
      <p:sp>
        <p:nvSpPr>
          <p:cNvPr id="3" name="Text 1"/>
          <p:cNvSpPr/>
          <p:nvPr/>
        </p:nvSpPr>
        <p:spPr>
          <a:xfrm>
            <a:off x="793790" y="2697242"/>
            <a:ext cx="5613082"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Instrumentos y mecanismos de evaluación</a:t>
            </a:r>
            <a:endParaRPr lang="en-US" sz="2300" dirty="0"/>
          </a:p>
        </p:txBody>
      </p:sp>
      <p:sp>
        <p:nvSpPr>
          <p:cNvPr id="4" name="Shape 2"/>
          <p:cNvSpPr/>
          <p:nvPr/>
        </p:nvSpPr>
        <p:spPr>
          <a:xfrm>
            <a:off x="793790" y="3409474"/>
            <a:ext cx="4196358" cy="2957751"/>
          </a:xfrm>
          <a:prstGeom prst="roundRect">
            <a:avLst>
              <a:gd name="adj" fmla="val 1150"/>
            </a:avLst>
          </a:prstGeom>
          <a:solidFill>
            <a:srgbClr val="F2EEEE"/>
          </a:solidFill>
          <a:ln/>
        </p:spPr>
        <p:txBody>
          <a:bodyPr/>
          <a:lstStyle/>
          <a:p>
            <a:endParaRPr lang="es-CL"/>
          </a:p>
        </p:txBody>
      </p:sp>
      <p:sp>
        <p:nvSpPr>
          <p:cNvPr id="5" name="Shape 3"/>
          <p:cNvSpPr/>
          <p:nvPr/>
        </p:nvSpPr>
        <p:spPr>
          <a:xfrm>
            <a:off x="1020604" y="3636288"/>
            <a:ext cx="680442" cy="680442"/>
          </a:xfrm>
          <a:prstGeom prst="roundRect">
            <a:avLst>
              <a:gd name="adj" fmla="val 13436980"/>
            </a:avLst>
          </a:prstGeom>
          <a:solidFill>
            <a:srgbClr val="E04F00"/>
          </a:solidFill>
          <a:ln/>
        </p:spPr>
        <p:txBody>
          <a:bodyPr/>
          <a:lstStyle/>
          <a:p>
            <a:endParaRPr lang="es-CL"/>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7770" y="3823335"/>
            <a:ext cx="306110" cy="306110"/>
          </a:xfrm>
          <a:prstGeom prst="rect">
            <a:avLst/>
          </a:prstGeom>
        </p:spPr>
      </p:pic>
      <p:sp>
        <p:nvSpPr>
          <p:cNvPr id="7" name="Text 4"/>
          <p:cNvSpPr/>
          <p:nvPr/>
        </p:nvSpPr>
        <p:spPr>
          <a:xfrm>
            <a:off x="1020604" y="4543544"/>
            <a:ext cx="310776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Métricas bibliométricas</a:t>
            </a:r>
            <a:endParaRPr lang="en-US" sz="2300" dirty="0"/>
          </a:p>
        </p:txBody>
      </p:sp>
      <p:sp>
        <p:nvSpPr>
          <p:cNvPr id="8" name="Text 5"/>
          <p:cNvSpPr/>
          <p:nvPr/>
        </p:nvSpPr>
        <p:spPr>
          <a:xfrm>
            <a:off x="1020604" y="5051703"/>
            <a:ext cx="3742730"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Web of Science, Scopus, Google Scholar: publicaciones, citas, h-index, factor de </a:t>
            </a:r>
            <a:r>
              <a:rPr lang="en-US" sz="1750" dirty="0" err="1">
                <a:solidFill>
                  <a:srgbClr val="383838"/>
                </a:solidFill>
                <a:latin typeface="DM Sans" pitchFamily="34" charset="0"/>
                <a:ea typeface="DM Sans" pitchFamily="34" charset="-122"/>
                <a:cs typeface="DM Sans" pitchFamily="34" charset="-120"/>
              </a:rPr>
              <a:t>impacto</a:t>
            </a:r>
            <a:r>
              <a:rPr lang="en-US" sz="1750" dirty="0">
                <a:solidFill>
                  <a:srgbClr val="383838"/>
                </a:solidFill>
                <a:latin typeface="DM Sans" pitchFamily="34" charset="0"/>
                <a:ea typeface="DM Sans" pitchFamily="34" charset="-122"/>
                <a:cs typeface="DM Sans" pitchFamily="34" charset="-120"/>
              </a:rPr>
              <a:t>.</a:t>
            </a:r>
            <a:endParaRPr lang="en-US" sz="1750" dirty="0"/>
          </a:p>
        </p:txBody>
      </p:sp>
      <p:sp>
        <p:nvSpPr>
          <p:cNvPr id="9" name="Shape 6"/>
          <p:cNvSpPr/>
          <p:nvPr/>
        </p:nvSpPr>
        <p:spPr>
          <a:xfrm>
            <a:off x="5216962" y="3409474"/>
            <a:ext cx="4196358" cy="2957751"/>
          </a:xfrm>
          <a:prstGeom prst="roundRect">
            <a:avLst>
              <a:gd name="adj" fmla="val 1150"/>
            </a:avLst>
          </a:prstGeom>
          <a:solidFill>
            <a:srgbClr val="F2EEEE"/>
          </a:solidFill>
          <a:ln/>
        </p:spPr>
        <p:txBody>
          <a:bodyPr/>
          <a:lstStyle/>
          <a:p>
            <a:endParaRPr lang="es-CL"/>
          </a:p>
        </p:txBody>
      </p:sp>
      <p:sp>
        <p:nvSpPr>
          <p:cNvPr id="10" name="Shape 7"/>
          <p:cNvSpPr/>
          <p:nvPr/>
        </p:nvSpPr>
        <p:spPr>
          <a:xfrm>
            <a:off x="5443776" y="3636288"/>
            <a:ext cx="680442" cy="680442"/>
          </a:xfrm>
          <a:prstGeom prst="roundRect">
            <a:avLst>
              <a:gd name="adj" fmla="val 13436980"/>
            </a:avLst>
          </a:prstGeom>
          <a:solidFill>
            <a:srgbClr val="E04F00"/>
          </a:solidFill>
          <a:ln/>
        </p:spPr>
        <p:txBody>
          <a:bodyPr/>
          <a:lstStyle/>
          <a:p>
            <a:endParaRPr lang="es-CL"/>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0942" y="3823335"/>
            <a:ext cx="306110" cy="306110"/>
          </a:xfrm>
          <a:prstGeom prst="rect">
            <a:avLst/>
          </a:prstGeom>
        </p:spPr>
      </p:pic>
      <p:sp>
        <p:nvSpPr>
          <p:cNvPr id="12" name="Text 8"/>
          <p:cNvSpPr/>
          <p:nvPr/>
        </p:nvSpPr>
        <p:spPr>
          <a:xfrm>
            <a:off x="5443776" y="454354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Informes y portafolios</a:t>
            </a:r>
            <a:endParaRPr lang="en-US" sz="2300" dirty="0"/>
          </a:p>
        </p:txBody>
      </p:sp>
      <p:sp>
        <p:nvSpPr>
          <p:cNvPr id="13" name="Text 9"/>
          <p:cNvSpPr/>
          <p:nvPr/>
        </p:nvSpPr>
        <p:spPr>
          <a:xfrm>
            <a:off x="5443776" y="4888349"/>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Detallan publicaciones, proyectos, transferencia e </a:t>
            </a:r>
            <a:r>
              <a:rPr lang="en-US" sz="1750" dirty="0" err="1">
                <a:solidFill>
                  <a:srgbClr val="383838"/>
                </a:solidFill>
                <a:latin typeface="DM Sans" pitchFamily="34" charset="0"/>
                <a:ea typeface="DM Sans" pitchFamily="34" charset="-122"/>
                <a:cs typeface="DM Sans" pitchFamily="34" charset="-120"/>
              </a:rPr>
              <a:t>innovaciones</a:t>
            </a:r>
            <a:r>
              <a:rPr lang="en-US" sz="1750" dirty="0">
                <a:solidFill>
                  <a:srgbClr val="383838"/>
                </a:solidFill>
                <a:latin typeface="DM Sans" pitchFamily="34" charset="0"/>
                <a:ea typeface="DM Sans" pitchFamily="34" charset="-122"/>
                <a:cs typeface="DM Sans" pitchFamily="34" charset="-120"/>
              </a:rPr>
              <a:t> a </a:t>
            </a:r>
            <a:r>
              <a:rPr lang="en-US" sz="1750" dirty="0" err="1">
                <a:solidFill>
                  <a:srgbClr val="383838"/>
                </a:solidFill>
                <a:latin typeface="DM Sans" pitchFamily="34" charset="0"/>
                <a:ea typeface="DM Sans" pitchFamily="34" charset="-122"/>
                <a:cs typeface="DM Sans" pitchFamily="34" charset="-120"/>
              </a:rPr>
              <a:t>través</a:t>
            </a:r>
            <a:r>
              <a:rPr lang="en-US" sz="1750" dirty="0">
                <a:solidFill>
                  <a:srgbClr val="383838"/>
                </a:solidFill>
                <a:latin typeface="DM Sans" pitchFamily="34" charset="0"/>
                <a:ea typeface="DM Sans" pitchFamily="34" charset="-122"/>
                <a:cs typeface="DM Sans" pitchFamily="34" charset="-120"/>
              </a:rPr>
              <a:t> de </a:t>
            </a:r>
            <a:r>
              <a:rPr lang="en-US" sz="1750" dirty="0" err="1">
                <a:solidFill>
                  <a:srgbClr val="383838"/>
                </a:solidFill>
                <a:latin typeface="DM Sans" pitchFamily="34" charset="0"/>
                <a:ea typeface="DM Sans" pitchFamily="34" charset="-122"/>
                <a:cs typeface="DM Sans" pitchFamily="34" charset="-120"/>
              </a:rPr>
              <a:t>narrativas</a:t>
            </a:r>
            <a:r>
              <a:rPr lang="en-US" sz="1750" dirty="0">
                <a:solidFill>
                  <a:srgbClr val="383838"/>
                </a:solidFill>
                <a:latin typeface="DM Sans" pitchFamily="34" charset="0"/>
                <a:ea typeface="DM Sans" pitchFamily="34" charset="-122"/>
                <a:cs typeface="DM Sans" pitchFamily="34" charset="-120"/>
              </a:rPr>
              <a:t> y multiples </a:t>
            </a:r>
            <a:r>
              <a:rPr lang="en-US" sz="1750" dirty="0" err="1">
                <a:solidFill>
                  <a:srgbClr val="383838"/>
                </a:solidFill>
                <a:latin typeface="DM Sans" pitchFamily="34" charset="0"/>
                <a:ea typeface="DM Sans" pitchFamily="34" charset="-122"/>
                <a:cs typeface="DM Sans" pitchFamily="34" charset="-120"/>
              </a:rPr>
              <a:t>evidencias</a:t>
            </a:r>
            <a:r>
              <a:rPr lang="en-US" sz="1750" dirty="0">
                <a:solidFill>
                  <a:srgbClr val="383838"/>
                </a:solidFill>
                <a:latin typeface="DM Sans" pitchFamily="34" charset="0"/>
                <a:ea typeface="DM Sans" pitchFamily="34" charset="-122"/>
                <a:cs typeface="DM Sans" pitchFamily="34" charset="-120"/>
              </a:rPr>
              <a:t>.</a:t>
            </a:r>
            <a:endParaRPr lang="en-US" sz="1750" dirty="0"/>
          </a:p>
        </p:txBody>
      </p:sp>
      <p:sp>
        <p:nvSpPr>
          <p:cNvPr id="14" name="Shape 10"/>
          <p:cNvSpPr/>
          <p:nvPr/>
        </p:nvSpPr>
        <p:spPr>
          <a:xfrm>
            <a:off x="9640133" y="3409474"/>
            <a:ext cx="4196358" cy="2957751"/>
          </a:xfrm>
          <a:prstGeom prst="roundRect">
            <a:avLst>
              <a:gd name="adj" fmla="val 1150"/>
            </a:avLst>
          </a:prstGeom>
          <a:solidFill>
            <a:srgbClr val="F2EEEE"/>
          </a:solidFill>
          <a:ln/>
        </p:spPr>
        <p:txBody>
          <a:bodyPr/>
          <a:lstStyle/>
          <a:p>
            <a:endParaRPr lang="es-CL"/>
          </a:p>
        </p:txBody>
      </p:sp>
      <p:sp>
        <p:nvSpPr>
          <p:cNvPr id="15" name="Shape 11"/>
          <p:cNvSpPr/>
          <p:nvPr/>
        </p:nvSpPr>
        <p:spPr>
          <a:xfrm>
            <a:off x="9866948" y="3636288"/>
            <a:ext cx="680442" cy="680442"/>
          </a:xfrm>
          <a:prstGeom prst="roundRect">
            <a:avLst>
              <a:gd name="adj" fmla="val 13436980"/>
            </a:avLst>
          </a:prstGeom>
          <a:solidFill>
            <a:srgbClr val="E04F00"/>
          </a:solidFill>
          <a:ln/>
        </p:spPr>
        <p:txBody>
          <a:bodyPr/>
          <a:lstStyle/>
          <a:p>
            <a:endParaRPr lang="es-CL"/>
          </a:p>
        </p:txBody>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4114" y="3823335"/>
            <a:ext cx="306110" cy="306110"/>
          </a:xfrm>
          <a:prstGeom prst="rect">
            <a:avLst/>
          </a:prstGeom>
        </p:spPr>
      </p:pic>
      <p:sp>
        <p:nvSpPr>
          <p:cNvPr id="17" name="Text 12"/>
          <p:cNvSpPr/>
          <p:nvPr/>
        </p:nvSpPr>
        <p:spPr>
          <a:xfrm>
            <a:off x="9866948" y="4543544"/>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Comités de pares</a:t>
            </a:r>
            <a:endParaRPr lang="en-US" sz="2300" dirty="0"/>
          </a:p>
        </p:txBody>
      </p:sp>
      <p:sp>
        <p:nvSpPr>
          <p:cNvPr id="18" name="Text 13"/>
          <p:cNvSpPr/>
          <p:nvPr/>
        </p:nvSpPr>
        <p:spPr>
          <a:xfrm>
            <a:off x="9866948" y="5051703"/>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Revisan métricas, entrevistan investigadores, asignan categorías</a:t>
            </a:r>
            <a:endParaRPr lang="en-US" sz="1750" dirty="0"/>
          </a:p>
        </p:txBody>
      </p:sp>
      <p:sp>
        <p:nvSpPr>
          <p:cNvPr id="19" name="Rectángulo 18">
            <a:extLst>
              <a:ext uri="{FF2B5EF4-FFF2-40B4-BE49-F238E27FC236}">
                <a16:creationId xmlns:a16="http://schemas.microsoft.com/office/drawing/2014/main" id="{7F77BB19-7B79-FFFD-0409-8CB99670BE5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Shape 11">
            <a:extLst>
              <a:ext uri="{FF2B5EF4-FFF2-40B4-BE49-F238E27FC236}">
                <a16:creationId xmlns:a16="http://schemas.microsoft.com/office/drawing/2014/main" id="{CE53C108-A016-6985-90DF-F8EEB15E80D2}"/>
              </a:ext>
            </a:extLst>
          </p:cNvPr>
          <p:cNvSpPr/>
          <p:nvPr/>
        </p:nvSpPr>
        <p:spPr>
          <a:xfrm>
            <a:off x="793790" y="6622196"/>
            <a:ext cx="13042821" cy="963811"/>
          </a:xfrm>
          <a:prstGeom prst="roundRect">
            <a:avLst>
              <a:gd name="adj" fmla="val 3530"/>
            </a:avLst>
          </a:prstGeom>
          <a:solidFill>
            <a:srgbClr val="FFCDB3"/>
          </a:solidFill>
          <a:ln/>
        </p:spPr>
        <p:txBody>
          <a:bodyPr/>
          <a:lstStyle/>
          <a:p>
            <a:endParaRPr lang="es-CL"/>
          </a:p>
        </p:txBody>
      </p:sp>
      <p:pic>
        <p:nvPicPr>
          <p:cNvPr id="21" name="Image 0" descr="preencoded.png">
            <a:extLst>
              <a:ext uri="{FF2B5EF4-FFF2-40B4-BE49-F238E27FC236}">
                <a16:creationId xmlns:a16="http://schemas.microsoft.com/office/drawing/2014/main" id="{184E10BB-6126-DF86-6CCC-1BA13CB16CA0}"/>
              </a:ext>
            </a:extLst>
          </p:cNvPr>
          <p:cNvPicPr>
            <a:picLocks noChangeAspect="1"/>
          </p:cNvPicPr>
          <p:nvPr/>
        </p:nvPicPr>
        <p:blipFill>
          <a:blip r:embed="rId9"/>
          <a:stretch>
            <a:fillRect/>
          </a:stretch>
        </p:blipFill>
        <p:spPr>
          <a:xfrm>
            <a:off x="1020604" y="6966287"/>
            <a:ext cx="283488" cy="226814"/>
          </a:xfrm>
          <a:prstGeom prst="rect">
            <a:avLst/>
          </a:prstGeom>
        </p:spPr>
      </p:pic>
      <p:sp>
        <p:nvSpPr>
          <p:cNvPr id="22" name="Text 12">
            <a:extLst>
              <a:ext uri="{FF2B5EF4-FFF2-40B4-BE49-F238E27FC236}">
                <a16:creationId xmlns:a16="http://schemas.microsoft.com/office/drawing/2014/main" id="{E3CD4586-8182-9939-0184-B75C76D2CE0D}"/>
              </a:ext>
            </a:extLst>
          </p:cNvPr>
          <p:cNvSpPr/>
          <p:nvPr/>
        </p:nvSpPr>
        <p:spPr>
          <a:xfrm>
            <a:off x="1530906" y="6905684"/>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DM Sans" pitchFamily="34" charset="0"/>
                <a:ea typeface="DM Sans" pitchFamily="34" charset="-122"/>
                <a:cs typeface="DM Sans" pitchFamily="34" charset="-120"/>
              </a:rPr>
              <a:t>Altmetrics y análisis de datos capturan menciones en redes, descargas, patentes y reutilización de datasets</a:t>
            </a:r>
            <a:endParaRPr lang="en-US" sz="1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856893"/>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Tendencias actuales</a:t>
            </a:r>
            <a:endParaRPr lang="en-US" sz="4650" dirty="0"/>
          </a:p>
        </p:txBody>
      </p:sp>
      <p:sp>
        <p:nvSpPr>
          <p:cNvPr id="3" name="Text 1"/>
          <p:cNvSpPr/>
          <p:nvPr/>
        </p:nvSpPr>
        <p:spPr>
          <a:xfrm>
            <a:off x="793790" y="1691878"/>
            <a:ext cx="6059686"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Evolución en la evaluación de la investigación</a:t>
            </a:r>
            <a:endParaRPr lang="en-US" sz="2300" dirty="0"/>
          </a:p>
        </p:txBody>
      </p:sp>
      <p:pic>
        <p:nvPicPr>
          <p:cNvPr id="4" name="Image 0" descr="preencoded.png"/>
          <p:cNvPicPr>
            <a:picLocks noChangeAspect="1"/>
          </p:cNvPicPr>
          <p:nvPr/>
        </p:nvPicPr>
        <p:blipFill>
          <a:blip r:embed="rId3"/>
          <a:stretch>
            <a:fillRect/>
          </a:stretch>
        </p:blipFill>
        <p:spPr>
          <a:xfrm>
            <a:off x="793790" y="2404110"/>
            <a:ext cx="4347567" cy="907256"/>
          </a:xfrm>
          <a:prstGeom prst="rect">
            <a:avLst/>
          </a:prstGeom>
        </p:spPr>
      </p:pic>
      <p:sp>
        <p:nvSpPr>
          <p:cNvPr id="5" name="Text 2"/>
          <p:cNvSpPr/>
          <p:nvPr/>
        </p:nvSpPr>
        <p:spPr>
          <a:xfrm>
            <a:off x="1020604" y="35381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Calidad e impacto</a:t>
            </a:r>
            <a:endParaRPr lang="en-US" sz="2300" dirty="0"/>
          </a:p>
        </p:txBody>
      </p:sp>
      <p:sp>
        <p:nvSpPr>
          <p:cNvPr id="6" name="Text 3"/>
          <p:cNvSpPr/>
          <p:nvPr/>
        </p:nvSpPr>
        <p:spPr>
          <a:xfrm>
            <a:off x="1020604" y="4046339"/>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De contar artículos a evaluar impacto científico y social</a:t>
            </a:r>
            <a:endParaRPr lang="en-US" sz="1750" dirty="0"/>
          </a:p>
        </p:txBody>
      </p:sp>
      <p:pic>
        <p:nvPicPr>
          <p:cNvPr id="7" name="Image 1" descr="preencoded.png"/>
          <p:cNvPicPr>
            <a:picLocks noChangeAspect="1"/>
          </p:cNvPicPr>
          <p:nvPr/>
        </p:nvPicPr>
        <p:blipFill>
          <a:blip r:embed="rId4"/>
          <a:stretch>
            <a:fillRect/>
          </a:stretch>
        </p:blipFill>
        <p:spPr>
          <a:xfrm>
            <a:off x="5141357" y="2404110"/>
            <a:ext cx="4347567" cy="907256"/>
          </a:xfrm>
          <a:prstGeom prst="rect">
            <a:avLst/>
          </a:prstGeom>
        </p:spPr>
      </p:pic>
      <p:sp>
        <p:nvSpPr>
          <p:cNvPr id="8" name="Text 4"/>
          <p:cNvSpPr/>
          <p:nvPr/>
        </p:nvSpPr>
        <p:spPr>
          <a:xfrm>
            <a:off x="5368171" y="35381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Tercera misión</a:t>
            </a:r>
            <a:endParaRPr lang="en-US" sz="2300" dirty="0"/>
          </a:p>
        </p:txBody>
      </p:sp>
      <p:sp>
        <p:nvSpPr>
          <p:cNvPr id="9" name="Text 5"/>
          <p:cNvSpPr/>
          <p:nvPr/>
        </p:nvSpPr>
        <p:spPr>
          <a:xfrm>
            <a:off x="5368171" y="4046339"/>
            <a:ext cx="3893939"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Transferencia, innovación, emprendimiento: patentes, spin-offs, contratos</a:t>
            </a:r>
            <a:endParaRPr lang="en-US" sz="1750" dirty="0"/>
          </a:p>
        </p:txBody>
      </p:sp>
      <p:pic>
        <p:nvPicPr>
          <p:cNvPr id="10" name="Image 2" descr="preencoded.png"/>
          <p:cNvPicPr>
            <a:picLocks noChangeAspect="1"/>
          </p:cNvPicPr>
          <p:nvPr/>
        </p:nvPicPr>
        <p:blipFill>
          <a:blip r:embed="rId5"/>
          <a:stretch>
            <a:fillRect/>
          </a:stretch>
        </p:blipFill>
        <p:spPr>
          <a:xfrm>
            <a:off x="9488924" y="2404110"/>
            <a:ext cx="4347567" cy="907256"/>
          </a:xfrm>
          <a:prstGeom prst="rect">
            <a:avLst/>
          </a:prstGeom>
        </p:spPr>
      </p:pic>
      <p:sp>
        <p:nvSpPr>
          <p:cNvPr id="11" name="Text 6"/>
          <p:cNvSpPr/>
          <p:nvPr/>
        </p:nvSpPr>
        <p:spPr>
          <a:xfrm>
            <a:off x="9715738" y="3538180"/>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Personalización</a:t>
            </a:r>
            <a:endParaRPr lang="en-US" sz="2300" dirty="0"/>
          </a:p>
        </p:txBody>
      </p:sp>
      <p:sp>
        <p:nvSpPr>
          <p:cNvPr id="12" name="Text 7"/>
          <p:cNvSpPr/>
          <p:nvPr/>
        </p:nvSpPr>
        <p:spPr>
          <a:xfrm>
            <a:off x="9715738" y="4046339"/>
            <a:ext cx="389393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Criterios por disciplina y etapa: jóvenes vs. sénior</a:t>
            </a:r>
            <a:endParaRPr lang="en-US" sz="1750" dirty="0"/>
          </a:p>
        </p:txBody>
      </p:sp>
      <p:sp>
        <p:nvSpPr>
          <p:cNvPr id="13" name="Text 8"/>
          <p:cNvSpPr/>
          <p:nvPr/>
        </p:nvSpPr>
        <p:spPr>
          <a:xfrm>
            <a:off x="793790" y="584382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Altmetrics y big data</a:t>
            </a:r>
            <a:endParaRPr lang="en-US" sz="2300" dirty="0"/>
          </a:p>
        </p:txBody>
      </p:sp>
      <p:sp>
        <p:nvSpPr>
          <p:cNvPr id="14" name="Text 9"/>
          <p:cNvSpPr/>
          <p:nvPr/>
        </p:nvSpPr>
        <p:spPr>
          <a:xfrm>
            <a:off x="793790" y="6442710"/>
            <a:ext cx="393334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Alcance digital, interdisciplinariedad, novedad</a:t>
            </a:r>
            <a:endParaRPr lang="en-US" sz="1750" dirty="0"/>
          </a:p>
        </p:txBody>
      </p:sp>
      <p:sp>
        <p:nvSpPr>
          <p:cNvPr id="15" name="Text 10"/>
          <p:cNvSpPr/>
          <p:nvPr/>
        </p:nvSpPr>
        <p:spPr>
          <a:xfrm>
            <a:off x="5288161" y="5843826"/>
            <a:ext cx="3109555"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Evaluación responsable</a:t>
            </a:r>
            <a:endParaRPr lang="en-US" sz="2300" dirty="0"/>
          </a:p>
        </p:txBody>
      </p:sp>
      <p:sp>
        <p:nvSpPr>
          <p:cNvPr id="16" name="Text 11"/>
          <p:cNvSpPr/>
          <p:nvPr/>
        </p:nvSpPr>
        <p:spPr>
          <a:xfrm>
            <a:off x="5288161" y="6442710"/>
            <a:ext cx="393334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DORA y Leiden: contexto, diversidad, incidencia social</a:t>
            </a:r>
            <a:endParaRPr lang="en-US" sz="1750" dirty="0"/>
          </a:p>
        </p:txBody>
      </p:sp>
      <p:sp>
        <p:nvSpPr>
          <p:cNvPr id="17" name="Text 12"/>
          <p:cNvSpPr/>
          <p:nvPr/>
        </p:nvSpPr>
        <p:spPr>
          <a:xfrm>
            <a:off x="9782532" y="584382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20202"/>
                </a:solidFill>
                <a:latin typeface="PT Serif" pitchFamily="34" charset="0"/>
                <a:ea typeface="PT Serif" pitchFamily="34" charset="-122"/>
                <a:cs typeface="PT Serif" pitchFamily="34" charset="-120"/>
              </a:rPr>
              <a:t>Equilibrio</a:t>
            </a:r>
            <a:endParaRPr lang="en-US" sz="2300" dirty="0"/>
          </a:p>
        </p:txBody>
      </p:sp>
      <p:sp>
        <p:nvSpPr>
          <p:cNvPr id="18" name="Text 13"/>
          <p:cNvSpPr/>
          <p:nvPr/>
        </p:nvSpPr>
        <p:spPr>
          <a:xfrm>
            <a:off x="9782532" y="6442710"/>
            <a:ext cx="406919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Métricas + juicio experto + retroalimentación continua</a:t>
            </a:r>
            <a:endParaRPr lang="en-US" sz="1750" dirty="0"/>
          </a:p>
        </p:txBody>
      </p:sp>
      <p:sp>
        <p:nvSpPr>
          <p:cNvPr id="19" name="Rectángulo 18">
            <a:extLst>
              <a:ext uri="{FF2B5EF4-FFF2-40B4-BE49-F238E27FC236}">
                <a16:creationId xmlns:a16="http://schemas.microsoft.com/office/drawing/2014/main" id="{65E4548D-0409-1C09-F8A6-683BE7E9667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1622108"/>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Discusión colectiva</a:t>
            </a:r>
            <a:endParaRPr lang="en-US" sz="4650" dirty="0"/>
          </a:p>
        </p:txBody>
      </p:sp>
      <p:sp>
        <p:nvSpPr>
          <p:cNvPr id="3" name="Text 1"/>
          <p:cNvSpPr/>
          <p:nvPr/>
        </p:nvSpPr>
        <p:spPr>
          <a:xfrm>
            <a:off x="1133951" y="3075146"/>
            <a:ext cx="12702659"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¿Cómo describiría la forma en que actualmente se evalúa el desempeño académico en la Facultad, y qué aspectos considera relevantes para fortalecer el proceso evaluativo?</a:t>
            </a:r>
            <a:endParaRPr lang="en-US" sz="1750" dirty="0"/>
          </a:p>
        </p:txBody>
      </p:sp>
      <p:sp>
        <p:nvSpPr>
          <p:cNvPr id="4" name="Shape 2"/>
          <p:cNvSpPr/>
          <p:nvPr/>
        </p:nvSpPr>
        <p:spPr>
          <a:xfrm>
            <a:off x="793790" y="2819995"/>
            <a:ext cx="30480" cy="1236107"/>
          </a:xfrm>
          <a:prstGeom prst="rect">
            <a:avLst/>
          </a:prstGeom>
          <a:solidFill>
            <a:srgbClr val="E04F00"/>
          </a:solidFill>
          <a:ln/>
        </p:spPr>
        <p:txBody>
          <a:bodyPr/>
          <a:lstStyle/>
          <a:p>
            <a:endParaRPr lang="es-CL"/>
          </a:p>
        </p:txBody>
      </p:sp>
      <p:sp>
        <p:nvSpPr>
          <p:cNvPr id="5" name="Text 3"/>
          <p:cNvSpPr/>
          <p:nvPr/>
        </p:nvSpPr>
        <p:spPr>
          <a:xfrm>
            <a:off x="793790" y="431125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01</a:t>
            </a:r>
            <a:endParaRPr lang="en-US" sz="1750" dirty="0"/>
          </a:p>
        </p:txBody>
      </p:sp>
      <p:sp>
        <p:nvSpPr>
          <p:cNvPr id="6" name="Shape 4"/>
          <p:cNvSpPr/>
          <p:nvPr/>
        </p:nvSpPr>
        <p:spPr>
          <a:xfrm>
            <a:off x="793790" y="4666297"/>
            <a:ext cx="4196358" cy="30480"/>
          </a:xfrm>
          <a:prstGeom prst="rect">
            <a:avLst/>
          </a:prstGeom>
          <a:solidFill>
            <a:srgbClr val="E04F00"/>
          </a:solidFill>
          <a:ln/>
        </p:spPr>
        <p:txBody>
          <a:bodyPr/>
          <a:lstStyle/>
          <a:p>
            <a:endParaRPr lang="es-CL"/>
          </a:p>
        </p:txBody>
      </p:sp>
      <p:sp>
        <p:nvSpPr>
          <p:cNvPr id="7" name="Text 5"/>
          <p:cNvSpPr/>
          <p:nvPr/>
        </p:nvSpPr>
        <p:spPr>
          <a:xfrm>
            <a:off x="793790" y="484060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Reflexión individual</a:t>
            </a:r>
            <a:endParaRPr lang="en-US" sz="2300" dirty="0"/>
          </a:p>
        </p:txBody>
      </p:sp>
      <p:sp>
        <p:nvSpPr>
          <p:cNvPr id="8" name="Text 6"/>
          <p:cNvSpPr/>
          <p:nvPr/>
        </p:nvSpPr>
        <p:spPr>
          <a:xfrm>
            <a:off x="793790" y="5348764"/>
            <a:ext cx="4196358" cy="1088708"/>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Cada participante responde mediante Mentimeter, identificándose con su nombre</a:t>
            </a:r>
            <a:endParaRPr lang="en-US" sz="1750" dirty="0"/>
          </a:p>
        </p:txBody>
      </p:sp>
      <p:sp>
        <p:nvSpPr>
          <p:cNvPr id="9" name="Text 7"/>
          <p:cNvSpPr/>
          <p:nvPr/>
        </p:nvSpPr>
        <p:spPr>
          <a:xfrm>
            <a:off x="5216962" y="431125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02</a:t>
            </a:r>
            <a:endParaRPr lang="en-US" sz="1750" dirty="0"/>
          </a:p>
        </p:txBody>
      </p:sp>
      <p:sp>
        <p:nvSpPr>
          <p:cNvPr id="10" name="Shape 8"/>
          <p:cNvSpPr/>
          <p:nvPr/>
        </p:nvSpPr>
        <p:spPr>
          <a:xfrm>
            <a:off x="5216962" y="4666297"/>
            <a:ext cx="4196358" cy="30480"/>
          </a:xfrm>
          <a:prstGeom prst="rect">
            <a:avLst/>
          </a:prstGeom>
          <a:solidFill>
            <a:srgbClr val="E04F00"/>
          </a:solidFill>
          <a:ln/>
        </p:spPr>
        <p:txBody>
          <a:bodyPr/>
          <a:lstStyle/>
          <a:p>
            <a:endParaRPr lang="es-CL"/>
          </a:p>
        </p:txBody>
      </p:sp>
      <p:sp>
        <p:nvSpPr>
          <p:cNvPr id="11" name="Text 9"/>
          <p:cNvSpPr/>
          <p:nvPr/>
        </p:nvSpPr>
        <p:spPr>
          <a:xfrm>
            <a:off x="5216962" y="4840605"/>
            <a:ext cx="3646408"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Visualización de respuestas</a:t>
            </a:r>
            <a:endParaRPr lang="en-US" sz="2300" dirty="0"/>
          </a:p>
        </p:txBody>
      </p:sp>
      <p:sp>
        <p:nvSpPr>
          <p:cNvPr id="12" name="Text 10"/>
          <p:cNvSpPr/>
          <p:nvPr/>
        </p:nvSpPr>
        <p:spPr>
          <a:xfrm>
            <a:off x="5216962" y="5348764"/>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Las respuestas se proyectan en pantalla con nombre y aporte</a:t>
            </a:r>
            <a:endParaRPr lang="en-US" sz="1750" dirty="0"/>
          </a:p>
        </p:txBody>
      </p:sp>
      <p:sp>
        <p:nvSpPr>
          <p:cNvPr id="13" name="Text 11"/>
          <p:cNvSpPr/>
          <p:nvPr/>
        </p:nvSpPr>
        <p:spPr>
          <a:xfrm>
            <a:off x="9640133" y="431125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03</a:t>
            </a:r>
            <a:endParaRPr lang="en-US" sz="1750" dirty="0"/>
          </a:p>
        </p:txBody>
      </p:sp>
      <p:sp>
        <p:nvSpPr>
          <p:cNvPr id="14" name="Shape 12"/>
          <p:cNvSpPr/>
          <p:nvPr/>
        </p:nvSpPr>
        <p:spPr>
          <a:xfrm>
            <a:off x="9640133" y="4666297"/>
            <a:ext cx="4196358" cy="30480"/>
          </a:xfrm>
          <a:prstGeom prst="rect">
            <a:avLst/>
          </a:prstGeom>
          <a:solidFill>
            <a:srgbClr val="E04F00"/>
          </a:solidFill>
          <a:ln/>
        </p:spPr>
        <p:txBody>
          <a:bodyPr/>
          <a:lstStyle/>
          <a:p>
            <a:endParaRPr lang="es-CL"/>
          </a:p>
        </p:txBody>
      </p:sp>
      <p:sp>
        <p:nvSpPr>
          <p:cNvPr id="15" name="Text 13"/>
          <p:cNvSpPr/>
          <p:nvPr/>
        </p:nvSpPr>
        <p:spPr>
          <a:xfrm>
            <a:off x="9640133" y="4840605"/>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Plenario</a:t>
            </a:r>
            <a:endParaRPr lang="en-US" sz="2300" dirty="0"/>
          </a:p>
        </p:txBody>
      </p:sp>
      <p:sp>
        <p:nvSpPr>
          <p:cNvPr id="16" name="Text 14"/>
          <p:cNvSpPr/>
          <p:nvPr/>
        </p:nvSpPr>
        <p:spPr>
          <a:xfrm>
            <a:off x="9640133" y="5348764"/>
            <a:ext cx="4196358"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Cada participante presenta su reflexión con apoyo del moderador</a:t>
            </a:r>
            <a:endParaRPr lang="en-US" sz="1750" dirty="0"/>
          </a:p>
        </p:txBody>
      </p:sp>
      <p:sp>
        <p:nvSpPr>
          <p:cNvPr id="17" name="Rectángulo 16">
            <a:extLst>
              <a:ext uri="{FF2B5EF4-FFF2-40B4-BE49-F238E27FC236}">
                <a16:creationId xmlns:a16="http://schemas.microsoft.com/office/drawing/2014/main" id="{BAAE8806-58D2-BD76-B90C-9C5FB303630A}"/>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Código QR&#10;&#10;El contenido generado por IA puede ser incorrecto.">
            <a:extLst>
              <a:ext uri="{FF2B5EF4-FFF2-40B4-BE49-F238E27FC236}">
                <a16:creationId xmlns:a16="http://schemas.microsoft.com/office/drawing/2014/main" id="{D4145508-74E6-509E-5CBB-9C527559BA36}"/>
              </a:ext>
            </a:extLst>
          </p:cNvPr>
          <p:cNvPicPr>
            <a:picLocks noChangeAspect="1"/>
          </p:cNvPicPr>
          <p:nvPr/>
        </p:nvPicPr>
        <p:blipFill>
          <a:blip r:embed="rId2"/>
          <a:stretch>
            <a:fillRect/>
          </a:stretch>
        </p:blipFill>
        <p:spPr>
          <a:xfrm>
            <a:off x="3333404" y="357447"/>
            <a:ext cx="7514705" cy="7514705"/>
          </a:xfrm>
          <a:prstGeom prst="rect">
            <a:avLst/>
          </a:prstGeom>
        </p:spPr>
      </p:pic>
      <p:sp>
        <p:nvSpPr>
          <p:cNvPr id="4" name="Rectángulo 3">
            <a:extLst>
              <a:ext uri="{FF2B5EF4-FFF2-40B4-BE49-F238E27FC236}">
                <a16:creationId xmlns:a16="http://schemas.microsoft.com/office/drawing/2014/main" id="{A4411FF2-030C-41DE-984A-CEFCCF909A9F}"/>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77286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 Texto&#10;&#10;El contenido generado por IA puede ser incorrecto.">
            <a:extLst>
              <a:ext uri="{FF2B5EF4-FFF2-40B4-BE49-F238E27FC236}">
                <a16:creationId xmlns:a16="http://schemas.microsoft.com/office/drawing/2014/main" id="{0C943B01-4C16-629C-87A1-46D589232EAC}"/>
              </a:ext>
            </a:extLst>
          </p:cNvPr>
          <p:cNvPicPr>
            <a:picLocks noChangeAspect="1"/>
          </p:cNvPicPr>
          <p:nvPr/>
        </p:nvPicPr>
        <p:blipFill>
          <a:blip r:embed="rId2"/>
          <a:srcRect b="2460"/>
          <a:stretch>
            <a:fillRect/>
          </a:stretch>
        </p:blipFill>
        <p:spPr>
          <a:xfrm>
            <a:off x="0" y="31897"/>
            <a:ext cx="14630400" cy="8197703"/>
          </a:xfrm>
          <a:prstGeom prst="rect">
            <a:avLst/>
          </a:prstGeom>
        </p:spPr>
      </p:pic>
    </p:spTree>
    <p:extLst>
      <p:ext uri="{BB962C8B-B14F-4D97-AF65-F5344CB8AC3E}">
        <p14:creationId xmlns:p14="http://schemas.microsoft.com/office/powerpoint/2010/main" val="2287685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631865"/>
            <a:ext cx="13042821" cy="1488519"/>
          </a:xfrm>
          <a:prstGeom prst="rect">
            <a:avLst/>
          </a:prstGeom>
          <a:noFill/>
          <a:ln/>
        </p:spPr>
        <p:txBody>
          <a:bodyPr wrap="squar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Propuesta de ajustes a la Evaluación del Desempeño actual</a:t>
            </a:r>
            <a:endParaRPr lang="en-US" sz="4650" dirty="0"/>
          </a:p>
        </p:txBody>
      </p:sp>
      <p:sp>
        <p:nvSpPr>
          <p:cNvPr id="3" name="Shape 1"/>
          <p:cNvSpPr/>
          <p:nvPr/>
        </p:nvSpPr>
        <p:spPr>
          <a:xfrm>
            <a:off x="793790" y="2914174"/>
            <a:ext cx="6407944" cy="2058233"/>
          </a:xfrm>
          <a:prstGeom prst="roundRect">
            <a:avLst>
              <a:gd name="adj" fmla="val 7108"/>
            </a:avLst>
          </a:prstGeom>
          <a:solidFill>
            <a:srgbClr val="FFFFFF"/>
          </a:solidFill>
          <a:ln/>
        </p:spPr>
        <p:txBody>
          <a:bodyPr/>
          <a:lstStyle/>
          <a:p>
            <a:endParaRPr lang="es-CL"/>
          </a:p>
        </p:txBody>
      </p:sp>
      <p:sp>
        <p:nvSpPr>
          <p:cNvPr id="4" name="Shape 2"/>
          <p:cNvSpPr/>
          <p:nvPr/>
        </p:nvSpPr>
        <p:spPr>
          <a:xfrm>
            <a:off x="793790" y="2883694"/>
            <a:ext cx="6407944" cy="121920"/>
          </a:xfrm>
          <a:prstGeom prst="roundRect">
            <a:avLst>
              <a:gd name="adj" fmla="val 27907"/>
            </a:avLst>
          </a:prstGeom>
          <a:solidFill>
            <a:srgbClr val="AFCBF8"/>
          </a:solidFill>
          <a:ln/>
        </p:spPr>
        <p:txBody>
          <a:bodyPr/>
          <a:lstStyle/>
          <a:p>
            <a:endParaRPr lang="es-CL"/>
          </a:p>
        </p:txBody>
      </p:sp>
      <p:sp>
        <p:nvSpPr>
          <p:cNvPr id="5" name="Shape 3"/>
          <p:cNvSpPr/>
          <p:nvPr/>
        </p:nvSpPr>
        <p:spPr>
          <a:xfrm>
            <a:off x="3657540" y="2574012"/>
            <a:ext cx="680442" cy="680442"/>
          </a:xfrm>
          <a:prstGeom prst="roundRect">
            <a:avLst>
              <a:gd name="adj" fmla="val 134383"/>
            </a:avLst>
          </a:prstGeom>
          <a:solidFill>
            <a:srgbClr val="AFCBF8"/>
          </a:solidFill>
          <a:ln/>
        </p:spPr>
        <p:txBody>
          <a:bodyPr/>
          <a:lstStyle/>
          <a:p>
            <a:endParaRPr lang="es-CL"/>
          </a:p>
        </p:txBody>
      </p:sp>
      <p:sp>
        <p:nvSpPr>
          <p:cNvPr id="6" name="Text 4"/>
          <p:cNvSpPr/>
          <p:nvPr/>
        </p:nvSpPr>
        <p:spPr>
          <a:xfrm>
            <a:off x="3861614" y="2744152"/>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PT Serif" pitchFamily="34" charset="0"/>
                <a:ea typeface="PT Serif" pitchFamily="34" charset="-122"/>
                <a:cs typeface="PT Serif" pitchFamily="34" charset="-120"/>
              </a:rPr>
              <a:t>1</a:t>
            </a:r>
            <a:endParaRPr lang="en-US" sz="2100" dirty="0"/>
          </a:p>
        </p:txBody>
      </p:sp>
      <p:sp>
        <p:nvSpPr>
          <p:cNvPr id="7" name="Text 5"/>
          <p:cNvSpPr/>
          <p:nvPr/>
        </p:nvSpPr>
        <p:spPr>
          <a:xfrm>
            <a:off x="1051084" y="3481149"/>
            <a:ext cx="4638913"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Separación cumplimiento y calidad</a:t>
            </a:r>
            <a:endParaRPr lang="en-US" sz="2300" dirty="0"/>
          </a:p>
        </p:txBody>
      </p:sp>
      <p:sp>
        <p:nvSpPr>
          <p:cNvPr id="8" name="Text 6"/>
          <p:cNvSpPr/>
          <p:nvPr/>
        </p:nvSpPr>
        <p:spPr>
          <a:xfrm>
            <a:off x="1051084" y="3989308"/>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Distingue cumplimiento de compromisos de evaluación cualitativa del desempeño</a:t>
            </a:r>
            <a:endParaRPr lang="en-US" sz="1750" dirty="0"/>
          </a:p>
        </p:txBody>
      </p:sp>
      <p:sp>
        <p:nvSpPr>
          <p:cNvPr id="9" name="Shape 7"/>
          <p:cNvSpPr/>
          <p:nvPr/>
        </p:nvSpPr>
        <p:spPr>
          <a:xfrm>
            <a:off x="7428548" y="2914174"/>
            <a:ext cx="6408063" cy="2058233"/>
          </a:xfrm>
          <a:prstGeom prst="roundRect">
            <a:avLst>
              <a:gd name="adj" fmla="val 7108"/>
            </a:avLst>
          </a:prstGeom>
          <a:solidFill>
            <a:srgbClr val="FFFFFF"/>
          </a:solidFill>
          <a:ln/>
        </p:spPr>
        <p:txBody>
          <a:bodyPr/>
          <a:lstStyle/>
          <a:p>
            <a:endParaRPr lang="es-CL"/>
          </a:p>
        </p:txBody>
      </p:sp>
      <p:sp>
        <p:nvSpPr>
          <p:cNvPr id="10" name="Shape 8"/>
          <p:cNvSpPr/>
          <p:nvPr/>
        </p:nvSpPr>
        <p:spPr>
          <a:xfrm>
            <a:off x="7428548" y="2883694"/>
            <a:ext cx="6408063" cy="121920"/>
          </a:xfrm>
          <a:prstGeom prst="roundRect">
            <a:avLst>
              <a:gd name="adj" fmla="val 27907"/>
            </a:avLst>
          </a:prstGeom>
          <a:solidFill>
            <a:srgbClr val="AFCBF8"/>
          </a:solidFill>
          <a:ln/>
        </p:spPr>
        <p:txBody>
          <a:bodyPr/>
          <a:lstStyle/>
          <a:p>
            <a:endParaRPr lang="es-CL"/>
          </a:p>
        </p:txBody>
      </p:sp>
      <p:sp>
        <p:nvSpPr>
          <p:cNvPr id="11" name="Shape 9"/>
          <p:cNvSpPr/>
          <p:nvPr/>
        </p:nvSpPr>
        <p:spPr>
          <a:xfrm>
            <a:off x="10292298" y="2574012"/>
            <a:ext cx="680442" cy="680442"/>
          </a:xfrm>
          <a:prstGeom prst="roundRect">
            <a:avLst>
              <a:gd name="adj" fmla="val 134383"/>
            </a:avLst>
          </a:prstGeom>
          <a:solidFill>
            <a:srgbClr val="AFCBF8"/>
          </a:solidFill>
          <a:ln/>
        </p:spPr>
        <p:txBody>
          <a:bodyPr/>
          <a:lstStyle/>
          <a:p>
            <a:endParaRPr lang="es-CL"/>
          </a:p>
        </p:txBody>
      </p:sp>
      <p:sp>
        <p:nvSpPr>
          <p:cNvPr id="12" name="Text 10"/>
          <p:cNvSpPr/>
          <p:nvPr/>
        </p:nvSpPr>
        <p:spPr>
          <a:xfrm>
            <a:off x="10496371" y="2744152"/>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PT Serif" pitchFamily="34" charset="0"/>
                <a:ea typeface="PT Serif" pitchFamily="34" charset="-122"/>
                <a:cs typeface="PT Serif" pitchFamily="34" charset="-120"/>
              </a:rPr>
              <a:t>2</a:t>
            </a:r>
            <a:endParaRPr lang="en-US" sz="2100" dirty="0"/>
          </a:p>
        </p:txBody>
      </p:sp>
      <p:sp>
        <p:nvSpPr>
          <p:cNvPr id="13" name="Text 11"/>
          <p:cNvSpPr/>
          <p:nvPr/>
        </p:nvSpPr>
        <p:spPr>
          <a:xfrm>
            <a:off x="7685842" y="3481149"/>
            <a:ext cx="3161943"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Evaluación diferenciada</a:t>
            </a:r>
            <a:endParaRPr lang="en-US" sz="2300" dirty="0"/>
          </a:p>
        </p:txBody>
      </p:sp>
      <p:sp>
        <p:nvSpPr>
          <p:cNvPr id="14" name="Text 12"/>
          <p:cNvSpPr/>
          <p:nvPr/>
        </p:nvSpPr>
        <p:spPr>
          <a:xfrm>
            <a:off x="7685842" y="3989308"/>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Reconoce expectativas distintas </a:t>
            </a:r>
            <a:r>
              <a:rPr lang="en-US" sz="1750" dirty="0" err="1">
                <a:solidFill>
                  <a:srgbClr val="383838"/>
                </a:solidFill>
                <a:latin typeface="DM Sans" pitchFamily="34" charset="0"/>
                <a:ea typeface="DM Sans" pitchFamily="34" charset="-122"/>
                <a:cs typeface="DM Sans" pitchFamily="34" charset="-120"/>
              </a:rPr>
              <a:t>según</a:t>
            </a:r>
            <a:r>
              <a:rPr lang="en-US" sz="1750" dirty="0">
                <a:solidFill>
                  <a:srgbClr val="383838"/>
                </a:solidFill>
                <a:latin typeface="DM Sans" pitchFamily="34" charset="0"/>
                <a:ea typeface="DM Sans" pitchFamily="34" charset="-122"/>
                <a:cs typeface="DM Sans" pitchFamily="34" charset="-120"/>
              </a:rPr>
              <a:t> </a:t>
            </a:r>
            <a:r>
              <a:rPr lang="en-US" sz="1750" dirty="0" err="1">
                <a:solidFill>
                  <a:srgbClr val="383838"/>
                </a:solidFill>
                <a:latin typeface="DM Sans" pitchFamily="34" charset="0"/>
                <a:ea typeface="DM Sans" pitchFamily="34" charset="-122"/>
                <a:cs typeface="DM Sans" pitchFamily="34" charset="-120"/>
              </a:rPr>
              <a:t>jerarquía</a:t>
            </a:r>
            <a:r>
              <a:rPr lang="en-US" sz="1750" dirty="0">
                <a:solidFill>
                  <a:srgbClr val="383838"/>
                </a:solidFill>
                <a:latin typeface="DM Sans" pitchFamily="34" charset="0"/>
                <a:ea typeface="DM Sans" pitchFamily="34" charset="-122"/>
                <a:cs typeface="DM Sans" pitchFamily="34" charset="-120"/>
              </a:rPr>
              <a:t> académica</a:t>
            </a:r>
            <a:endParaRPr lang="en-US" sz="1750" dirty="0"/>
          </a:p>
        </p:txBody>
      </p:sp>
      <p:sp>
        <p:nvSpPr>
          <p:cNvPr id="15" name="Shape 13"/>
          <p:cNvSpPr/>
          <p:nvPr/>
        </p:nvSpPr>
        <p:spPr>
          <a:xfrm>
            <a:off x="793790" y="5539383"/>
            <a:ext cx="6407944" cy="2058233"/>
          </a:xfrm>
          <a:prstGeom prst="roundRect">
            <a:avLst>
              <a:gd name="adj" fmla="val 7108"/>
            </a:avLst>
          </a:prstGeom>
          <a:solidFill>
            <a:srgbClr val="FFFFFF"/>
          </a:solidFill>
          <a:ln/>
        </p:spPr>
        <p:txBody>
          <a:bodyPr/>
          <a:lstStyle/>
          <a:p>
            <a:endParaRPr lang="es-CL"/>
          </a:p>
        </p:txBody>
      </p:sp>
      <p:sp>
        <p:nvSpPr>
          <p:cNvPr id="16" name="Shape 14"/>
          <p:cNvSpPr/>
          <p:nvPr/>
        </p:nvSpPr>
        <p:spPr>
          <a:xfrm>
            <a:off x="793790" y="5508903"/>
            <a:ext cx="6407944" cy="121920"/>
          </a:xfrm>
          <a:prstGeom prst="roundRect">
            <a:avLst>
              <a:gd name="adj" fmla="val 27907"/>
            </a:avLst>
          </a:prstGeom>
          <a:solidFill>
            <a:srgbClr val="AFCBF8"/>
          </a:solidFill>
          <a:ln/>
        </p:spPr>
        <p:txBody>
          <a:bodyPr/>
          <a:lstStyle/>
          <a:p>
            <a:endParaRPr lang="es-CL"/>
          </a:p>
        </p:txBody>
      </p:sp>
      <p:sp>
        <p:nvSpPr>
          <p:cNvPr id="17" name="Shape 15"/>
          <p:cNvSpPr/>
          <p:nvPr/>
        </p:nvSpPr>
        <p:spPr>
          <a:xfrm>
            <a:off x="3657540" y="5199221"/>
            <a:ext cx="680442" cy="680442"/>
          </a:xfrm>
          <a:prstGeom prst="roundRect">
            <a:avLst>
              <a:gd name="adj" fmla="val 134383"/>
            </a:avLst>
          </a:prstGeom>
          <a:solidFill>
            <a:srgbClr val="AFCBF8"/>
          </a:solidFill>
          <a:ln/>
        </p:spPr>
        <p:txBody>
          <a:bodyPr/>
          <a:lstStyle/>
          <a:p>
            <a:endParaRPr lang="es-CL"/>
          </a:p>
        </p:txBody>
      </p:sp>
      <p:sp>
        <p:nvSpPr>
          <p:cNvPr id="18" name="Text 16"/>
          <p:cNvSpPr/>
          <p:nvPr/>
        </p:nvSpPr>
        <p:spPr>
          <a:xfrm>
            <a:off x="3861614" y="5369362"/>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PT Serif" pitchFamily="34" charset="0"/>
                <a:ea typeface="PT Serif" pitchFamily="34" charset="-122"/>
                <a:cs typeface="PT Serif" pitchFamily="34" charset="-120"/>
              </a:rPr>
              <a:t>3</a:t>
            </a:r>
            <a:endParaRPr lang="en-US" sz="2100" dirty="0"/>
          </a:p>
        </p:txBody>
      </p:sp>
      <p:sp>
        <p:nvSpPr>
          <p:cNvPr id="19" name="Text 17"/>
          <p:cNvSpPr/>
          <p:nvPr/>
        </p:nvSpPr>
        <p:spPr>
          <a:xfrm>
            <a:off x="1051084" y="6106358"/>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Criterios explícitos</a:t>
            </a:r>
            <a:endParaRPr lang="en-US" sz="2300" dirty="0"/>
          </a:p>
        </p:txBody>
      </p:sp>
      <p:sp>
        <p:nvSpPr>
          <p:cNvPr id="20" name="Text 18"/>
          <p:cNvSpPr/>
          <p:nvPr/>
        </p:nvSpPr>
        <p:spPr>
          <a:xfrm>
            <a:off x="1051084" y="6614517"/>
            <a:ext cx="5893356"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Rúbricas holísticas fortalecen objetividad, transparencia y consistencia</a:t>
            </a:r>
            <a:endParaRPr lang="en-US" sz="1750" dirty="0"/>
          </a:p>
        </p:txBody>
      </p:sp>
      <p:sp>
        <p:nvSpPr>
          <p:cNvPr id="21" name="Shape 19"/>
          <p:cNvSpPr/>
          <p:nvPr/>
        </p:nvSpPr>
        <p:spPr>
          <a:xfrm>
            <a:off x="7428548" y="5539383"/>
            <a:ext cx="6408063" cy="2058233"/>
          </a:xfrm>
          <a:prstGeom prst="roundRect">
            <a:avLst>
              <a:gd name="adj" fmla="val 7108"/>
            </a:avLst>
          </a:prstGeom>
          <a:solidFill>
            <a:srgbClr val="FFFFFF"/>
          </a:solidFill>
          <a:ln/>
        </p:spPr>
        <p:txBody>
          <a:bodyPr/>
          <a:lstStyle/>
          <a:p>
            <a:endParaRPr lang="es-CL"/>
          </a:p>
        </p:txBody>
      </p:sp>
      <p:sp>
        <p:nvSpPr>
          <p:cNvPr id="22" name="Shape 20"/>
          <p:cNvSpPr/>
          <p:nvPr/>
        </p:nvSpPr>
        <p:spPr>
          <a:xfrm>
            <a:off x="7428548" y="5508903"/>
            <a:ext cx="6408063" cy="121920"/>
          </a:xfrm>
          <a:prstGeom prst="roundRect">
            <a:avLst>
              <a:gd name="adj" fmla="val 27907"/>
            </a:avLst>
          </a:prstGeom>
          <a:solidFill>
            <a:srgbClr val="AFCBF8"/>
          </a:solidFill>
          <a:ln/>
        </p:spPr>
        <p:txBody>
          <a:bodyPr/>
          <a:lstStyle/>
          <a:p>
            <a:endParaRPr lang="es-CL"/>
          </a:p>
        </p:txBody>
      </p:sp>
      <p:sp>
        <p:nvSpPr>
          <p:cNvPr id="23" name="Shape 21"/>
          <p:cNvSpPr/>
          <p:nvPr/>
        </p:nvSpPr>
        <p:spPr>
          <a:xfrm>
            <a:off x="10292298" y="5199221"/>
            <a:ext cx="680442" cy="680442"/>
          </a:xfrm>
          <a:prstGeom prst="roundRect">
            <a:avLst>
              <a:gd name="adj" fmla="val 134383"/>
            </a:avLst>
          </a:prstGeom>
          <a:solidFill>
            <a:srgbClr val="AFCBF8"/>
          </a:solidFill>
          <a:ln/>
        </p:spPr>
        <p:txBody>
          <a:bodyPr/>
          <a:lstStyle/>
          <a:p>
            <a:endParaRPr lang="es-CL"/>
          </a:p>
        </p:txBody>
      </p:sp>
      <p:sp>
        <p:nvSpPr>
          <p:cNvPr id="24" name="Text 22"/>
          <p:cNvSpPr/>
          <p:nvPr/>
        </p:nvSpPr>
        <p:spPr>
          <a:xfrm>
            <a:off x="10496371" y="5369362"/>
            <a:ext cx="272177" cy="340162"/>
          </a:xfrm>
          <a:prstGeom prst="rect">
            <a:avLst/>
          </a:prstGeom>
          <a:noFill/>
          <a:ln/>
        </p:spPr>
        <p:txBody>
          <a:bodyPr wrap="none" lIns="0" tIns="0" rIns="0" bIns="0" rtlCol="0" anchor="t"/>
          <a:lstStyle/>
          <a:p>
            <a:pPr marL="0" indent="0" algn="l">
              <a:lnSpc>
                <a:spcPts val="3400"/>
              </a:lnSpc>
              <a:buNone/>
            </a:pPr>
            <a:r>
              <a:rPr lang="en-US" sz="2100" dirty="0">
                <a:solidFill>
                  <a:srgbClr val="000000"/>
                </a:solidFill>
                <a:latin typeface="PT Serif" pitchFamily="34" charset="0"/>
                <a:ea typeface="PT Serif" pitchFamily="34" charset="-122"/>
                <a:cs typeface="PT Serif" pitchFamily="34" charset="-120"/>
              </a:rPr>
              <a:t>4</a:t>
            </a:r>
            <a:endParaRPr lang="en-US" sz="2100" dirty="0"/>
          </a:p>
        </p:txBody>
      </p:sp>
      <p:sp>
        <p:nvSpPr>
          <p:cNvPr id="25" name="Text 23"/>
          <p:cNvSpPr/>
          <p:nvPr/>
        </p:nvSpPr>
        <p:spPr>
          <a:xfrm>
            <a:off x="7685842" y="6106358"/>
            <a:ext cx="4211122" cy="372070"/>
          </a:xfrm>
          <a:prstGeom prst="rect">
            <a:avLst/>
          </a:prstGeom>
          <a:noFill/>
          <a:ln/>
        </p:spPr>
        <p:txBody>
          <a:bodyPr wrap="none" lIns="0" tIns="0" rIns="0" bIns="0" rtlCol="0" anchor="t"/>
          <a:lstStyle/>
          <a:p>
            <a:pPr marL="0" indent="0" algn="l">
              <a:lnSpc>
                <a:spcPts val="2900"/>
              </a:lnSpc>
              <a:buNone/>
            </a:pPr>
            <a:r>
              <a:rPr lang="en-US" sz="2300" dirty="0">
                <a:solidFill>
                  <a:srgbClr val="383838"/>
                </a:solidFill>
                <a:latin typeface="PT Serif" pitchFamily="34" charset="0"/>
                <a:ea typeface="PT Serif" pitchFamily="34" charset="-122"/>
                <a:cs typeface="PT Serif" pitchFamily="34" charset="-120"/>
              </a:rPr>
              <a:t>Retroalimentación estructurada</a:t>
            </a:r>
            <a:endParaRPr lang="en-US" sz="2300" dirty="0"/>
          </a:p>
        </p:txBody>
      </p:sp>
      <p:sp>
        <p:nvSpPr>
          <p:cNvPr id="26" name="Text 24"/>
          <p:cNvSpPr/>
          <p:nvPr/>
        </p:nvSpPr>
        <p:spPr>
          <a:xfrm>
            <a:off x="7685842" y="6614517"/>
            <a:ext cx="5893475" cy="725805"/>
          </a:xfrm>
          <a:prstGeom prst="rect">
            <a:avLst/>
          </a:prstGeom>
          <a:noFill/>
          <a:ln/>
        </p:spPr>
        <p:txBody>
          <a:bodyPr wrap="square" lIns="0" tIns="0" rIns="0" bIns="0" rtlCol="0" anchor="t"/>
          <a:lstStyle/>
          <a:p>
            <a:pPr marL="0" indent="0" algn="l">
              <a:lnSpc>
                <a:spcPts val="2850"/>
              </a:lnSpc>
              <a:buNone/>
            </a:pPr>
            <a:r>
              <a:rPr lang="en-US" sz="1750" dirty="0">
                <a:solidFill>
                  <a:srgbClr val="383838"/>
                </a:solidFill>
                <a:latin typeface="DM Sans" pitchFamily="34" charset="0"/>
                <a:ea typeface="DM Sans" pitchFamily="34" charset="-122"/>
                <a:cs typeface="DM Sans" pitchFamily="34" charset="-120"/>
              </a:rPr>
              <a:t>Obligatoria como parte del proceso para orientar mejora y desarrollo</a:t>
            </a:r>
            <a:endParaRPr lang="en-US" sz="1750" dirty="0"/>
          </a:p>
        </p:txBody>
      </p:sp>
      <p:sp>
        <p:nvSpPr>
          <p:cNvPr id="27" name="Rectángulo 26">
            <a:extLst>
              <a:ext uri="{FF2B5EF4-FFF2-40B4-BE49-F238E27FC236}">
                <a16:creationId xmlns:a16="http://schemas.microsoft.com/office/drawing/2014/main" id="{ED4A05F9-9DD4-16FB-EFCC-359A254D8FAF}"/>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F8F55-D096-777D-7D9F-B9D81A4A37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76A5435-07E2-5EB4-B67A-A072B9F2985A}"/>
              </a:ext>
            </a:extLst>
          </p:cNvPr>
          <p:cNvSpPr/>
          <p:nvPr/>
        </p:nvSpPr>
        <p:spPr>
          <a:xfrm>
            <a:off x="769382" y="999569"/>
            <a:ext cx="11101193" cy="744260"/>
          </a:xfrm>
          <a:prstGeom prst="rect">
            <a:avLst/>
          </a:prstGeom>
          <a:noFill/>
          <a:ln/>
        </p:spPr>
        <p:txBody>
          <a:bodyPr wrap="none" lIns="0" tIns="0" rIns="0" bIns="0" rtlCol="0" anchor="t"/>
          <a:lstStyle/>
          <a:p>
            <a:pPr>
              <a:lnSpc>
                <a:spcPts val="5850"/>
              </a:lnSpc>
            </a:pPr>
            <a:r>
              <a:rPr lang="es-ES" sz="4800" dirty="0">
                <a:solidFill>
                  <a:srgbClr val="020202"/>
                </a:solidFill>
                <a:latin typeface="PT Serif" pitchFamily="34" charset="0"/>
              </a:rPr>
              <a:t>Sistema de calificación y ponderaciones</a:t>
            </a:r>
            <a:endParaRPr lang="en-US" sz="4650" dirty="0"/>
          </a:p>
        </p:txBody>
      </p:sp>
      <p:sp>
        <p:nvSpPr>
          <p:cNvPr id="4" name="Shape 2">
            <a:extLst>
              <a:ext uri="{FF2B5EF4-FFF2-40B4-BE49-F238E27FC236}">
                <a16:creationId xmlns:a16="http://schemas.microsoft.com/office/drawing/2014/main" id="{9DB178D0-4141-713A-0828-C0F4F9B61FDA}"/>
              </a:ext>
            </a:extLst>
          </p:cNvPr>
          <p:cNvSpPr/>
          <p:nvPr/>
        </p:nvSpPr>
        <p:spPr>
          <a:xfrm>
            <a:off x="2098115" y="2975301"/>
            <a:ext cx="4196358" cy="2957751"/>
          </a:xfrm>
          <a:prstGeom prst="roundRect">
            <a:avLst>
              <a:gd name="adj" fmla="val 1150"/>
            </a:avLst>
          </a:prstGeom>
          <a:solidFill>
            <a:srgbClr val="F2EEEE"/>
          </a:solidFill>
          <a:ln/>
        </p:spPr>
        <p:txBody>
          <a:bodyPr/>
          <a:lstStyle/>
          <a:p>
            <a:endParaRPr lang="es-CL"/>
          </a:p>
        </p:txBody>
      </p:sp>
      <p:sp>
        <p:nvSpPr>
          <p:cNvPr id="5" name="Shape 3">
            <a:extLst>
              <a:ext uri="{FF2B5EF4-FFF2-40B4-BE49-F238E27FC236}">
                <a16:creationId xmlns:a16="http://schemas.microsoft.com/office/drawing/2014/main" id="{0AB6950B-EDEA-6462-0E80-C57F2F6B7688}"/>
              </a:ext>
            </a:extLst>
          </p:cNvPr>
          <p:cNvSpPr/>
          <p:nvPr/>
        </p:nvSpPr>
        <p:spPr>
          <a:xfrm>
            <a:off x="2324929" y="3202115"/>
            <a:ext cx="680442" cy="680442"/>
          </a:xfrm>
          <a:prstGeom prst="roundRect">
            <a:avLst>
              <a:gd name="adj" fmla="val 13436980"/>
            </a:avLst>
          </a:prstGeom>
          <a:solidFill>
            <a:srgbClr val="E04F00"/>
          </a:solidFill>
          <a:ln/>
        </p:spPr>
        <p:txBody>
          <a:bodyPr/>
          <a:lstStyle/>
          <a:p>
            <a:endParaRPr lang="es-CL"/>
          </a:p>
        </p:txBody>
      </p:sp>
      <p:pic>
        <p:nvPicPr>
          <p:cNvPr id="6" name="Image 0" descr="preencoded.png">
            <a:extLst>
              <a:ext uri="{FF2B5EF4-FFF2-40B4-BE49-F238E27FC236}">
                <a16:creationId xmlns:a16="http://schemas.microsoft.com/office/drawing/2014/main" id="{20D290CB-6D88-9A87-9281-2158FAAEC54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2095" y="3389162"/>
            <a:ext cx="306110" cy="306110"/>
          </a:xfrm>
          <a:prstGeom prst="rect">
            <a:avLst/>
          </a:prstGeom>
        </p:spPr>
      </p:pic>
      <p:sp>
        <p:nvSpPr>
          <p:cNvPr id="9" name="Shape 6">
            <a:extLst>
              <a:ext uri="{FF2B5EF4-FFF2-40B4-BE49-F238E27FC236}">
                <a16:creationId xmlns:a16="http://schemas.microsoft.com/office/drawing/2014/main" id="{5E8AD3A8-77E4-CFBF-8573-0CA6F3BDBE3F}"/>
              </a:ext>
            </a:extLst>
          </p:cNvPr>
          <p:cNvSpPr/>
          <p:nvPr/>
        </p:nvSpPr>
        <p:spPr>
          <a:xfrm>
            <a:off x="8259421" y="2975301"/>
            <a:ext cx="4196358" cy="2957751"/>
          </a:xfrm>
          <a:prstGeom prst="roundRect">
            <a:avLst>
              <a:gd name="adj" fmla="val 1150"/>
            </a:avLst>
          </a:prstGeom>
          <a:solidFill>
            <a:srgbClr val="F2EEEE"/>
          </a:solidFill>
          <a:ln/>
        </p:spPr>
        <p:txBody>
          <a:bodyPr/>
          <a:lstStyle/>
          <a:p>
            <a:endParaRPr lang="es-CL"/>
          </a:p>
        </p:txBody>
      </p:sp>
      <p:sp>
        <p:nvSpPr>
          <p:cNvPr id="10" name="Shape 7">
            <a:extLst>
              <a:ext uri="{FF2B5EF4-FFF2-40B4-BE49-F238E27FC236}">
                <a16:creationId xmlns:a16="http://schemas.microsoft.com/office/drawing/2014/main" id="{012544F1-6022-DDEB-ACBA-28C4324903CC}"/>
              </a:ext>
            </a:extLst>
          </p:cNvPr>
          <p:cNvSpPr/>
          <p:nvPr/>
        </p:nvSpPr>
        <p:spPr>
          <a:xfrm>
            <a:off x="8486235" y="3202115"/>
            <a:ext cx="680442" cy="680442"/>
          </a:xfrm>
          <a:prstGeom prst="roundRect">
            <a:avLst>
              <a:gd name="adj" fmla="val 13436980"/>
            </a:avLst>
          </a:prstGeom>
          <a:solidFill>
            <a:srgbClr val="E04F00"/>
          </a:solidFill>
          <a:ln/>
        </p:spPr>
        <p:txBody>
          <a:bodyPr/>
          <a:lstStyle/>
          <a:p>
            <a:endParaRPr lang="es-CL"/>
          </a:p>
        </p:txBody>
      </p:sp>
      <p:pic>
        <p:nvPicPr>
          <p:cNvPr id="11" name="Image 1" descr="preencoded.png">
            <a:extLst>
              <a:ext uri="{FF2B5EF4-FFF2-40B4-BE49-F238E27FC236}">
                <a16:creationId xmlns:a16="http://schemas.microsoft.com/office/drawing/2014/main" id="{8F745094-BFA1-219B-284C-ED91049430C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673401" y="3389162"/>
            <a:ext cx="306110" cy="306110"/>
          </a:xfrm>
          <a:prstGeom prst="rect">
            <a:avLst/>
          </a:prstGeom>
        </p:spPr>
      </p:pic>
      <p:sp>
        <p:nvSpPr>
          <p:cNvPr id="20" name="Shape 11">
            <a:extLst>
              <a:ext uri="{FF2B5EF4-FFF2-40B4-BE49-F238E27FC236}">
                <a16:creationId xmlns:a16="http://schemas.microsoft.com/office/drawing/2014/main" id="{3C6DA0CE-DF94-1D3A-522A-61510AE97656}"/>
              </a:ext>
            </a:extLst>
          </p:cNvPr>
          <p:cNvSpPr/>
          <p:nvPr/>
        </p:nvSpPr>
        <p:spPr>
          <a:xfrm>
            <a:off x="793790" y="6254860"/>
            <a:ext cx="13042821" cy="963811"/>
          </a:xfrm>
          <a:prstGeom prst="roundRect">
            <a:avLst>
              <a:gd name="adj" fmla="val 3530"/>
            </a:avLst>
          </a:prstGeom>
          <a:solidFill>
            <a:srgbClr val="FFCDB3"/>
          </a:solidFill>
          <a:ln/>
        </p:spPr>
        <p:txBody>
          <a:bodyPr/>
          <a:lstStyle/>
          <a:p>
            <a:endParaRPr lang="es-CL"/>
          </a:p>
        </p:txBody>
      </p:sp>
      <p:sp>
        <p:nvSpPr>
          <p:cNvPr id="24" name="CuadroTexto 23">
            <a:extLst>
              <a:ext uri="{FF2B5EF4-FFF2-40B4-BE49-F238E27FC236}">
                <a16:creationId xmlns:a16="http://schemas.microsoft.com/office/drawing/2014/main" id="{E83FCC30-39DA-1D5D-5C0A-9B01B50AB51F}"/>
              </a:ext>
            </a:extLst>
          </p:cNvPr>
          <p:cNvSpPr txBox="1"/>
          <p:nvPr/>
        </p:nvSpPr>
        <p:spPr>
          <a:xfrm>
            <a:off x="2174621" y="3929058"/>
            <a:ext cx="4119852" cy="1815882"/>
          </a:xfrm>
          <a:prstGeom prst="rect">
            <a:avLst/>
          </a:prstGeom>
          <a:noFill/>
        </p:spPr>
        <p:txBody>
          <a:bodyPr wrap="square">
            <a:spAutoFit/>
          </a:bodyPr>
          <a:lstStyle/>
          <a:p>
            <a:r>
              <a:rPr lang="es-ES" sz="2800" dirty="0">
                <a:latin typeface="PT Serif" panose="020A0603040505020204" pitchFamily="18" charset="0"/>
              </a:rPr>
              <a:t>a) Verificación del cumplimiento de compromisos académicos (CCA).</a:t>
            </a:r>
          </a:p>
        </p:txBody>
      </p:sp>
      <p:sp>
        <p:nvSpPr>
          <p:cNvPr id="26" name="CuadroTexto 25">
            <a:extLst>
              <a:ext uri="{FF2B5EF4-FFF2-40B4-BE49-F238E27FC236}">
                <a16:creationId xmlns:a16="http://schemas.microsoft.com/office/drawing/2014/main" id="{67B8A6A2-B746-F0AD-DDD4-5485A0CA5925}"/>
              </a:ext>
            </a:extLst>
          </p:cNvPr>
          <p:cNvSpPr txBox="1"/>
          <p:nvPr/>
        </p:nvSpPr>
        <p:spPr>
          <a:xfrm>
            <a:off x="8259421" y="3929058"/>
            <a:ext cx="4196358" cy="1815882"/>
          </a:xfrm>
          <a:prstGeom prst="rect">
            <a:avLst/>
          </a:prstGeom>
          <a:noFill/>
        </p:spPr>
        <p:txBody>
          <a:bodyPr wrap="square">
            <a:spAutoFit/>
          </a:bodyPr>
          <a:lstStyle>
            <a:defPPr>
              <a:defRPr lang="es-CL"/>
            </a:defPPr>
            <a:lvl1pPr>
              <a:defRPr>
                <a:latin typeface="PT Serif" panose="020A0603040505020204" pitchFamily="18" charset="0"/>
              </a:defRPr>
            </a:lvl1pPr>
          </a:lstStyle>
          <a:p>
            <a:r>
              <a:rPr lang="es-ES" sz="2800" dirty="0"/>
              <a:t>b) Evaluación cualitativa del desempeño académico según jerarquía (DAJ).</a:t>
            </a:r>
          </a:p>
        </p:txBody>
      </p:sp>
      <p:sp>
        <p:nvSpPr>
          <p:cNvPr id="27" name="CuadroTexto 26">
            <a:extLst>
              <a:ext uri="{FF2B5EF4-FFF2-40B4-BE49-F238E27FC236}">
                <a16:creationId xmlns:a16="http://schemas.microsoft.com/office/drawing/2014/main" id="{BD69B560-3B14-7539-AFDA-F5B8BCD48C20}"/>
              </a:ext>
            </a:extLst>
          </p:cNvPr>
          <p:cNvSpPr txBox="1"/>
          <p:nvPr/>
        </p:nvSpPr>
        <p:spPr>
          <a:xfrm>
            <a:off x="3919771" y="6442972"/>
            <a:ext cx="7202658" cy="523220"/>
          </a:xfrm>
          <a:prstGeom prst="rect">
            <a:avLst/>
          </a:prstGeom>
          <a:noFill/>
        </p:spPr>
        <p:txBody>
          <a:bodyPr wrap="square">
            <a:spAutoFit/>
          </a:bodyPr>
          <a:lstStyle/>
          <a:p>
            <a:r>
              <a:rPr lang="es-ES" sz="2800" dirty="0">
                <a:latin typeface="PT Serif" panose="020A0603040505020204" pitchFamily="18" charset="0"/>
              </a:rPr>
              <a:t>¿Cuánto debería pesar cada componente?</a:t>
            </a:r>
          </a:p>
        </p:txBody>
      </p:sp>
      <p:sp>
        <p:nvSpPr>
          <p:cNvPr id="28" name="Rectángulo 27">
            <a:extLst>
              <a:ext uri="{FF2B5EF4-FFF2-40B4-BE49-F238E27FC236}">
                <a16:creationId xmlns:a16="http://schemas.microsoft.com/office/drawing/2014/main" id="{C7D8ED1A-0B9A-78F9-F954-38797CF2C92D}"/>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589605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abla&#10;&#10;El contenido generado por IA puede ser incorrecto.">
            <a:extLst>
              <a:ext uri="{FF2B5EF4-FFF2-40B4-BE49-F238E27FC236}">
                <a16:creationId xmlns:a16="http://schemas.microsoft.com/office/drawing/2014/main" id="{36BE2067-A09C-CA81-5C60-FEE69BEE1CFD}"/>
              </a:ext>
            </a:extLst>
          </p:cNvPr>
          <p:cNvPicPr>
            <a:picLocks noChangeAspect="1"/>
          </p:cNvPicPr>
          <p:nvPr/>
        </p:nvPicPr>
        <p:blipFill>
          <a:blip r:embed="rId2"/>
          <a:stretch>
            <a:fillRect/>
          </a:stretch>
        </p:blipFill>
        <p:spPr>
          <a:xfrm>
            <a:off x="1" y="0"/>
            <a:ext cx="14637666" cy="6862906"/>
          </a:xfrm>
          <a:prstGeom prst="rect">
            <a:avLst/>
          </a:prstGeom>
        </p:spPr>
      </p:pic>
      <p:sp>
        <p:nvSpPr>
          <p:cNvPr id="4" name="Rectángulo 3">
            <a:extLst>
              <a:ext uri="{FF2B5EF4-FFF2-40B4-BE49-F238E27FC236}">
                <a16:creationId xmlns:a16="http://schemas.microsoft.com/office/drawing/2014/main" id="{E786522B-9EDA-671E-F2C7-4EB7447C175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 name="Shape 11">
            <a:extLst>
              <a:ext uri="{FF2B5EF4-FFF2-40B4-BE49-F238E27FC236}">
                <a16:creationId xmlns:a16="http://schemas.microsoft.com/office/drawing/2014/main" id="{2E0E5940-7321-2516-B1F8-D7E1AEDE66DF}"/>
              </a:ext>
            </a:extLst>
          </p:cNvPr>
          <p:cNvSpPr/>
          <p:nvPr/>
        </p:nvSpPr>
        <p:spPr>
          <a:xfrm>
            <a:off x="793790" y="6862906"/>
            <a:ext cx="13042821" cy="668425"/>
          </a:xfrm>
          <a:prstGeom prst="roundRect">
            <a:avLst>
              <a:gd name="adj" fmla="val 3530"/>
            </a:avLst>
          </a:prstGeom>
          <a:solidFill>
            <a:srgbClr val="FFCDB3"/>
          </a:solidFill>
          <a:ln/>
        </p:spPr>
        <p:txBody>
          <a:bodyPr/>
          <a:lstStyle/>
          <a:p>
            <a:endParaRPr lang="es-CL"/>
          </a:p>
        </p:txBody>
      </p:sp>
      <p:sp>
        <p:nvSpPr>
          <p:cNvPr id="6" name="CuadroTexto 5">
            <a:extLst>
              <a:ext uri="{FF2B5EF4-FFF2-40B4-BE49-F238E27FC236}">
                <a16:creationId xmlns:a16="http://schemas.microsoft.com/office/drawing/2014/main" id="{039B9F68-BA60-6B4A-E9B6-20CC615C5C3F}"/>
              </a:ext>
            </a:extLst>
          </p:cNvPr>
          <p:cNvSpPr txBox="1"/>
          <p:nvPr/>
        </p:nvSpPr>
        <p:spPr>
          <a:xfrm>
            <a:off x="2273850" y="6950430"/>
            <a:ext cx="11691531" cy="523220"/>
          </a:xfrm>
          <a:prstGeom prst="rect">
            <a:avLst/>
          </a:prstGeom>
          <a:noFill/>
        </p:spPr>
        <p:txBody>
          <a:bodyPr wrap="square">
            <a:spAutoFit/>
          </a:bodyPr>
          <a:lstStyle/>
          <a:p>
            <a:r>
              <a:rPr lang="es-ES" sz="2800" dirty="0">
                <a:solidFill>
                  <a:schemeClr val="tx1">
                    <a:lumMod val="85000"/>
                    <a:lumOff val="15000"/>
                  </a:schemeClr>
                </a:solidFill>
                <a:latin typeface="PT Serif" panose="020A0603040505020204" pitchFamily="18" charset="0"/>
              </a:rPr>
              <a:t>Mide la ejecución de la carga declarada sin distinguir por área</a:t>
            </a:r>
          </a:p>
        </p:txBody>
      </p:sp>
    </p:spTree>
    <p:extLst>
      <p:ext uri="{BB962C8B-B14F-4D97-AF65-F5344CB8AC3E}">
        <p14:creationId xmlns:p14="http://schemas.microsoft.com/office/powerpoint/2010/main" val="3722988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descr="Diagrama&#10;&#10;El contenido generado por IA puede ser incorrecto.">
            <a:extLst>
              <a:ext uri="{FF2B5EF4-FFF2-40B4-BE49-F238E27FC236}">
                <a16:creationId xmlns:a16="http://schemas.microsoft.com/office/drawing/2014/main" id="{21EA79DA-79A7-DB9D-135B-FCC254CF0112}"/>
              </a:ext>
            </a:extLst>
          </p:cNvPr>
          <p:cNvPicPr>
            <a:picLocks noChangeAspect="1"/>
          </p:cNvPicPr>
          <p:nvPr/>
        </p:nvPicPr>
        <p:blipFill>
          <a:blip r:embed="rId2"/>
          <a:stretch>
            <a:fillRect/>
          </a:stretch>
        </p:blipFill>
        <p:spPr>
          <a:xfrm>
            <a:off x="603007" y="490567"/>
            <a:ext cx="14027393" cy="7248465"/>
          </a:xfrm>
          <a:prstGeom prst="rect">
            <a:avLst/>
          </a:prstGeom>
        </p:spPr>
      </p:pic>
      <p:sp>
        <p:nvSpPr>
          <p:cNvPr id="9" name="CuadroTexto 8">
            <a:extLst>
              <a:ext uri="{FF2B5EF4-FFF2-40B4-BE49-F238E27FC236}">
                <a16:creationId xmlns:a16="http://schemas.microsoft.com/office/drawing/2014/main" id="{2FA20BD5-DF87-A98E-5D23-5AED835832B6}"/>
              </a:ext>
            </a:extLst>
          </p:cNvPr>
          <p:cNvSpPr txBox="1"/>
          <p:nvPr/>
        </p:nvSpPr>
        <p:spPr>
          <a:xfrm>
            <a:off x="8927868" y="1978584"/>
            <a:ext cx="5448659" cy="830997"/>
          </a:xfrm>
          <a:prstGeom prst="rect">
            <a:avLst/>
          </a:prstGeom>
          <a:solidFill>
            <a:srgbClr val="022352"/>
          </a:solidFill>
        </p:spPr>
        <p:txBody>
          <a:bodyPr wrap="square">
            <a:spAutoFit/>
          </a:bodyPr>
          <a:lstStyle/>
          <a:p>
            <a:r>
              <a:rPr lang="es-ES" sz="1600" dirty="0">
                <a:solidFill>
                  <a:schemeClr val="bg1"/>
                </a:solidFill>
                <a:latin typeface="Aptos SemiBold" panose="020F0502020204030204" pitchFamily="34" charset="0"/>
              </a:rPr>
              <a:t>Se verifica si el desempeño evidenciado es coherente con el perfil esperado para la jerarquía del académico, en términos del Decreto N°26:</a:t>
            </a:r>
          </a:p>
        </p:txBody>
      </p:sp>
      <p:sp>
        <p:nvSpPr>
          <p:cNvPr id="12" name="Rectángulo 11">
            <a:extLst>
              <a:ext uri="{FF2B5EF4-FFF2-40B4-BE49-F238E27FC236}">
                <a16:creationId xmlns:a16="http://schemas.microsoft.com/office/drawing/2014/main" id="{E316D0D1-E3EA-4107-A2B6-0DD1609CB106}"/>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747636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F1CF-8F7A-3AD0-6E46-CB433718FB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23527F-5C69-20FA-FAC7-15BCD0A2E9AB}"/>
              </a:ext>
            </a:extLst>
          </p:cNvPr>
          <p:cNvSpPr>
            <a:spLocks noGrp="1"/>
          </p:cNvSpPr>
          <p:nvPr>
            <p:ph type="title"/>
          </p:nvPr>
        </p:nvSpPr>
        <p:spPr>
          <a:xfrm>
            <a:off x="1005840" y="113622"/>
            <a:ext cx="12618720" cy="1590676"/>
          </a:xfrm>
          <a:noFill/>
          <a:ln/>
        </p:spPr>
        <p:txBody>
          <a:bodyPr wrap="square" lIns="0" tIns="0" rIns="0" bIns="0" rtlCol="0" anchor="t"/>
          <a:lstStyle/>
          <a:p>
            <a:pPr algn="l">
              <a:lnSpc>
                <a:spcPts val="5850"/>
              </a:lnSpc>
            </a:pPr>
            <a:r>
              <a:rPr lang="es-ES" sz="4000" dirty="0">
                <a:solidFill>
                  <a:srgbClr val="020202"/>
                </a:solidFill>
                <a:latin typeface="PT Serif" pitchFamily="34" charset="0"/>
              </a:rPr>
              <a:t>b) Evaluación cualitativa del desempeño académico según jerarquía (DAJ)</a:t>
            </a:r>
            <a:endParaRPr lang="es-CL" sz="4000" dirty="0">
              <a:solidFill>
                <a:srgbClr val="020202"/>
              </a:solidFill>
              <a:latin typeface="PT Serif" pitchFamily="34" charset="0"/>
            </a:endParaRPr>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6E0F4FC2-44D9-1BF0-D7D9-634C6E9E38ED}"/>
                  </a:ext>
                </a:extLst>
              </p:cNvPr>
              <p:cNvSpPr txBox="1"/>
              <p:nvPr/>
            </p:nvSpPr>
            <p:spPr>
              <a:xfrm>
                <a:off x="3744615" y="2625351"/>
                <a:ext cx="6891922" cy="2168671"/>
              </a:xfrm>
              <a:prstGeom prst="rect">
                <a:avLst/>
              </a:prstGeom>
              <a:noFill/>
            </p:spPr>
            <p:txBody>
              <a:bodyPr wrap="square">
                <a:spAutoFit/>
              </a:bodyPr>
              <a:lstStyle/>
              <a:p>
                <a:pPr>
                  <a:buNone/>
                </a:pPr>
                <a:r>
                  <a:rPr lang="es-CL" sz="2160" b="1" dirty="0">
                    <a:latin typeface="PT Serif" panose="020A0603040505020204" pitchFamily="18" charset="0"/>
                  </a:rPr>
                  <a:t>El DAJ se obtiene con la siguiente fórmula:</a:t>
                </a:r>
              </a:p>
              <a:p>
                <a:pPr>
                  <a:buNone/>
                </a:pPr>
                <a:endParaRPr lang="es-CL" sz="2160" dirty="0"/>
              </a:p>
              <a:p>
                <a:pPr>
                  <a:buNone/>
                </a:pPr>
                <a14:m>
                  <m:oMathPara xmlns:m="http://schemas.openxmlformats.org/officeDocument/2006/math">
                    <m:oMathParaPr>
                      <m:jc m:val="centerGroup"/>
                    </m:oMathParaPr>
                    <m:oMath xmlns:m="http://schemas.openxmlformats.org/officeDocument/2006/math">
                      <m:r>
                        <a:rPr lang="es-CL" sz="3360" i="1">
                          <a:latin typeface="Cambria Math" panose="02040503050406030204" pitchFamily="18" charset="0"/>
                        </a:rPr>
                        <m:t>𝐷𝐴𝐽</m:t>
                      </m:r>
                      <m:r>
                        <a:rPr lang="es-CL" sz="3360">
                          <a:latin typeface="Cambria Math" panose="02040503050406030204" pitchFamily="18" charset="0"/>
                        </a:rPr>
                        <m:t>=</m:t>
                      </m:r>
                      <m:nary>
                        <m:naryPr>
                          <m:chr m:val="∑"/>
                          <m:grow m:val="on"/>
                          <m:ctrlPr>
                            <a:rPr lang="ar-AE" sz="3360" i="1">
                              <a:latin typeface="Cambria Math" panose="02040503050406030204" pitchFamily="18" charset="0"/>
                            </a:rPr>
                          </m:ctrlPr>
                        </m:naryPr>
                        <m:sub>
                          <m:r>
                            <a:rPr lang="ar-AE" sz="3360" i="1">
                              <a:latin typeface="Cambria Math" panose="02040503050406030204" pitchFamily="18" charset="0"/>
                            </a:rPr>
                            <m:t>𝑖</m:t>
                          </m:r>
                          <m:r>
                            <a:rPr lang="ar-AE" sz="3360">
                              <a:latin typeface="Cambria Math" panose="02040503050406030204" pitchFamily="18" charset="0"/>
                            </a:rPr>
                            <m:t>=</m:t>
                          </m:r>
                          <m:r>
                            <a:rPr lang="ar-AE" sz="3360">
                              <a:latin typeface="Cambria Math" panose="02040503050406030204" pitchFamily="18" charset="0"/>
                            </a:rPr>
                            <m:t>1</m:t>
                          </m:r>
                        </m:sub>
                        <m:sup>
                          <m:r>
                            <a:rPr lang="ar-AE" sz="3360" i="1">
                              <a:latin typeface="Cambria Math" panose="02040503050406030204" pitchFamily="18" charset="0"/>
                            </a:rPr>
                            <m:t>𝑛</m:t>
                          </m:r>
                        </m:sup>
                        <m:e>
                          <m:d>
                            <m:dPr>
                              <m:ctrlPr>
                                <a:rPr lang="ar-AE" sz="3360" i="1">
                                  <a:latin typeface="Cambria Math" panose="02040503050406030204" pitchFamily="18" charset="0"/>
                                </a:rPr>
                              </m:ctrlPr>
                            </m:dPr>
                            <m:e>
                              <m:r>
                                <a:rPr lang="ar-AE" sz="3360" i="1">
                                  <a:latin typeface="Cambria Math" panose="02040503050406030204" pitchFamily="18" charset="0"/>
                                </a:rPr>
                                <m:t>𝑁𝑖𝑣𝑒</m:t>
                              </m:r>
                              <m:sSub>
                                <m:sSubPr>
                                  <m:ctrlPr>
                                    <a:rPr lang="ar-AE" sz="3360" i="1">
                                      <a:latin typeface="Cambria Math" panose="02040503050406030204" pitchFamily="18" charset="0"/>
                                    </a:rPr>
                                  </m:ctrlPr>
                                </m:sSubPr>
                                <m:e>
                                  <m:r>
                                    <a:rPr lang="ar-AE" sz="3360" i="1">
                                      <a:latin typeface="Cambria Math" panose="02040503050406030204" pitchFamily="18" charset="0"/>
                                    </a:rPr>
                                    <m:t>𝑙</m:t>
                                  </m:r>
                                </m:e>
                                <m:sub>
                                  <m:r>
                                    <a:rPr lang="es-CL" sz="3360" i="1">
                                      <a:latin typeface="Cambria Math" panose="02040503050406030204" pitchFamily="18" charset="0"/>
                                    </a:rPr>
                                    <m:t>𝐴</m:t>
                                  </m:r>
                                  <m:r>
                                    <a:rPr lang="ar-AE" sz="3360" i="1">
                                      <a:latin typeface="Cambria Math" panose="02040503050406030204" pitchFamily="18" charset="0"/>
                                    </a:rPr>
                                    <m:t>𝑟𝑒</m:t>
                                  </m:r>
                                  <m:sSub>
                                    <m:sSubPr>
                                      <m:ctrlPr>
                                        <a:rPr lang="ar-AE" sz="3360" i="1">
                                          <a:latin typeface="Cambria Math" panose="02040503050406030204" pitchFamily="18" charset="0"/>
                                        </a:rPr>
                                      </m:ctrlPr>
                                    </m:sSubPr>
                                    <m:e>
                                      <m:r>
                                        <a:rPr lang="ar-AE" sz="3360" i="1">
                                          <a:latin typeface="Cambria Math" panose="02040503050406030204" pitchFamily="18" charset="0"/>
                                        </a:rPr>
                                        <m:t>𝑎</m:t>
                                      </m:r>
                                    </m:e>
                                    <m:sub>
                                      <m:r>
                                        <a:rPr lang="ar-AE" sz="3360" i="1">
                                          <a:latin typeface="Cambria Math" panose="02040503050406030204" pitchFamily="18" charset="0"/>
                                        </a:rPr>
                                        <m:t>𝑖</m:t>
                                      </m:r>
                                    </m:sub>
                                  </m:sSub>
                                </m:sub>
                              </m:sSub>
                              <m:r>
                                <a:rPr lang="ar-AE" sz="3360">
                                  <a:latin typeface="Cambria Math" panose="02040503050406030204" pitchFamily="18" charset="0"/>
                                </a:rPr>
                                <m:t>×</m:t>
                              </m:r>
                              <m:r>
                                <a:rPr lang="ar-AE" sz="3360" i="1">
                                  <a:latin typeface="Cambria Math" panose="02040503050406030204" pitchFamily="18" charset="0"/>
                                </a:rPr>
                                <m:t>𝑃𝑒𝑠</m:t>
                              </m:r>
                              <m:sSub>
                                <m:sSubPr>
                                  <m:ctrlPr>
                                    <a:rPr lang="ar-AE" sz="3360" i="1">
                                      <a:latin typeface="Cambria Math" panose="02040503050406030204" pitchFamily="18" charset="0"/>
                                    </a:rPr>
                                  </m:ctrlPr>
                                </m:sSubPr>
                                <m:e>
                                  <m:r>
                                    <a:rPr lang="ar-AE" sz="3360" i="1">
                                      <a:latin typeface="Cambria Math" panose="02040503050406030204" pitchFamily="18" charset="0"/>
                                    </a:rPr>
                                    <m:t>𝑜</m:t>
                                  </m:r>
                                </m:e>
                                <m:sub>
                                  <m:r>
                                    <a:rPr lang="es-CL" sz="3360" i="1">
                                      <a:latin typeface="Cambria Math" panose="02040503050406030204" pitchFamily="18" charset="0"/>
                                    </a:rPr>
                                    <m:t>𝐴</m:t>
                                  </m:r>
                                  <m:r>
                                    <a:rPr lang="ar-AE" sz="3360" i="1">
                                      <a:latin typeface="Cambria Math" panose="02040503050406030204" pitchFamily="18" charset="0"/>
                                    </a:rPr>
                                    <m:t>𝑟𝑒</m:t>
                                  </m:r>
                                  <m:sSub>
                                    <m:sSubPr>
                                      <m:ctrlPr>
                                        <a:rPr lang="ar-AE" sz="3360" i="1">
                                          <a:latin typeface="Cambria Math" panose="02040503050406030204" pitchFamily="18" charset="0"/>
                                        </a:rPr>
                                      </m:ctrlPr>
                                    </m:sSubPr>
                                    <m:e>
                                      <m:r>
                                        <a:rPr lang="ar-AE" sz="3360" i="1">
                                          <a:latin typeface="Cambria Math" panose="02040503050406030204" pitchFamily="18" charset="0"/>
                                        </a:rPr>
                                        <m:t>𝑎</m:t>
                                      </m:r>
                                    </m:e>
                                    <m:sub>
                                      <m:r>
                                        <a:rPr lang="ar-AE" sz="3360" i="1">
                                          <a:latin typeface="Cambria Math" panose="02040503050406030204" pitchFamily="18" charset="0"/>
                                        </a:rPr>
                                        <m:t>𝑖</m:t>
                                      </m:r>
                                    </m:sub>
                                  </m:sSub>
                                </m:sub>
                              </m:sSub>
                            </m:e>
                          </m:d>
                        </m:e>
                      </m:nary>
                    </m:oMath>
                  </m:oMathPara>
                </a14:m>
                <a:endParaRPr lang="ar-AE" sz="3360" dirty="0"/>
              </a:p>
            </p:txBody>
          </p:sp>
        </mc:Choice>
        <mc:Fallback xmlns="">
          <p:sp>
            <p:nvSpPr>
              <p:cNvPr id="4" name="CuadroTexto 3">
                <a:extLst>
                  <a:ext uri="{FF2B5EF4-FFF2-40B4-BE49-F238E27FC236}">
                    <a16:creationId xmlns:a16="http://schemas.microsoft.com/office/drawing/2014/main" id="{6E0F4FC2-44D9-1BF0-D7D9-634C6E9E38ED}"/>
                  </a:ext>
                </a:extLst>
              </p:cNvPr>
              <p:cNvSpPr txBox="1">
                <a:spLocks noRot="1" noChangeAspect="1" noMove="1" noResize="1" noEditPoints="1" noAdjustHandles="1" noChangeArrowheads="1" noChangeShapeType="1" noTextEdit="1"/>
              </p:cNvSpPr>
              <p:nvPr/>
            </p:nvSpPr>
            <p:spPr>
              <a:xfrm>
                <a:off x="3744615" y="2625351"/>
                <a:ext cx="6891922" cy="2168671"/>
              </a:xfrm>
              <a:prstGeom prst="rect">
                <a:avLst/>
              </a:prstGeom>
              <a:blipFill>
                <a:blip r:embed="rId2"/>
                <a:stretch>
                  <a:fillRect l="-1061" t="-1972"/>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2F5713C-35B5-F6BF-1C3F-AD103ECDE8E9}"/>
                  </a:ext>
                </a:extLst>
              </p:cNvPr>
              <p:cNvSpPr txBox="1"/>
              <p:nvPr/>
            </p:nvSpPr>
            <p:spPr>
              <a:xfrm>
                <a:off x="3744615" y="5921016"/>
                <a:ext cx="2181286" cy="6598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ar-AE" sz="3360" i="1">
                          <a:latin typeface="Cambria Math" panose="02040503050406030204" pitchFamily="18" charset="0"/>
                        </a:rPr>
                        <m:t>𝑁𝑖𝑣𝑒</m:t>
                      </m:r>
                      <m:sSub>
                        <m:sSubPr>
                          <m:ctrlPr>
                            <a:rPr lang="ar-AE" sz="3360" i="1">
                              <a:latin typeface="Cambria Math" panose="02040503050406030204" pitchFamily="18" charset="0"/>
                            </a:rPr>
                          </m:ctrlPr>
                        </m:sSubPr>
                        <m:e>
                          <m:r>
                            <a:rPr lang="ar-AE" sz="3360" i="1">
                              <a:latin typeface="Cambria Math" panose="02040503050406030204" pitchFamily="18" charset="0"/>
                            </a:rPr>
                            <m:t>𝑙</m:t>
                          </m:r>
                        </m:e>
                        <m:sub>
                          <m:r>
                            <a:rPr lang="es-CL" sz="3360" i="1">
                              <a:latin typeface="Cambria Math" panose="02040503050406030204" pitchFamily="18" charset="0"/>
                            </a:rPr>
                            <m:t>𝐴</m:t>
                          </m:r>
                          <m:r>
                            <a:rPr lang="ar-AE" sz="3360" i="1">
                              <a:latin typeface="Cambria Math" panose="02040503050406030204" pitchFamily="18" charset="0"/>
                            </a:rPr>
                            <m:t>𝑟𝑒</m:t>
                          </m:r>
                          <m:sSub>
                            <m:sSubPr>
                              <m:ctrlPr>
                                <a:rPr lang="ar-AE" sz="3360" i="1">
                                  <a:latin typeface="Cambria Math" panose="02040503050406030204" pitchFamily="18" charset="0"/>
                                </a:rPr>
                              </m:ctrlPr>
                            </m:sSubPr>
                            <m:e>
                              <m:r>
                                <a:rPr lang="ar-AE" sz="3360" i="1">
                                  <a:latin typeface="Cambria Math" panose="02040503050406030204" pitchFamily="18" charset="0"/>
                                </a:rPr>
                                <m:t>𝑎</m:t>
                              </m:r>
                            </m:e>
                            <m:sub>
                              <m:r>
                                <a:rPr lang="ar-AE" sz="3360" i="1">
                                  <a:latin typeface="Cambria Math" panose="02040503050406030204" pitchFamily="18" charset="0"/>
                                </a:rPr>
                                <m:t>𝑖</m:t>
                              </m:r>
                            </m:sub>
                          </m:sSub>
                        </m:sub>
                      </m:sSub>
                    </m:oMath>
                  </m:oMathPara>
                </a14:m>
                <a:endParaRPr lang="es-CL" sz="3360" dirty="0"/>
              </a:p>
            </p:txBody>
          </p:sp>
        </mc:Choice>
        <mc:Fallback xmlns="">
          <p:sp>
            <p:nvSpPr>
              <p:cNvPr id="8" name="CuadroTexto 7">
                <a:extLst>
                  <a:ext uri="{FF2B5EF4-FFF2-40B4-BE49-F238E27FC236}">
                    <a16:creationId xmlns:a16="http://schemas.microsoft.com/office/drawing/2014/main" id="{F2F5713C-35B5-F6BF-1C3F-AD103ECDE8E9}"/>
                  </a:ext>
                </a:extLst>
              </p:cNvPr>
              <p:cNvSpPr txBox="1">
                <a:spLocks noRot="1" noChangeAspect="1" noMove="1" noResize="1" noEditPoints="1" noAdjustHandles="1" noChangeArrowheads="1" noChangeShapeType="1" noTextEdit="1"/>
              </p:cNvSpPr>
              <p:nvPr/>
            </p:nvSpPr>
            <p:spPr>
              <a:xfrm>
                <a:off x="3744615" y="5921016"/>
                <a:ext cx="2181286" cy="659861"/>
              </a:xfrm>
              <a:prstGeom prst="rect">
                <a:avLst/>
              </a:prstGeom>
              <a:blipFill>
                <a:blip r:embed="rId3"/>
                <a:stretch>
                  <a:fillRect/>
                </a:stretch>
              </a:blipFill>
            </p:spPr>
            <p:txBody>
              <a:bodyPr/>
              <a:lstStyle/>
              <a:p>
                <a:r>
                  <a:rPr lang="es-CL">
                    <a:noFill/>
                  </a:rPr>
                  <a:t> </a:t>
                </a:r>
              </a:p>
            </p:txBody>
          </p:sp>
        </mc:Fallback>
      </mc:AlternateContent>
      <p:sp>
        <p:nvSpPr>
          <p:cNvPr id="12" name="CuadroTexto 11">
            <a:extLst>
              <a:ext uri="{FF2B5EF4-FFF2-40B4-BE49-F238E27FC236}">
                <a16:creationId xmlns:a16="http://schemas.microsoft.com/office/drawing/2014/main" id="{36457640-CFD8-1DA7-3077-DB52452FAF4F}"/>
              </a:ext>
            </a:extLst>
          </p:cNvPr>
          <p:cNvSpPr txBox="1"/>
          <p:nvPr/>
        </p:nvSpPr>
        <p:spPr>
          <a:xfrm>
            <a:off x="3744615" y="5056249"/>
            <a:ext cx="7318150" cy="424732"/>
          </a:xfrm>
          <a:prstGeom prst="rect">
            <a:avLst/>
          </a:prstGeom>
          <a:noFill/>
        </p:spPr>
        <p:txBody>
          <a:bodyPr wrap="square">
            <a:spAutoFit/>
          </a:bodyPr>
          <a:lstStyle/>
          <a:p>
            <a:pPr>
              <a:buNone/>
            </a:pPr>
            <a:r>
              <a:rPr lang="es-CL" sz="2160" b="1" dirty="0">
                <a:latin typeface="PT Serif" panose="020A0603040505020204" pitchFamily="18" charset="0"/>
              </a:rPr>
              <a:t>Donde:</a:t>
            </a:r>
          </a:p>
        </p:txBody>
      </p:sp>
      <p:sp>
        <p:nvSpPr>
          <p:cNvPr id="15" name="CuadroTexto 14">
            <a:extLst>
              <a:ext uri="{FF2B5EF4-FFF2-40B4-BE49-F238E27FC236}">
                <a16:creationId xmlns:a16="http://schemas.microsoft.com/office/drawing/2014/main" id="{D3D9B875-D158-8F67-40EA-324F0D0D30C0}"/>
              </a:ext>
            </a:extLst>
          </p:cNvPr>
          <p:cNvSpPr txBox="1"/>
          <p:nvPr/>
        </p:nvSpPr>
        <p:spPr>
          <a:xfrm>
            <a:off x="5925901" y="5823757"/>
            <a:ext cx="6037991" cy="757130"/>
          </a:xfrm>
          <a:prstGeom prst="rect">
            <a:avLst/>
          </a:prstGeom>
          <a:noFill/>
        </p:spPr>
        <p:txBody>
          <a:bodyPr wrap="square">
            <a:spAutoFit/>
          </a:bodyPr>
          <a:lstStyle/>
          <a:p>
            <a:r>
              <a:rPr lang="es-ES" sz="2160" dirty="0">
                <a:latin typeface="PT Serif" panose="020A0603040505020204" pitchFamily="18" charset="0"/>
              </a:rPr>
              <a:t>nivel asignado a cada área (0–4) utilizando las rúbricas.</a:t>
            </a:r>
            <a:endParaRPr lang="es-CL" sz="2160" dirty="0">
              <a:latin typeface="PT Serif" panose="020A0603040505020204" pitchFamily="18" charset="0"/>
            </a:endParaRP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4D4F08F-F0D6-58CF-5700-9F5DBE90C091}"/>
                  </a:ext>
                </a:extLst>
              </p:cNvPr>
              <p:cNvSpPr txBox="1"/>
              <p:nvPr/>
            </p:nvSpPr>
            <p:spPr>
              <a:xfrm>
                <a:off x="3744616" y="7020922"/>
                <a:ext cx="1402572" cy="6598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ar-AE" sz="3360" i="1">
                          <a:latin typeface="Cambria Math" panose="02040503050406030204" pitchFamily="18" charset="0"/>
                        </a:rPr>
                        <m:t>𝑃𝑒𝑠</m:t>
                      </m:r>
                      <m:sSub>
                        <m:sSubPr>
                          <m:ctrlPr>
                            <a:rPr lang="ar-AE" sz="3360" i="1">
                              <a:latin typeface="Cambria Math" panose="02040503050406030204" pitchFamily="18" charset="0"/>
                            </a:rPr>
                          </m:ctrlPr>
                        </m:sSubPr>
                        <m:e>
                          <m:r>
                            <a:rPr lang="ar-AE" sz="3360" i="1">
                              <a:latin typeface="Cambria Math" panose="02040503050406030204" pitchFamily="18" charset="0"/>
                            </a:rPr>
                            <m:t>𝑜</m:t>
                          </m:r>
                        </m:e>
                        <m:sub>
                          <m:r>
                            <a:rPr lang="es-CL" sz="3360" i="1">
                              <a:latin typeface="Cambria Math" panose="02040503050406030204" pitchFamily="18" charset="0"/>
                            </a:rPr>
                            <m:t>𝐴</m:t>
                          </m:r>
                          <m:r>
                            <a:rPr lang="ar-AE" sz="3360" i="1">
                              <a:latin typeface="Cambria Math" panose="02040503050406030204" pitchFamily="18" charset="0"/>
                            </a:rPr>
                            <m:t>𝑟𝑒</m:t>
                          </m:r>
                          <m:sSub>
                            <m:sSubPr>
                              <m:ctrlPr>
                                <a:rPr lang="ar-AE" sz="3360" i="1">
                                  <a:latin typeface="Cambria Math" panose="02040503050406030204" pitchFamily="18" charset="0"/>
                                </a:rPr>
                              </m:ctrlPr>
                            </m:sSubPr>
                            <m:e>
                              <m:r>
                                <a:rPr lang="ar-AE" sz="3360" i="1">
                                  <a:latin typeface="Cambria Math" panose="02040503050406030204" pitchFamily="18" charset="0"/>
                                </a:rPr>
                                <m:t>𝑎</m:t>
                              </m:r>
                            </m:e>
                            <m:sub>
                              <m:r>
                                <a:rPr lang="ar-AE" sz="3360" i="1">
                                  <a:latin typeface="Cambria Math" panose="02040503050406030204" pitchFamily="18" charset="0"/>
                                </a:rPr>
                                <m:t>𝑖</m:t>
                              </m:r>
                            </m:sub>
                          </m:sSub>
                        </m:sub>
                      </m:sSub>
                    </m:oMath>
                  </m:oMathPara>
                </a14:m>
                <a:endParaRPr lang="es-CL" sz="3360" dirty="0"/>
              </a:p>
            </p:txBody>
          </p:sp>
        </mc:Choice>
        <mc:Fallback xmlns="">
          <p:sp>
            <p:nvSpPr>
              <p:cNvPr id="17" name="CuadroTexto 16">
                <a:extLst>
                  <a:ext uri="{FF2B5EF4-FFF2-40B4-BE49-F238E27FC236}">
                    <a16:creationId xmlns:a16="http://schemas.microsoft.com/office/drawing/2014/main" id="{74D4F08F-F0D6-58CF-5700-9F5DBE90C091}"/>
                  </a:ext>
                </a:extLst>
              </p:cNvPr>
              <p:cNvSpPr txBox="1">
                <a:spLocks noRot="1" noChangeAspect="1" noMove="1" noResize="1" noEditPoints="1" noAdjustHandles="1" noChangeArrowheads="1" noChangeShapeType="1" noTextEdit="1"/>
              </p:cNvSpPr>
              <p:nvPr/>
            </p:nvSpPr>
            <p:spPr>
              <a:xfrm>
                <a:off x="3744616" y="7020922"/>
                <a:ext cx="1402572" cy="659861"/>
              </a:xfrm>
              <a:prstGeom prst="rect">
                <a:avLst/>
              </a:prstGeom>
              <a:blipFill>
                <a:blip r:embed="rId4"/>
                <a:stretch>
                  <a:fillRect r="-28696"/>
                </a:stretch>
              </a:blipFill>
            </p:spPr>
            <p:txBody>
              <a:bodyPr/>
              <a:lstStyle/>
              <a:p>
                <a:r>
                  <a:rPr lang="es-CL">
                    <a:noFill/>
                  </a:rPr>
                  <a:t> </a:t>
                </a:r>
              </a:p>
            </p:txBody>
          </p:sp>
        </mc:Fallback>
      </mc:AlternateContent>
      <p:sp>
        <p:nvSpPr>
          <p:cNvPr id="19" name="CuadroTexto 18">
            <a:extLst>
              <a:ext uri="{FF2B5EF4-FFF2-40B4-BE49-F238E27FC236}">
                <a16:creationId xmlns:a16="http://schemas.microsoft.com/office/drawing/2014/main" id="{D4676347-213C-994D-1564-EA4F34DFCE2C}"/>
              </a:ext>
            </a:extLst>
          </p:cNvPr>
          <p:cNvSpPr txBox="1"/>
          <p:nvPr/>
        </p:nvSpPr>
        <p:spPr>
          <a:xfrm>
            <a:off x="5925902" y="7020922"/>
            <a:ext cx="6037991" cy="757130"/>
          </a:xfrm>
          <a:prstGeom prst="rect">
            <a:avLst/>
          </a:prstGeom>
          <a:noFill/>
        </p:spPr>
        <p:txBody>
          <a:bodyPr wrap="square">
            <a:spAutoFit/>
          </a:bodyPr>
          <a:lstStyle/>
          <a:p>
            <a:r>
              <a:rPr lang="es-ES" sz="2160" dirty="0">
                <a:latin typeface="PT Serif" panose="020A0603040505020204" pitchFamily="18" charset="0"/>
              </a:rPr>
              <a:t>es el porcentaje de carga académica del área expresado como valor decimal</a:t>
            </a:r>
            <a:endParaRPr lang="es-CL" sz="2160" dirty="0">
              <a:latin typeface="PT Serif" panose="020A0603040505020204" pitchFamily="18" charset="0"/>
            </a:endParaRPr>
          </a:p>
        </p:txBody>
      </p:sp>
    </p:spTree>
    <p:extLst>
      <p:ext uri="{BB962C8B-B14F-4D97-AF65-F5344CB8AC3E}">
        <p14:creationId xmlns:p14="http://schemas.microsoft.com/office/powerpoint/2010/main" val="1838866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55333" y="595313"/>
            <a:ext cx="7365087" cy="920591"/>
          </a:xfrm>
          <a:prstGeom prst="rect">
            <a:avLst/>
          </a:prstGeom>
          <a:noFill/>
          <a:ln/>
        </p:spPr>
        <p:txBody>
          <a:bodyPr wrap="none" lIns="0" tIns="0" rIns="0" bIns="0" rtlCol="0" anchor="t"/>
          <a:lstStyle/>
          <a:p>
            <a:pPr marL="0" indent="0" algn="l">
              <a:lnSpc>
                <a:spcPts val="7200"/>
              </a:lnSpc>
              <a:buNone/>
            </a:pPr>
            <a:r>
              <a:rPr lang="en-US" sz="5750" dirty="0">
                <a:solidFill>
                  <a:srgbClr val="020202"/>
                </a:solidFill>
                <a:latin typeface="PT Serif" pitchFamily="34" charset="0"/>
                <a:ea typeface="PT Serif" pitchFamily="34" charset="-122"/>
                <a:cs typeface="PT Serif" pitchFamily="34" charset="-120"/>
              </a:rPr>
              <a:t>Calificación Final</a:t>
            </a:r>
            <a:endParaRPr lang="en-US" sz="5750" dirty="0"/>
          </a:p>
        </p:txBody>
      </p:sp>
      <p:sp>
        <p:nvSpPr>
          <p:cNvPr id="3" name="Text 1"/>
          <p:cNvSpPr/>
          <p:nvPr/>
        </p:nvSpPr>
        <p:spPr>
          <a:xfrm>
            <a:off x="755333" y="1796415"/>
            <a:ext cx="13119735" cy="24431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Text 2"/>
          <p:cNvSpPr/>
          <p:nvPr/>
        </p:nvSpPr>
        <p:spPr>
          <a:xfrm>
            <a:off x="1206169" y="4515206"/>
            <a:ext cx="1725454" cy="350639"/>
          </a:xfrm>
          <a:prstGeom prst="rect">
            <a:avLst/>
          </a:prstGeom>
          <a:noFill/>
          <a:ln/>
        </p:spPr>
        <p:txBody>
          <a:bodyPr wrap="none" lIns="0" tIns="0" rIns="0" bIns="0" rtlCol="0" anchor="t"/>
          <a:lstStyle/>
          <a:p>
            <a:pPr marL="0" indent="0" algn="ctr">
              <a:lnSpc>
                <a:spcPts val="2750"/>
              </a:lnSpc>
              <a:buNone/>
            </a:pPr>
            <a:r>
              <a:rPr lang="en-US" sz="2750" dirty="0">
                <a:solidFill>
                  <a:srgbClr val="383838"/>
                </a:solidFill>
                <a:latin typeface="PT Serif" pitchFamily="34" charset="0"/>
                <a:ea typeface="PT Serif" pitchFamily="34" charset="-122"/>
                <a:cs typeface="PT Serif" pitchFamily="34" charset="-120"/>
              </a:rPr>
              <a:t>50%</a:t>
            </a:r>
            <a:endParaRPr lang="en-US" sz="2750" dirty="0"/>
          </a:p>
        </p:txBody>
      </p:sp>
      <p:pic>
        <p:nvPicPr>
          <p:cNvPr id="6" name="Image 1" descr="preencoded.png"/>
          <p:cNvPicPr>
            <a:picLocks noChangeAspect="1"/>
          </p:cNvPicPr>
          <p:nvPr/>
        </p:nvPicPr>
        <p:blipFill>
          <a:blip r:embed="rId3"/>
          <a:stretch>
            <a:fillRect/>
          </a:stretch>
        </p:blipFill>
        <p:spPr>
          <a:xfrm>
            <a:off x="1016861" y="3734810"/>
            <a:ext cx="2104311" cy="2104311"/>
          </a:xfrm>
          <a:prstGeom prst="rect">
            <a:avLst/>
          </a:prstGeom>
        </p:spPr>
      </p:pic>
      <p:sp>
        <p:nvSpPr>
          <p:cNvPr id="7" name="Text 3"/>
          <p:cNvSpPr/>
          <p:nvPr/>
        </p:nvSpPr>
        <p:spPr>
          <a:xfrm>
            <a:off x="771234" y="5918000"/>
            <a:ext cx="2595443" cy="230029"/>
          </a:xfrm>
          <a:prstGeom prst="rect">
            <a:avLst/>
          </a:prstGeom>
          <a:noFill/>
          <a:ln/>
        </p:spPr>
        <p:txBody>
          <a:bodyPr wrap="none" lIns="0" tIns="0" rIns="0" bIns="0" rtlCol="0" anchor="t"/>
          <a:lstStyle/>
          <a:p>
            <a:pPr marL="0" indent="0" algn="ctr">
              <a:lnSpc>
                <a:spcPts val="1800"/>
              </a:lnSpc>
              <a:buNone/>
            </a:pPr>
            <a:r>
              <a:rPr lang="en-US" sz="1400" dirty="0">
                <a:solidFill>
                  <a:srgbClr val="383838"/>
                </a:solidFill>
                <a:latin typeface="PT Serif" pitchFamily="34" charset="0"/>
                <a:ea typeface="PT Serif" pitchFamily="34" charset="-122"/>
                <a:cs typeface="PT Serif" pitchFamily="34" charset="-120"/>
              </a:rPr>
              <a:t>Cumplimiento de Compromisos</a:t>
            </a:r>
            <a:endParaRPr lang="en-US" sz="1400" dirty="0"/>
          </a:p>
        </p:txBody>
      </p:sp>
      <p:sp>
        <p:nvSpPr>
          <p:cNvPr id="8" name="Text 4"/>
          <p:cNvSpPr/>
          <p:nvPr/>
        </p:nvSpPr>
        <p:spPr>
          <a:xfrm>
            <a:off x="4367691" y="4515206"/>
            <a:ext cx="1725454" cy="350639"/>
          </a:xfrm>
          <a:prstGeom prst="rect">
            <a:avLst/>
          </a:prstGeom>
          <a:noFill/>
          <a:ln/>
        </p:spPr>
        <p:txBody>
          <a:bodyPr wrap="none" lIns="0" tIns="0" rIns="0" bIns="0" rtlCol="0" anchor="t"/>
          <a:lstStyle/>
          <a:p>
            <a:pPr marL="0" indent="0" algn="ctr">
              <a:lnSpc>
                <a:spcPts val="2750"/>
              </a:lnSpc>
              <a:buNone/>
            </a:pPr>
            <a:r>
              <a:rPr lang="en-US" sz="2750" dirty="0">
                <a:solidFill>
                  <a:srgbClr val="383838"/>
                </a:solidFill>
                <a:latin typeface="PT Serif" pitchFamily="34" charset="0"/>
                <a:ea typeface="PT Serif" pitchFamily="34" charset="-122"/>
                <a:cs typeface="PT Serif" pitchFamily="34" charset="-120"/>
              </a:rPr>
              <a:t>50%</a:t>
            </a:r>
            <a:endParaRPr lang="en-US" sz="2750" dirty="0"/>
          </a:p>
        </p:txBody>
      </p:sp>
      <p:pic>
        <p:nvPicPr>
          <p:cNvPr id="9" name="Image 2" descr="preencoded.png"/>
          <p:cNvPicPr>
            <a:picLocks noChangeAspect="1"/>
          </p:cNvPicPr>
          <p:nvPr/>
        </p:nvPicPr>
        <p:blipFill>
          <a:blip r:embed="rId3"/>
          <a:stretch>
            <a:fillRect/>
          </a:stretch>
        </p:blipFill>
        <p:spPr>
          <a:xfrm>
            <a:off x="4178381" y="3638430"/>
            <a:ext cx="2104311" cy="2104311"/>
          </a:xfrm>
          <a:prstGeom prst="rect">
            <a:avLst/>
          </a:prstGeom>
        </p:spPr>
      </p:pic>
      <p:sp>
        <p:nvSpPr>
          <p:cNvPr id="10" name="Text 5"/>
          <p:cNvSpPr/>
          <p:nvPr/>
        </p:nvSpPr>
        <p:spPr>
          <a:xfrm>
            <a:off x="4090394" y="5918000"/>
            <a:ext cx="2280166" cy="230029"/>
          </a:xfrm>
          <a:prstGeom prst="rect">
            <a:avLst/>
          </a:prstGeom>
          <a:noFill/>
          <a:ln/>
        </p:spPr>
        <p:txBody>
          <a:bodyPr wrap="none" lIns="0" tIns="0" rIns="0" bIns="0" rtlCol="0" anchor="t"/>
          <a:lstStyle/>
          <a:p>
            <a:pPr marL="0" indent="0" algn="ctr">
              <a:lnSpc>
                <a:spcPts val="1800"/>
              </a:lnSpc>
              <a:buNone/>
            </a:pPr>
            <a:r>
              <a:rPr lang="en-US" sz="1400" dirty="0">
                <a:solidFill>
                  <a:srgbClr val="383838"/>
                </a:solidFill>
                <a:latin typeface="PT Serif" pitchFamily="34" charset="0"/>
                <a:ea typeface="PT Serif" pitchFamily="34" charset="-122"/>
                <a:cs typeface="PT Serif" pitchFamily="34" charset="-120"/>
              </a:rPr>
              <a:t>Desempeño según Jerarquía</a:t>
            </a:r>
            <a:endParaRPr lang="en-US" sz="1400" dirty="0"/>
          </a:p>
        </p:txBody>
      </p:sp>
      <p:pic>
        <p:nvPicPr>
          <p:cNvPr id="11" name="Image 3" descr="preencoded.png"/>
          <p:cNvPicPr>
            <a:picLocks noChangeAspect="1"/>
          </p:cNvPicPr>
          <p:nvPr/>
        </p:nvPicPr>
        <p:blipFill>
          <a:blip r:embed="rId4"/>
          <a:stretch>
            <a:fillRect/>
          </a:stretch>
        </p:blipFill>
        <p:spPr>
          <a:xfrm>
            <a:off x="7094277" y="2617177"/>
            <a:ext cx="7432556" cy="3796057"/>
          </a:xfrm>
          <a:prstGeom prst="rect">
            <a:avLst/>
          </a:prstGeom>
        </p:spPr>
      </p:pic>
      <p:sp>
        <p:nvSpPr>
          <p:cNvPr id="12" name="CuadroTexto 11">
            <a:extLst>
              <a:ext uri="{FF2B5EF4-FFF2-40B4-BE49-F238E27FC236}">
                <a16:creationId xmlns:a16="http://schemas.microsoft.com/office/drawing/2014/main" id="{553AE21C-AE21-A838-10E6-2B49E73E41DC}"/>
              </a:ext>
            </a:extLst>
          </p:cNvPr>
          <p:cNvSpPr txBox="1"/>
          <p:nvPr/>
        </p:nvSpPr>
        <p:spPr>
          <a:xfrm>
            <a:off x="964336" y="2583486"/>
            <a:ext cx="5406224" cy="584775"/>
          </a:xfrm>
          <a:prstGeom prst="rect">
            <a:avLst/>
          </a:prstGeom>
          <a:noFill/>
        </p:spPr>
        <p:txBody>
          <a:bodyPr wrap="none" rtlCol="0">
            <a:spAutoFit/>
          </a:bodyPr>
          <a:lstStyle/>
          <a:p>
            <a:r>
              <a:rPr lang="es-CL" sz="3200" i="1" dirty="0">
                <a:latin typeface="Times New Roman" panose="02020603050405020304" pitchFamily="18" charset="0"/>
                <a:ea typeface="Cambria Math" panose="02040503050406030204" pitchFamily="18" charset="0"/>
                <a:cs typeface="Times New Roman" panose="02020603050405020304" pitchFamily="18" charset="0"/>
              </a:rPr>
              <a:t>CF = 0.50 x CCA + 0.50 x DAJ</a:t>
            </a:r>
          </a:p>
        </p:txBody>
      </p:sp>
      <p:sp>
        <p:nvSpPr>
          <p:cNvPr id="13" name="Rectángulo 12">
            <a:extLst>
              <a:ext uri="{FF2B5EF4-FFF2-40B4-BE49-F238E27FC236}">
                <a16:creationId xmlns:a16="http://schemas.microsoft.com/office/drawing/2014/main" id="{CE3401EB-7A4C-5086-E9AE-FAEC6D6E9D4A}"/>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793790" y="717590"/>
            <a:ext cx="4763333" cy="595432"/>
          </a:xfrm>
          <a:prstGeom prst="rect">
            <a:avLst/>
          </a:prstGeom>
          <a:noFill/>
          <a:ln/>
        </p:spPr>
        <p:txBody>
          <a:bodyPr wrap="none" lIns="0" tIns="0" rIns="0" bIns="0" rtlCol="0" anchor="t"/>
          <a:lstStyle/>
          <a:p>
            <a:pPr marL="0" indent="0" algn="l">
              <a:lnSpc>
                <a:spcPts val="4650"/>
              </a:lnSpc>
              <a:buNone/>
            </a:pPr>
            <a:r>
              <a:rPr lang="en-US" sz="3750" dirty="0">
                <a:solidFill>
                  <a:srgbClr val="020202"/>
                </a:solidFill>
                <a:latin typeface="PT Serif" pitchFamily="34" charset="0"/>
                <a:ea typeface="PT Serif" pitchFamily="34" charset="-122"/>
                <a:cs typeface="PT Serif" pitchFamily="34" charset="-120"/>
              </a:rPr>
              <a:t>Rúbrica holística</a:t>
            </a:r>
            <a:endParaRPr lang="en-US" sz="3750" dirty="0"/>
          </a:p>
        </p:txBody>
      </p:sp>
      <p:sp>
        <p:nvSpPr>
          <p:cNvPr id="3" name="Text 1"/>
          <p:cNvSpPr/>
          <p:nvPr/>
        </p:nvSpPr>
        <p:spPr>
          <a:xfrm>
            <a:off x="793790" y="1385530"/>
            <a:ext cx="10422157" cy="297656"/>
          </a:xfrm>
          <a:prstGeom prst="rect">
            <a:avLst/>
          </a:prstGeom>
          <a:noFill/>
          <a:ln/>
        </p:spPr>
        <p:txBody>
          <a:bodyPr wrap="none" lIns="0" tIns="0" rIns="0" bIns="0" rtlCol="0" anchor="t"/>
          <a:lstStyle/>
          <a:p>
            <a:pPr marL="0" indent="0" algn="l">
              <a:lnSpc>
                <a:spcPts val="2300"/>
              </a:lnSpc>
              <a:buNone/>
            </a:pPr>
            <a:r>
              <a:rPr lang="en-US" sz="1850" dirty="0">
                <a:solidFill>
                  <a:srgbClr val="020202"/>
                </a:solidFill>
                <a:latin typeface="PT Serif" pitchFamily="34" charset="0"/>
                <a:ea typeface="PT Serif" pitchFamily="34" charset="-122"/>
                <a:cs typeface="PT Serif" pitchFamily="34" charset="-120"/>
              </a:rPr>
              <a:t>Instrumento de evaluación integrada y global de </a:t>
            </a:r>
            <a:r>
              <a:rPr lang="en-US" sz="1850" dirty="0" err="1">
                <a:solidFill>
                  <a:srgbClr val="020202"/>
                </a:solidFill>
                <a:latin typeface="PT Serif" pitchFamily="34" charset="0"/>
                <a:ea typeface="PT Serif" pitchFamily="34" charset="-122"/>
                <a:cs typeface="PT Serif" pitchFamily="34" charset="-120"/>
              </a:rPr>
              <a:t>carácter</a:t>
            </a:r>
            <a:r>
              <a:rPr lang="en-US" sz="1850" dirty="0">
                <a:solidFill>
                  <a:srgbClr val="020202"/>
                </a:solidFill>
                <a:latin typeface="PT Serif" pitchFamily="34" charset="0"/>
                <a:ea typeface="PT Serif" pitchFamily="34" charset="-122"/>
                <a:cs typeface="PT Serif" pitchFamily="34" charset="-120"/>
              </a:rPr>
              <a:t> </a:t>
            </a:r>
            <a:r>
              <a:rPr lang="en-US" sz="1850" dirty="0" err="1">
                <a:solidFill>
                  <a:srgbClr val="020202"/>
                </a:solidFill>
                <a:latin typeface="PT Serif" pitchFamily="34" charset="0"/>
                <a:ea typeface="PT Serif" pitchFamily="34" charset="-122"/>
                <a:cs typeface="PT Serif" pitchFamily="34" charset="-120"/>
              </a:rPr>
              <a:t>normativo</a:t>
            </a:r>
            <a:r>
              <a:rPr lang="en-US" sz="1850" dirty="0">
                <a:solidFill>
                  <a:srgbClr val="020202"/>
                </a:solidFill>
                <a:latin typeface="PT Serif" pitchFamily="34" charset="0"/>
                <a:ea typeface="PT Serif" pitchFamily="34" charset="-122"/>
                <a:cs typeface="PT Serif" pitchFamily="34" charset="-120"/>
              </a:rPr>
              <a:t> y </a:t>
            </a:r>
            <a:r>
              <a:rPr lang="en-US" sz="1850" dirty="0" err="1">
                <a:solidFill>
                  <a:srgbClr val="020202"/>
                </a:solidFill>
                <a:latin typeface="PT Serif" pitchFamily="34" charset="0"/>
                <a:ea typeface="PT Serif" pitchFamily="34" charset="-122"/>
                <a:cs typeface="PT Serif" pitchFamily="34" charset="-120"/>
              </a:rPr>
              <a:t>formativo</a:t>
            </a:r>
            <a:r>
              <a:rPr lang="en-US" sz="1850" dirty="0">
                <a:solidFill>
                  <a:srgbClr val="020202"/>
                </a:solidFill>
                <a:latin typeface="PT Serif" pitchFamily="34" charset="0"/>
                <a:ea typeface="PT Serif" pitchFamily="34" charset="-122"/>
                <a:cs typeface="PT Serif" pitchFamily="34" charset="-120"/>
              </a:rPr>
              <a:t>.</a:t>
            </a:r>
          </a:p>
          <a:p>
            <a:pPr marL="0" indent="0" algn="l">
              <a:lnSpc>
                <a:spcPts val="2300"/>
              </a:lnSpc>
              <a:buNone/>
            </a:pPr>
            <a:r>
              <a:rPr lang="en-US" sz="1850" dirty="0">
                <a:solidFill>
                  <a:srgbClr val="020202"/>
                </a:solidFill>
                <a:latin typeface="PT Serif" pitchFamily="34" charset="0"/>
                <a:ea typeface="PT Serif" pitchFamily="34" charset="-122"/>
                <a:cs typeface="PT Serif" pitchFamily="34" charset="-120"/>
              </a:rPr>
              <a:t>  </a:t>
            </a:r>
            <a:endParaRPr lang="en-US" sz="1850" dirty="0"/>
          </a:p>
        </p:txBody>
      </p:sp>
      <p:sp>
        <p:nvSpPr>
          <p:cNvPr id="4" name="Text 2"/>
          <p:cNvSpPr/>
          <p:nvPr/>
        </p:nvSpPr>
        <p:spPr>
          <a:xfrm>
            <a:off x="1065967" y="2159437"/>
            <a:ext cx="12770644"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Describen el desempeño académico de manera </a:t>
            </a:r>
            <a:r>
              <a:rPr lang="en-US" sz="1400" b="1" dirty="0">
                <a:solidFill>
                  <a:srgbClr val="383838"/>
                </a:solidFill>
                <a:latin typeface="DM Sans" pitchFamily="34" charset="0"/>
                <a:ea typeface="DM Sans" pitchFamily="34" charset="-122"/>
                <a:cs typeface="DM Sans" pitchFamily="34" charset="-120"/>
              </a:rPr>
              <a:t>integrada y global</a:t>
            </a:r>
            <a:r>
              <a:rPr lang="en-US" sz="1400" dirty="0">
                <a:solidFill>
                  <a:srgbClr val="383838"/>
                </a:solidFill>
                <a:latin typeface="DM Sans" pitchFamily="34" charset="0"/>
                <a:ea typeface="DM Sans" pitchFamily="34" charset="-122"/>
                <a:cs typeface="DM Sans" pitchFamily="34" charset="-120"/>
              </a:rPr>
              <a:t>, asignando un nivel único a partir de múltiples evidencias y </a:t>
            </a:r>
            <a:r>
              <a:rPr lang="en-US" sz="1400" dirty="0" err="1">
                <a:solidFill>
                  <a:srgbClr val="383838"/>
                </a:solidFill>
                <a:latin typeface="DM Sans" pitchFamily="34" charset="0"/>
                <a:ea typeface="DM Sans" pitchFamily="34" charset="-122"/>
                <a:cs typeface="DM Sans" pitchFamily="34" charset="-120"/>
              </a:rPr>
              <a:t>criterios</a:t>
            </a:r>
            <a:r>
              <a:rPr lang="en-US" sz="1400" dirty="0">
                <a:solidFill>
                  <a:srgbClr val="383838"/>
                </a:solidFill>
                <a:latin typeface="DM Sans" pitchFamily="34" charset="0"/>
                <a:ea typeface="DM Sans" pitchFamily="34" charset="-122"/>
                <a:cs typeface="DM Sans" pitchFamily="34" charset="-120"/>
              </a:rPr>
              <a:t>. </a:t>
            </a:r>
            <a:endParaRPr lang="en-US" sz="1400" dirty="0"/>
          </a:p>
        </p:txBody>
      </p:sp>
      <p:sp>
        <p:nvSpPr>
          <p:cNvPr id="5" name="Shape 3"/>
          <p:cNvSpPr/>
          <p:nvPr/>
        </p:nvSpPr>
        <p:spPr>
          <a:xfrm>
            <a:off x="793790" y="1955363"/>
            <a:ext cx="22860" cy="698421"/>
          </a:xfrm>
          <a:prstGeom prst="rect">
            <a:avLst/>
          </a:prstGeom>
          <a:solidFill>
            <a:srgbClr val="E04F00"/>
          </a:solidFill>
          <a:ln/>
        </p:spPr>
        <p:txBody>
          <a:bodyPr/>
          <a:lstStyle/>
          <a:p>
            <a:endParaRPr lang="es-CL"/>
          </a:p>
        </p:txBody>
      </p:sp>
      <p:sp>
        <p:nvSpPr>
          <p:cNvPr id="6" name="Shape 4"/>
          <p:cNvSpPr/>
          <p:nvPr/>
        </p:nvSpPr>
        <p:spPr>
          <a:xfrm>
            <a:off x="793790" y="2857857"/>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7" name="Shape 5"/>
          <p:cNvSpPr/>
          <p:nvPr/>
        </p:nvSpPr>
        <p:spPr>
          <a:xfrm>
            <a:off x="816650" y="2880717"/>
            <a:ext cx="725805" cy="1059656"/>
          </a:xfrm>
          <a:prstGeom prst="rect">
            <a:avLst/>
          </a:prstGeom>
          <a:solidFill>
            <a:srgbClr val="F2EEEE"/>
          </a:solidFill>
          <a:ln/>
        </p:spPr>
        <p:txBody>
          <a:bodyPr/>
          <a:lstStyle/>
          <a:p>
            <a:endParaRPr lang="es-CL"/>
          </a:p>
        </p:txBody>
      </p:sp>
      <p:sp>
        <p:nvSpPr>
          <p:cNvPr id="8" name="Text 6"/>
          <p:cNvSpPr/>
          <p:nvPr/>
        </p:nvSpPr>
        <p:spPr>
          <a:xfrm>
            <a:off x="1043464" y="3240405"/>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1</a:t>
            </a:r>
            <a:endParaRPr lang="en-US" sz="2100" dirty="0"/>
          </a:p>
        </p:txBody>
      </p:sp>
      <p:sp>
        <p:nvSpPr>
          <p:cNvPr id="9" name="Text 7"/>
          <p:cNvSpPr/>
          <p:nvPr/>
        </p:nvSpPr>
        <p:spPr>
          <a:xfrm>
            <a:off x="1723906" y="3062168"/>
            <a:ext cx="2950131" cy="297656"/>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Orientar el juicio evaluativo</a:t>
            </a:r>
            <a:endParaRPr lang="en-US" sz="1850" dirty="0"/>
          </a:p>
        </p:txBody>
      </p:sp>
      <p:sp>
        <p:nvSpPr>
          <p:cNvPr id="10" name="Text 8"/>
          <p:cNvSpPr/>
          <p:nvPr/>
        </p:nvSpPr>
        <p:spPr>
          <a:xfrm>
            <a:off x="1723906" y="3468648"/>
            <a:ext cx="11908393" cy="290274"/>
          </a:xfrm>
          <a:prstGeom prst="rect">
            <a:avLst/>
          </a:prstGeom>
          <a:noFill/>
          <a:ln/>
        </p:spPr>
        <p:txBody>
          <a:bodyPr wrap="none" lIns="0" tIns="0" rIns="0" bIns="0" rtlCol="0" anchor="t"/>
          <a:lstStyle/>
          <a:p>
            <a:pPr marL="0" indent="0" algn="l">
              <a:lnSpc>
                <a:spcPts val="2250"/>
              </a:lnSpc>
              <a:buNone/>
            </a:pPr>
            <a:r>
              <a:rPr lang="en-US" sz="1400" dirty="0" err="1">
                <a:solidFill>
                  <a:srgbClr val="383838"/>
                </a:solidFill>
                <a:latin typeface="DM Sans" pitchFamily="34" charset="0"/>
                <a:ea typeface="DM Sans" pitchFamily="34" charset="-122"/>
                <a:cs typeface="DM Sans" pitchFamily="34" charset="-120"/>
              </a:rPr>
              <a:t>Explicitar</a:t>
            </a:r>
            <a:r>
              <a:rPr lang="en-US" sz="1400" dirty="0">
                <a:solidFill>
                  <a:srgbClr val="383838"/>
                </a:solidFill>
                <a:latin typeface="DM Sans" pitchFamily="34" charset="0"/>
                <a:ea typeface="DM Sans" pitchFamily="34" charset="-122"/>
                <a:cs typeface="DM Sans" pitchFamily="34" charset="-120"/>
              </a:rPr>
              <a:t> </a:t>
            </a:r>
            <a:r>
              <a:rPr lang="en-US" sz="1400" dirty="0" err="1">
                <a:solidFill>
                  <a:srgbClr val="383838"/>
                </a:solidFill>
                <a:latin typeface="DM Sans" pitchFamily="34" charset="0"/>
                <a:ea typeface="DM Sans" pitchFamily="34" charset="-122"/>
                <a:cs typeface="DM Sans" pitchFamily="34" charset="-120"/>
              </a:rPr>
              <a:t>el</a:t>
            </a:r>
            <a:r>
              <a:rPr lang="en-US" sz="1400" dirty="0">
                <a:solidFill>
                  <a:srgbClr val="383838"/>
                </a:solidFill>
                <a:latin typeface="DM Sans" pitchFamily="34" charset="0"/>
                <a:ea typeface="DM Sans" pitchFamily="34" charset="-122"/>
                <a:cs typeface="DM Sans" pitchFamily="34" charset="-120"/>
              </a:rPr>
              <a:t> </a:t>
            </a:r>
            <a:r>
              <a:rPr lang="en-US" sz="1400" dirty="0" err="1">
                <a:solidFill>
                  <a:srgbClr val="383838"/>
                </a:solidFill>
                <a:latin typeface="DM Sans" pitchFamily="34" charset="0"/>
                <a:ea typeface="DM Sans" pitchFamily="34" charset="-122"/>
                <a:cs typeface="DM Sans" pitchFamily="34" charset="-120"/>
              </a:rPr>
              <a:t>niveles</a:t>
            </a:r>
            <a:r>
              <a:rPr lang="en-US" sz="1400" dirty="0">
                <a:solidFill>
                  <a:srgbClr val="383838"/>
                </a:solidFill>
                <a:latin typeface="DM Sans" pitchFamily="34" charset="0"/>
                <a:ea typeface="DM Sans" pitchFamily="34" charset="-122"/>
                <a:cs typeface="DM Sans" pitchFamily="34" charset="-120"/>
              </a:rPr>
              <a:t> de </a:t>
            </a:r>
            <a:r>
              <a:rPr lang="en-US" sz="1400" dirty="0" err="1">
                <a:solidFill>
                  <a:srgbClr val="383838"/>
                </a:solidFill>
                <a:latin typeface="DM Sans" pitchFamily="34" charset="0"/>
                <a:ea typeface="DM Sans" pitchFamily="34" charset="-122"/>
                <a:cs typeface="DM Sans" pitchFamily="34" charset="-120"/>
              </a:rPr>
              <a:t>desempeño</a:t>
            </a:r>
            <a:r>
              <a:rPr lang="en-US" sz="1400" dirty="0">
                <a:solidFill>
                  <a:srgbClr val="383838"/>
                </a:solidFill>
                <a:latin typeface="DM Sans" pitchFamily="34" charset="0"/>
                <a:ea typeface="DM Sans" pitchFamily="34" charset="-122"/>
                <a:cs typeface="DM Sans" pitchFamily="34" charset="-120"/>
              </a:rPr>
              <a:t> </a:t>
            </a:r>
            <a:r>
              <a:rPr lang="en-US" sz="1400" dirty="0" err="1">
                <a:solidFill>
                  <a:srgbClr val="383838"/>
                </a:solidFill>
                <a:latin typeface="DM Sans" pitchFamily="34" charset="0"/>
                <a:ea typeface="DM Sans" pitchFamily="34" charset="-122"/>
                <a:cs typeface="DM Sans" pitchFamily="34" charset="-120"/>
              </a:rPr>
              <a:t>académico</a:t>
            </a:r>
            <a:r>
              <a:rPr lang="en-US" sz="1400" dirty="0">
                <a:solidFill>
                  <a:srgbClr val="383838"/>
                </a:solidFill>
                <a:latin typeface="DM Sans" pitchFamily="34" charset="0"/>
                <a:ea typeface="DM Sans" pitchFamily="34" charset="-122"/>
                <a:cs typeface="DM Sans" pitchFamily="34" charset="-120"/>
              </a:rPr>
              <a:t> </a:t>
            </a:r>
            <a:r>
              <a:rPr lang="en-US" sz="1400" dirty="0" err="1">
                <a:solidFill>
                  <a:srgbClr val="383838"/>
                </a:solidFill>
                <a:latin typeface="DM Sans" pitchFamily="34" charset="0"/>
                <a:ea typeface="DM Sans" pitchFamily="34" charset="-122"/>
                <a:cs typeface="DM Sans" pitchFamily="34" charset="-120"/>
              </a:rPr>
              <a:t>esperado</a:t>
            </a:r>
            <a:r>
              <a:rPr lang="en-US" sz="1400" dirty="0">
                <a:solidFill>
                  <a:srgbClr val="383838"/>
                </a:solidFill>
                <a:latin typeface="DM Sans" pitchFamily="34" charset="0"/>
                <a:ea typeface="DM Sans" pitchFamily="34" charset="-122"/>
                <a:cs typeface="DM Sans" pitchFamily="34" charset="-120"/>
              </a:rPr>
              <a:t> a </a:t>
            </a:r>
            <a:r>
              <a:rPr lang="en-US" sz="1400" dirty="0" err="1">
                <a:solidFill>
                  <a:srgbClr val="383838"/>
                </a:solidFill>
                <a:latin typeface="DM Sans" pitchFamily="34" charset="0"/>
                <a:ea typeface="DM Sans" pitchFamily="34" charset="-122"/>
                <a:cs typeface="DM Sans" pitchFamily="34" charset="-120"/>
              </a:rPr>
              <a:t>través</a:t>
            </a:r>
            <a:r>
              <a:rPr lang="en-US" sz="1400" dirty="0">
                <a:solidFill>
                  <a:srgbClr val="383838"/>
                </a:solidFill>
                <a:latin typeface="DM Sans" pitchFamily="34" charset="0"/>
                <a:ea typeface="DM Sans" pitchFamily="34" charset="-122"/>
                <a:cs typeface="DM Sans" pitchFamily="34" charset="-120"/>
              </a:rPr>
              <a:t> de </a:t>
            </a:r>
            <a:r>
              <a:rPr lang="en-US" sz="1400" dirty="0" err="1">
                <a:solidFill>
                  <a:srgbClr val="383838"/>
                </a:solidFill>
                <a:latin typeface="DM Sans" pitchFamily="34" charset="0"/>
                <a:ea typeface="DM Sans" pitchFamily="34" charset="-122"/>
                <a:cs typeface="DM Sans" pitchFamily="34" charset="-120"/>
              </a:rPr>
              <a:t>descriptores</a:t>
            </a:r>
            <a:endParaRPr lang="en-US" sz="1400" dirty="0"/>
          </a:p>
        </p:txBody>
      </p:sp>
      <p:sp>
        <p:nvSpPr>
          <p:cNvPr id="11" name="Shape 9"/>
          <p:cNvSpPr/>
          <p:nvPr/>
        </p:nvSpPr>
        <p:spPr>
          <a:xfrm>
            <a:off x="793790" y="4144685"/>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2" name="Shape 10"/>
          <p:cNvSpPr/>
          <p:nvPr/>
        </p:nvSpPr>
        <p:spPr>
          <a:xfrm>
            <a:off x="816650" y="4167545"/>
            <a:ext cx="725805" cy="1059656"/>
          </a:xfrm>
          <a:prstGeom prst="rect">
            <a:avLst/>
          </a:prstGeom>
          <a:solidFill>
            <a:srgbClr val="F2EEEE"/>
          </a:solidFill>
          <a:ln/>
        </p:spPr>
        <p:txBody>
          <a:bodyPr/>
          <a:lstStyle/>
          <a:p>
            <a:endParaRPr lang="es-CL"/>
          </a:p>
        </p:txBody>
      </p:sp>
      <p:sp>
        <p:nvSpPr>
          <p:cNvPr id="13" name="Text 11"/>
          <p:cNvSpPr/>
          <p:nvPr/>
        </p:nvSpPr>
        <p:spPr>
          <a:xfrm>
            <a:off x="1043464" y="4527233"/>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2</a:t>
            </a:r>
            <a:endParaRPr lang="en-US" sz="2100" dirty="0"/>
          </a:p>
        </p:txBody>
      </p:sp>
      <p:sp>
        <p:nvSpPr>
          <p:cNvPr id="14" name="Text 12"/>
          <p:cNvSpPr/>
          <p:nvPr/>
        </p:nvSpPr>
        <p:spPr>
          <a:xfrm>
            <a:off x="1723906" y="4348996"/>
            <a:ext cx="2381607" cy="297656"/>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Asegurar coherencia</a:t>
            </a:r>
            <a:endParaRPr lang="en-US" sz="1850" dirty="0"/>
          </a:p>
        </p:txBody>
      </p:sp>
      <p:sp>
        <p:nvSpPr>
          <p:cNvPr id="15" name="Text 13"/>
          <p:cNvSpPr/>
          <p:nvPr/>
        </p:nvSpPr>
        <p:spPr>
          <a:xfrm>
            <a:off x="1723906" y="4755475"/>
            <a:ext cx="11908393"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Entre jerarquía, funciones y evaluación</a:t>
            </a:r>
            <a:endParaRPr lang="en-US" sz="1400" dirty="0"/>
          </a:p>
        </p:txBody>
      </p:sp>
      <p:sp>
        <p:nvSpPr>
          <p:cNvPr id="16" name="Shape 14"/>
          <p:cNvSpPr/>
          <p:nvPr/>
        </p:nvSpPr>
        <p:spPr>
          <a:xfrm>
            <a:off x="793790" y="5431512"/>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7" name="Shape 15"/>
          <p:cNvSpPr/>
          <p:nvPr/>
        </p:nvSpPr>
        <p:spPr>
          <a:xfrm>
            <a:off x="816650" y="5454372"/>
            <a:ext cx="725805" cy="1059656"/>
          </a:xfrm>
          <a:prstGeom prst="rect">
            <a:avLst/>
          </a:prstGeom>
          <a:solidFill>
            <a:srgbClr val="F2EEEE"/>
          </a:solidFill>
          <a:ln/>
        </p:spPr>
        <p:txBody>
          <a:bodyPr/>
          <a:lstStyle/>
          <a:p>
            <a:endParaRPr lang="es-CL"/>
          </a:p>
        </p:txBody>
      </p:sp>
      <p:sp>
        <p:nvSpPr>
          <p:cNvPr id="18" name="Text 16"/>
          <p:cNvSpPr/>
          <p:nvPr/>
        </p:nvSpPr>
        <p:spPr>
          <a:xfrm>
            <a:off x="1043464" y="5814060"/>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3</a:t>
            </a:r>
            <a:endParaRPr lang="en-US" sz="2100" dirty="0"/>
          </a:p>
        </p:txBody>
      </p:sp>
      <p:sp>
        <p:nvSpPr>
          <p:cNvPr id="19" name="Text 17"/>
          <p:cNvSpPr/>
          <p:nvPr/>
        </p:nvSpPr>
        <p:spPr>
          <a:xfrm>
            <a:off x="1723906" y="5635823"/>
            <a:ext cx="2384108" cy="297656"/>
          </a:xfrm>
          <a:prstGeom prst="rect">
            <a:avLst/>
          </a:prstGeom>
          <a:noFill/>
          <a:ln/>
        </p:spPr>
        <p:txBody>
          <a:bodyPr wrap="none" lIns="0" tIns="0" rIns="0" bIns="0" rtlCol="0" anchor="t"/>
          <a:lstStyle/>
          <a:p>
            <a:pPr marL="0" indent="0" algn="l">
              <a:lnSpc>
                <a:spcPts val="2300"/>
              </a:lnSpc>
              <a:buNone/>
            </a:pPr>
            <a:r>
              <a:rPr lang="en-US" sz="1850" dirty="0">
                <a:solidFill>
                  <a:srgbClr val="383838"/>
                </a:solidFill>
                <a:latin typeface="PT Serif" pitchFamily="34" charset="0"/>
                <a:ea typeface="PT Serif" pitchFamily="34" charset="-122"/>
                <a:cs typeface="PT Serif" pitchFamily="34" charset="-120"/>
              </a:rPr>
              <a:t>Reducir ambigüedades</a:t>
            </a:r>
            <a:endParaRPr lang="en-US" sz="1850" dirty="0"/>
          </a:p>
        </p:txBody>
      </p:sp>
      <p:sp>
        <p:nvSpPr>
          <p:cNvPr id="20" name="Text 18"/>
          <p:cNvSpPr/>
          <p:nvPr/>
        </p:nvSpPr>
        <p:spPr>
          <a:xfrm>
            <a:off x="1723906" y="6042303"/>
            <a:ext cx="11908393" cy="290274"/>
          </a:xfrm>
          <a:prstGeom prst="rect">
            <a:avLst/>
          </a:prstGeom>
          <a:noFill/>
          <a:ln/>
        </p:spPr>
        <p:txBody>
          <a:bodyPr wrap="none" lIns="0" tIns="0" rIns="0" bIns="0" rtlCol="0" anchor="t"/>
          <a:lstStyle/>
          <a:p>
            <a:pPr marL="0" indent="0" algn="l">
              <a:lnSpc>
                <a:spcPts val="2250"/>
              </a:lnSpc>
              <a:buNone/>
            </a:pPr>
            <a:r>
              <a:rPr lang="en-US" sz="1400" dirty="0">
                <a:solidFill>
                  <a:srgbClr val="383838"/>
                </a:solidFill>
                <a:latin typeface="DM Sans" pitchFamily="34" charset="0"/>
                <a:ea typeface="DM Sans" pitchFamily="34" charset="-122"/>
                <a:cs typeface="DM Sans" pitchFamily="34" charset="-120"/>
              </a:rPr>
              <a:t>Fortalecer transparencia y consistencia del proceso</a:t>
            </a:r>
            <a:endParaRPr lang="en-US" sz="1400" dirty="0"/>
          </a:p>
        </p:txBody>
      </p:sp>
      <p:sp>
        <p:nvSpPr>
          <p:cNvPr id="21" name="Shape 19"/>
          <p:cNvSpPr/>
          <p:nvPr/>
        </p:nvSpPr>
        <p:spPr>
          <a:xfrm>
            <a:off x="793790" y="6740962"/>
            <a:ext cx="13042821" cy="771049"/>
          </a:xfrm>
          <a:prstGeom prst="roundRect">
            <a:avLst>
              <a:gd name="adj" fmla="val 3530"/>
            </a:avLst>
          </a:prstGeom>
          <a:solidFill>
            <a:srgbClr val="FFCDB3"/>
          </a:solidFill>
          <a:ln/>
        </p:spPr>
        <p:txBody>
          <a:bodyPr/>
          <a:lstStyle/>
          <a:p>
            <a:endParaRPr lang="es-CL"/>
          </a:p>
        </p:txBody>
      </p:sp>
      <p:pic>
        <p:nvPicPr>
          <p:cNvPr id="22" name="Image 0" descr="preencoded.png"/>
          <p:cNvPicPr>
            <a:picLocks noChangeAspect="1"/>
          </p:cNvPicPr>
          <p:nvPr/>
        </p:nvPicPr>
        <p:blipFill>
          <a:blip r:embed="rId3"/>
          <a:stretch>
            <a:fillRect/>
          </a:stretch>
        </p:blipFill>
        <p:spPr>
          <a:xfrm>
            <a:off x="975241" y="7014686"/>
            <a:ext cx="226814" cy="181451"/>
          </a:xfrm>
          <a:prstGeom prst="rect">
            <a:avLst/>
          </a:prstGeom>
        </p:spPr>
      </p:pic>
      <p:sp>
        <p:nvSpPr>
          <p:cNvPr id="23" name="Text 20"/>
          <p:cNvSpPr/>
          <p:nvPr/>
        </p:nvSpPr>
        <p:spPr>
          <a:xfrm>
            <a:off x="1383506" y="6967776"/>
            <a:ext cx="12271653" cy="290274"/>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latin typeface="DM Sans" pitchFamily="34" charset="0"/>
                <a:ea typeface="DM Sans" pitchFamily="34" charset="-122"/>
                <a:cs typeface="DM Sans" pitchFamily="34" charset="-120"/>
              </a:rPr>
              <a:t>Las rúbricas no operan como listas de verificación, sino como </a:t>
            </a:r>
            <a:r>
              <a:rPr lang="en-US" sz="1400" b="1" dirty="0">
                <a:solidFill>
                  <a:srgbClr val="000000"/>
                </a:solidFill>
                <a:latin typeface="DM Sans" pitchFamily="34" charset="0"/>
                <a:ea typeface="DM Sans" pitchFamily="34" charset="-122"/>
                <a:cs typeface="DM Sans" pitchFamily="34" charset="-120"/>
              </a:rPr>
              <a:t>marcos de referencia normativos</a:t>
            </a:r>
            <a:r>
              <a:rPr lang="en-US" sz="1400" dirty="0">
                <a:solidFill>
                  <a:srgbClr val="000000"/>
                </a:solidFill>
                <a:latin typeface="DM Sans" pitchFamily="34" charset="0"/>
                <a:ea typeface="DM Sans" pitchFamily="34" charset="-122"/>
                <a:cs typeface="DM Sans" pitchFamily="34" charset="-120"/>
              </a:rPr>
              <a:t> para la toma de decisiones evaluativas</a:t>
            </a:r>
            <a:endParaRPr lang="en-US" sz="1400" dirty="0"/>
          </a:p>
        </p:txBody>
      </p:sp>
      <p:sp>
        <p:nvSpPr>
          <p:cNvPr id="24" name="Rectángulo 23">
            <a:extLst>
              <a:ext uri="{FF2B5EF4-FFF2-40B4-BE49-F238E27FC236}">
                <a16:creationId xmlns:a16="http://schemas.microsoft.com/office/drawing/2014/main" id="{9C4F55B6-9A8F-4419-DC6A-02F7D397F365}"/>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6" name="CuadroTexto 25">
            <a:extLst>
              <a:ext uri="{FF2B5EF4-FFF2-40B4-BE49-F238E27FC236}">
                <a16:creationId xmlns:a16="http://schemas.microsoft.com/office/drawing/2014/main" id="{4B7868B1-786A-C63A-D2D9-A1B7D108EE2F}"/>
              </a:ext>
            </a:extLst>
          </p:cNvPr>
          <p:cNvSpPr txBox="1"/>
          <p:nvPr/>
        </p:nvSpPr>
        <p:spPr>
          <a:xfrm>
            <a:off x="5735781" y="1306495"/>
            <a:ext cx="7315200" cy="369332"/>
          </a:xfrm>
          <a:prstGeom prst="rect">
            <a:avLst/>
          </a:prstGeom>
          <a:noFill/>
        </p:spPr>
        <p:txBody>
          <a:bodyPr wrap="square">
            <a:spAutoFit/>
          </a:bodyPr>
          <a:lstStyle/>
          <a:p>
            <a:endParaRPr lang="es-CL"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15"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13" name="Google Shape;113;p15" descr="image.png"/>
          <p:cNvPicPr preferRelativeResize="0"/>
          <p:nvPr/>
        </p:nvPicPr>
        <p:blipFill rotWithShape="1">
          <a:blip r:embed="rId4">
            <a:alphaModFix/>
          </a:blip>
          <a:srcRect/>
          <a:stretch/>
        </p:blipFill>
        <p:spPr>
          <a:xfrm>
            <a:off x="914400" y="2331720"/>
            <a:ext cx="6057900" cy="5212080"/>
          </a:xfrm>
          <a:prstGeom prst="rect">
            <a:avLst/>
          </a:prstGeom>
          <a:noFill/>
          <a:ln>
            <a:noFill/>
          </a:ln>
        </p:spPr>
      </p:pic>
      <p:pic>
        <p:nvPicPr>
          <p:cNvPr id="114" name="Google Shape;114;p15" descr="image.png"/>
          <p:cNvPicPr preferRelativeResize="0"/>
          <p:nvPr/>
        </p:nvPicPr>
        <p:blipFill rotWithShape="1">
          <a:blip r:embed="rId5">
            <a:alphaModFix/>
          </a:blip>
          <a:srcRect/>
          <a:stretch/>
        </p:blipFill>
        <p:spPr>
          <a:xfrm>
            <a:off x="7658100" y="2331720"/>
            <a:ext cx="6057900" cy="5212080"/>
          </a:xfrm>
          <a:prstGeom prst="rect">
            <a:avLst/>
          </a:prstGeom>
          <a:noFill/>
          <a:ln>
            <a:noFill/>
          </a:ln>
        </p:spPr>
      </p:pic>
      <p:sp>
        <p:nvSpPr>
          <p:cNvPr id="115" name="Google Shape;115;p15"/>
          <p:cNvSpPr/>
          <p:nvPr/>
        </p:nvSpPr>
        <p:spPr>
          <a:xfrm>
            <a:off x="0" y="0"/>
            <a:ext cx="14630400" cy="91440"/>
          </a:xfrm>
          <a:prstGeom prst="rect">
            <a:avLst/>
          </a:prstGeom>
          <a:solidFill>
            <a:srgbClr val="0F172A"/>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16" name="Google Shape;116;p15"/>
          <p:cNvSpPr txBox="1"/>
          <p:nvPr/>
        </p:nvSpPr>
        <p:spPr>
          <a:xfrm>
            <a:off x="1428750" y="3676173"/>
            <a:ext cx="5340667"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Lo que NO evalúan</a:t>
            </a:r>
            <a:endParaRPr sz="2160"/>
          </a:p>
        </p:txBody>
      </p:sp>
      <p:sp>
        <p:nvSpPr>
          <p:cNvPr id="117" name="Google Shape;117;p15"/>
          <p:cNvSpPr txBox="1"/>
          <p:nvPr/>
        </p:nvSpPr>
        <p:spPr>
          <a:xfrm>
            <a:off x="1428751" y="4247674"/>
            <a:ext cx="508635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No se centran en el mero cumplimiento de actividades (checklist).</a:t>
            </a:r>
            <a:endParaRPr sz="2160"/>
          </a:p>
        </p:txBody>
      </p:sp>
      <p:sp>
        <p:nvSpPr>
          <p:cNvPr id="118" name="Google Shape;118;p15"/>
          <p:cNvSpPr txBox="1"/>
          <p:nvPr/>
        </p:nvSpPr>
        <p:spPr>
          <a:xfrm>
            <a:off x="1428751" y="5223510"/>
            <a:ext cx="508635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No miden la cantidad o calidad intrínseca de los productos académicos por sí solos.</a:t>
            </a:r>
            <a:endParaRPr sz="2160"/>
          </a:p>
        </p:txBody>
      </p:sp>
      <p:sp>
        <p:nvSpPr>
          <p:cNvPr id="119" name="Google Shape;119;p15"/>
          <p:cNvSpPr txBox="1"/>
          <p:nvPr/>
        </p:nvSpPr>
        <p:spPr>
          <a:xfrm>
            <a:off x="8172450" y="3475076"/>
            <a:ext cx="5340667"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Lo que SÍ evalúan</a:t>
            </a:r>
            <a:endParaRPr sz="2160"/>
          </a:p>
        </p:txBody>
      </p:sp>
      <p:sp>
        <p:nvSpPr>
          <p:cNvPr id="120" name="Google Shape;120;p15"/>
          <p:cNvSpPr txBox="1"/>
          <p:nvPr/>
        </p:nvSpPr>
        <p:spPr>
          <a:xfrm>
            <a:off x="8172451" y="4046577"/>
            <a:ext cx="5086350" cy="48750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Su fin es </a:t>
            </a:r>
            <a:r>
              <a:rPr lang="en-US" sz="1980" b="1">
                <a:solidFill>
                  <a:srgbClr val="475569"/>
                </a:solidFill>
                <a:latin typeface="Inter"/>
                <a:ea typeface="Inter"/>
                <a:cs typeface="Inter"/>
                <a:sym typeface="Inter"/>
              </a:rPr>
              <a:t>fundamentar el juicio evaluativo</a:t>
            </a:r>
            <a:r>
              <a:rPr lang="en-US" sz="1980">
                <a:solidFill>
                  <a:srgbClr val="475569"/>
                </a:solidFill>
                <a:latin typeface="Inter"/>
                <a:ea typeface="Inter"/>
                <a:cs typeface="Inter"/>
                <a:sym typeface="Inter"/>
              </a:rPr>
              <a:t>.</a:t>
            </a:r>
            <a:endParaRPr sz="2160"/>
          </a:p>
        </p:txBody>
      </p:sp>
      <p:sp>
        <p:nvSpPr>
          <p:cNvPr id="121" name="Google Shape;121;p15"/>
          <p:cNvSpPr txBox="1"/>
          <p:nvPr/>
        </p:nvSpPr>
        <p:spPr>
          <a:xfrm>
            <a:off x="8172451" y="5022414"/>
            <a:ext cx="5086350" cy="146251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Establecen si las evidencias presentadas son coherentes con el rol académico correspondiente a la jerarquía.</a:t>
            </a:r>
            <a:endParaRPr sz="2160"/>
          </a:p>
        </p:txBody>
      </p:sp>
      <p:sp>
        <p:nvSpPr>
          <p:cNvPr id="122" name="Google Shape;122;p15"/>
          <p:cNvSpPr txBox="1"/>
          <p:nvPr/>
        </p:nvSpPr>
        <p:spPr>
          <a:xfrm>
            <a:off x="914400" y="777241"/>
            <a:ext cx="13441680" cy="664797"/>
          </a:xfrm>
          <a:prstGeom prst="rect">
            <a:avLst/>
          </a:prstGeom>
          <a:noFill/>
          <a:ln>
            <a:noFill/>
          </a:ln>
        </p:spPr>
        <p:txBody>
          <a:bodyPr spcFirstLastPara="1" wrap="square" lIns="0" tIns="0" rIns="0" bIns="0" anchor="t" anchorCtr="0">
            <a:spAutoFit/>
          </a:bodyPr>
          <a:lstStyle/>
          <a:p>
            <a:r>
              <a:rPr lang="en-US" sz="4320" b="1">
                <a:solidFill>
                  <a:srgbClr val="0F172A"/>
                </a:solidFill>
                <a:latin typeface="Playfair Display"/>
                <a:ea typeface="Playfair Display"/>
                <a:cs typeface="Playfair Display"/>
                <a:sym typeface="Playfair Display"/>
              </a:rPr>
              <a:t>Propósito Central</a:t>
            </a:r>
            <a:endParaRPr sz="2160"/>
          </a:p>
        </p:txBody>
      </p:sp>
      <p:sp>
        <p:nvSpPr>
          <p:cNvPr id="123" name="Google Shape;123;p15"/>
          <p:cNvSpPr/>
          <p:nvPr/>
        </p:nvSpPr>
        <p:spPr>
          <a:xfrm>
            <a:off x="914400" y="1737360"/>
            <a:ext cx="128016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6"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29" name="Google Shape;129;p16" descr="image.png"/>
          <p:cNvPicPr preferRelativeResize="0"/>
          <p:nvPr/>
        </p:nvPicPr>
        <p:blipFill rotWithShape="1">
          <a:blip r:embed="rId4">
            <a:alphaModFix/>
          </a:blip>
          <a:srcRect/>
          <a:stretch/>
        </p:blipFill>
        <p:spPr>
          <a:xfrm>
            <a:off x="914400" y="5652135"/>
            <a:ext cx="12801600" cy="1490185"/>
          </a:xfrm>
          <a:prstGeom prst="rect">
            <a:avLst/>
          </a:prstGeom>
          <a:noFill/>
          <a:ln>
            <a:noFill/>
          </a:ln>
        </p:spPr>
      </p:pic>
      <p:sp>
        <p:nvSpPr>
          <p:cNvPr id="130" name="Google Shape;130;p16"/>
          <p:cNvSpPr/>
          <p:nvPr/>
        </p:nvSpPr>
        <p:spPr>
          <a:xfrm>
            <a:off x="0" y="0"/>
            <a:ext cx="14630400" cy="91440"/>
          </a:xfrm>
          <a:prstGeom prst="rect">
            <a:avLst/>
          </a:prstGeom>
          <a:solidFill>
            <a:srgbClr val="0F172A"/>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31" name="Google Shape;131;p16"/>
          <p:cNvSpPr txBox="1"/>
          <p:nvPr/>
        </p:nvSpPr>
        <p:spPr>
          <a:xfrm>
            <a:off x="2057400" y="2733019"/>
            <a:ext cx="10515600" cy="2443169"/>
          </a:xfrm>
          <a:prstGeom prst="rect">
            <a:avLst/>
          </a:prstGeom>
          <a:noFill/>
          <a:ln>
            <a:noFill/>
          </a:ln>
        </p:spPr>
        <p:txBody>
          <a:bodyPr spcFirstLastPara="1" wrap="square" lIns="0" tIns="0" rIns="0" bIns="0" anchor="t" anchorCtr="0">
            <a:spAutoFit/>
          </a:bodyPr>
          <a:lstStyle/>
          <a:p>
            <a:pPr algn="ctr">
              <a:lnSpc>
                <a:spcPct val="139968"/>
              </a:lnSpc>
            </a:pPr>
            <a:r>
              <a:rPr lang="en-US" sz="3780" i="1" dirty="0">
                <a:solidFill>
                  <a:srgbClr val="0F172A"/>
                </a:solidFill>
                <a:latin typeface="Playfair Display"/>
                <a:ea typeface="Playfair Display"/>
                <a:cs typeface="Playfair Display"/>
                <a:sym typeface="Playfair Display"/>
              </a:rPr>
              <a:t> "El </a:t>
            </a:r>
            <a:r>
              <a:rPr lang="en-US" sz="3780" i="1" dirty="0" err="1">
                <a:solidFill>
                  <a:srgbClr val="0F172A"/>
                </a:solidFill>
                <a:latin typeface="Playfair Display"/>
                <a:ea typeface="Playfair Display"/>
                <a:cs typeface="Playfair Display"/>
                <a:sym typeface="Playfair Display"/>
              </a:rPr>
              <a:t>juicio</a:t>
            </a:r>
            <a:r>
              <a:rPr lang="en-US" sz="3780" i="1" dirty="0">
                <a:solidFill>
                  <a:srgbClr val="0F172A"/>
                </a:solidFill>
                <a:latin typeface="Playfair Display"/>
                <a:ea typeface="Playfair Display"/>
                <a:cs typeface="Playfair Display"/>
                <a:sym typeface="Playfair Display"/>
              </a:rPr>
              <a:t> se </a:t>
            </a:r>
            <a:r>
              <a:rPr lang="en-US" sz="3780" i="1" dirty="0" err="1">
                <a:solidFill>
                  <a:srgbClr val="0F172A"/>
                </a:solidFill>
                <a:latin typeface="Playfair Display"/>
                <a:ea typeface="Playfair Display"/>
                <a:cs typeface="Playfair Display"/>
                <a:sym typeface="Playfair Display"/>
              </a:rPr>
              <a:t>emite</a:t>
            </a:r>
            <a:r>
              <a:rPr lang="en-US" sz="3780" i="1" dirty="0">
                <a:solidFill>
                  <a:srgbClr val="0F172A"/>
                </a:solidFill>
                <a:latin typeface="Playfair Display"/>
                <a:ea typeface="Playfair Display"/>
                <a:cs typeface="Playfair Display"/>
                <a:sym typeface="Playfair Display"/>
              </a:rPr>
              <a:t> de </a:t>
            </a:r>
            <a:r>
              <a:rPr lang="en-US" sz="3780" i="1" dirty="0" err="1">
                <a:solidFill>
                  <a:srgbClr val="0F172A"/>
                </a:solidFill>
                <a:latin typeface="Playfair Display"/>
                <a:ea typeface="Playfair Display"/>
                <a:cs typeface="Playfair Display"/>
                <a:sym typeface="Playfair Display"/>
              </a:rPr>
              <a:t>manera</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integrada</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sobre</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el</a:t>
            </a:r>
            <a:r>
              <a:rPr lang="en-US" sz="3780" i="1" dirty="0">
                <a:solidFill>
                  <a:srgbClr val="0F172A"/>
                </a:solidFill>
                <a:latin typeface="Playfair Display"/>
                <a:ea typeface="Playfair Display"/>
                <a:cs typeface="Playfair Display"/>
                <a:sym typeface="Playfair Display"/>
              </a:rPr>
              <a:t> conjunto de </a:t>
            </a:r>
            <a:r>
              <a:rPr lang="en-US" sz="3780" i="1" dirty="0" err="1">
                <a:solidFill>
                  <a:srgbClr val="0F172A"/>
                </a:solidFill>
                <a:latin typeface="Playfair Display"/>
                <a:ea typeface="Playfair Display"/>
                <a:cs typeface="Playfair Display"/>
                <a:sym typeface="Playfair Display"/>
              </a:rPr>
              <a:t>evidencias</a:t>
            </a:r>
            <a:r>
              <a:rPr lang="en-US" sz="3780" i="1" dirty="0">
                <a:solidFill>
                  <a:srgbClr val="0F172A"/>
                </a:solidFill>
                <a:latin typeface="Playfair Display"/>
                <a:ea typeface="Playfair Display"/>
                <a:cs typeface="Playfair Display"/>
                <a:sym typeface="Playfair Display"/>
              </a:rPr>
              <a:t>, sin </a:t>
            </a:r>
            <a:r>
              <a:rPr lang="en-US" sz="3780" i="1" dirty="0" err="1">
                <a:solidFill>
                  <a:srgbClr val="0F172A"/>
                </a:solidFill>
                <a:latin typeface="Playfair Display"/>
                <a:ea typeface="Playfair Display"/>
                <a:cs typeface="Playfair Display"/>
                <a:sym typeface="Playfair Display"/>
              </a:rPr>
              <a:t>descomponer</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el</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desempeño</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en</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indicadores</a:t>
            </a:r>
            <a:r>
              <a:rPr lang="en-US" sz="3780" i="1" dirty="0">
                <a:solidFill>
                  <a:srgbClr val="0F172A"/>
                </a:solidFill>
                <a:latin typeface="Playfair Display"/>
                <a:ea typeface="Playfair Display"/>
                <a:cs typeface="Playfair Display"/>
                <a:sym typeface="Playfair Display"/>
              </a:rPr>
              <a:t> </a:t>
            </a:r>
            <a:r>
              <a:rPr lang="en-US" sz="3780" i="1" dirty="0" err="1">
                <a:solidFill>
                  <a:srgbClr val="0F172A"/>
                </a:solidFill>
                <a:latin typeface="Playfair Display"/>
                <a:ea typeface="Playfair Display"/>
                <a:cs typeface="Playfair Display"/>
                <a:sym typeface="Playfair Display"/>
              </a:rPr>
              <a:t>parciales</a:t>
            </a:r>
            <a:r>
              <a:rPr lang="en-US" sz="3780" i="1" dirty="0">
                <a:solidFill>
                  <a:srgbClr val="0F172A"/>
                </a:solidFill>
                <a:latin typeface="Playfair Display"/>
                <a:ea typeface="Playfair Display"/>
                <a:cs typeface="Playfair Display"/>
                <a:sym typeface="Playfair Display"/>
              </a:rPr>
              <a:t>." </a:t>
            </a:r>
            <a:endParaRPr sz="2160" dirty="0"/>
          </a:p>
        </p:txBody>
      </p:sp>
      <p:sp>
        <p:nvSpPr>
          <p:cNvPr id="133" name="Google Shape;133;p16"/>
          <p:cNvSpPr txBox="1"/>
          <p:nvPr/>
        </p:nvSpPr>
        <p:spPr>
          <a:xfrm>
            <a:off x="1325880" y="5995035"/>
            <a:ext cx="1204722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1E3A8A"/>
                </a:solidFill>
                <a:latin typeface="Inter Medium"/>
                <a:ea typeface="Inter Medium"/>
                <a:cs typeface="Inter Medium"/>
                <a:sym typeface="Inter Medium"/>
              </a:rPr>
              <a:t>Cada nivel describe formas de manifestación del rol, considerando si este se expresa, sostiene, refuerza o tensiona durante el período.</a:t>
            </a:r>
            <a:endParaRPr sz="2160"/>
          </a:p>
        </p:txBody>
      </p:sp>
      <p:sp>
        <p:nvSpPr>
          <p:cNvPr id="134" name="Google Shape;134;p16"/>
          <p:cNvSpPr txBox="1"/>
          <p:nvPr/>
        </p:nvSpPr>
        <p:spPr>
          <a:xfrm>
            <a:off x="914400" y="777241"/>
            <a:ext cx="13441680" cy="664797"/>
          </a:xfrm>
          <a:prstGeom prst="rect">
            <a:avLst/>
          </a:prstGeom>
          <a:noFill/>
          <a:ln>
            <a:noFill/>
          </a:ln>
        </p:spPr>
        <p:txBody>
          <a:bodyPr spcFirstLastPara="1" wrap="square" lIns="0" tIns="0" rIns="0" bIns="0" anchor="t" anchorCtr="0">
            <a:spAutoFit/>
          </a:bodyPr>
          <a:lstStyle/>
          <a:p>
            <a:r>
              <a:rPr lang="en-US" sz="4320" b="1">
                <a:solidFill>
                  <a:srgbClr val="0F172A"/>
                </a:solidFill>
                <a:latin typeface="Playfair Display"/>
                <a:ea typeface="Playfair Display"/>
                <a:cs typeface="Playfair Display"/>
                <a:sym typeface="Playfair Display"/>
              </a:rPr>
              <a:t>Enfoque Holístico</a:t>
            </a:r>
            <a:endParaRPr sz="2160"/>
          </a:p>
        </p:txBody>
      </p:sp>
      <p:sp>
        <p:nvSpPr>
          <p:cNvPr id="135" name="Google Shape;135;p16"/>
          <p:cNvSpPr/>
          <p:nvPr/>
        </p:nvSpPr>
        <p:spPr>
          <a:xfrm>
            <a:off x="914400" y="1737360"/>
            <a:ext cx="128016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3">
            <a:extLst>
              <a:ext uri="{FF2B5EF4-FFF2-40B4-BE49-F238E27FC236}">
                <a16:creationId xmlns:a16="http://schemas.microsoft.com/office/drawing/2014/main" id="{959B916F-D7E5-CB82-19EF-0B38225759C5}"/>
              </a:ext>
            </a:extLst>
          </p:cNvPr>
          <p:cNvGraphicFramePr>
            <a:graphicFrameLocks/>
          </p:cNvGraphicFramePr>
          <p:nvPr>
            <p:extLst>
              <p:ext uri="{D42A27DB-BD31-4B8C-83A1-F6EECF244321}">
                <p14:modId xmlns:p14="http://schemas.microsoft.com/office/powerpoint/2010/main" val="3943396274"/>
              </p:ext>
            </p:extLst>
          </p:nvPr>
        </p:nvGraphicFramePr>
        <p:xfrm>
          <a:off x="0" y="2490353"/>
          <a:ext cx="14630400" cy="5730240"/>
        </p:xfrm>
        <a:graphic>
          <a:graphicData uri="http://schemas.openxmlformats.org/drawingml/2006/table">
            <a:tbl>
              <a:tblPr firstRow="1" bandRow="1">
                <a:tableStyleId>{5FD0F851-EC5A-4D38-B0AD-8093EC10F338}</a:tableStyleId>
              </a:tblPr>
              <a:tblGrid>
                <a:gridCol w="1762298">
                  <a:extLst>
                    <a:ext uri="{9D8B030D-6E8A-4147-A177-3AD203B41FA5}">
                      <a16:colId xmlns:a16="http://schemas.microsoft.com/office/drawing/2014/main" val="16750837"/>
                    </a:ext>
                  </a:extLst>
                </a:gridCol>
                <a:gridCol w="12868102">
                  <a:extLst>
                    <a:ext uri="{9D8B030D-6E8A-4147-A177-3AD203B41FA5}">
                      <a16:colId xmlns:a16="http://schemas.microsoft.com/office/drawing/2014/main" val="1188012830"/>
                    </a:ext>
                  </a:extLst>
                </a:gridCol>
              </a:tblGrid>
              <a:tr h="346884">
                <a:tc>
                  <a:txBody>
                    <a:bodyPr/>
                    <a:lstStyle/>
                    <a:p>
                      <a:r>
                        <a:rPr lang="es-CL" sz="1600" dirty="0"/>
                        <a:t>Nivel desempeño</a:t>
                      </a:r>
                    </a:p>
                  </a:txBody>
                  <a:tcPr/>
                </a:tc>
                <a:tc>
                  <a:txBody>
                    <a:bodyPr/>
                    <a:lstStyle/>
                    <a:p>
                      <a:pPr algn="ctr"/>
                      <a:r>
                        <a:rPr lang="es-CL" dirty="0"/>
                        <a:t>Descripción</a:t>
                      </a:r>
                    </a:p>
                  </a:txBody>
                  <a:tcPr/>
                </a:tc>
                <a:extLst>
                  <a:ext uri="{0D108BD9-81ED-4DB2-BD59-A6C34878D82A}">
                    <a16:rowId xmlns:a16="http://schemas.microsoft.com/office/drawing/2014/main" val="2058955413"/>
                  </a:ext>
                </a:extLst>
              </a:tr>
              <a:tr h="1098466">
                <a:tc>
                  <a:txBody>
                    <a:bodyPr/>
                    <a:lstStyle/>
                    <a:p>
                      <a:r>
                        <a:rPr lang="es-CL" sz="1400" dirty="0"/>
                        <a:t>Nivel 4 -Sobresaliente</a:t>
                      </a:r>
                    </a:p>
                  </a:txBody>
                  <a:tcPr anchor="ctr"/>
                </a:tc>
                <a:tc>
                  <a:txBody>
                    <a:bodyPr/>
                    <a:lstStyle/>
                    <a:p>
                      <a:r>
                        <a:rPr lang="es-ES" sz="1400" dirty="0"/>
                        <a:t>Las evidencias presentadas ratifican de manera robusta y actualizada el reconocimiento del académico como Profesor Titular en el ámbito de la investigación. La documentación permite constatar con precisión que el académico continúa ejerciendo, de forma sostenida, las funciones investigativas que fundamentan su jerarquía, tales como la conducción de investigación, el liderazgo de líneas o grupos, la formación de investigadores y la comunicación de resultados en espacios académicos de carácter internacional. La evidencia no solo es coherente con el rol normativo, sino que refuerza explícitamente el carácter permanente de la excelencia que dio origen al reconocimiento como Titular, sin ambigüedades ni vacíos relevantes.</a:t>
                      </a:r>
                      <a:endParaRPr lang="es-CL" sz="1400" dirty="0"/>
                    </a:p>
                  </a:txBody>
                  <a:tcPr/>
                </a:tc>
                <a:extLst>
                  <a:ext uri="{0D108BD9-81ED-4DB2-BD59-A6C34878D82A}">
                    <a16:rowId xmlns:a16="http://schemas.microsoft.com/office/drawing/2014/main" val="191588233"/>
                  </a:ext>
                </a:extLst>
              </a:tr>
              <a:tr h="896117">
                <a:tc>
                  <a:txBody>
                    <a:bodyPr/>
                    <a:lstStyle/>
                    <a:p>
                      <a:r>
                        <a:rPr lang="es-CL" sz="1400" dirty="0"/>
                        <a:t>Nivel 3 -  Bueno</a:t>
                      </a:r>
                    </a:p>
                  </a:txBody>
                  <a:tcPr anchor="ctr"/>
                </a:tc>
                <a:tc>
                  <a:txBody>
                    <a:bodyPr/>
                    <a:lstStyle/>
                    <a:p>
                      <a:r>
                        <a:rPr lang="es-ES" sz="1400" dirty="0"/>
                        <a:t>Las evidencias presentadas ratifican de manera consistente el reconocimiento del académico como Profesor Titular en investigación. La documentación muestra una correspondencia pertinente entre las actividades evidenciadas y las funciones normativas propias de la jerarquía, permitiendo sostener que el académico continúa ejerciendo el rol investigativo por el cual fue reconocido. Si bien la evidencia no profundiza en todos los aspectos del ejercicio investigativo del rango con el mismo nivel de explicitación, no se observan tensiones ni contradicciones respecto del estándar normativo de excelencia sostenida que define la jerarquía.</a:t>
                      </a:r>
                      <a:endParaRPr lang="es-CL" sz="1400" dirty="0"/>
                    </a:p>
                  </a:txBody>
                  <a:tcPr/>
                </a:tc>
                <a:extLst>
                  <a:ext uri="{0D108BD9-81ED-4DB2-BD59-A6C34878D82A}">
                    <a16:rowId xmlns:a16="http://schemas.microsoft.com/office/drawing/2014/main" val="3603331290"/>
                  </a:ext>
                </a:extLst>
              </a:tr>
              <a:tr h="1098466">
                <a:tc>
                  <a:txBody>
                    <a:bodyPr/>
                    <a:lstStyle/>
                    <a:p>
                      <a:r>
                        <a:rPr lang="es-CL" sz="1400" dirty="0"/>
                        <a:t>Nivel 2 - Aceptable</a:t>
                      </a:r>
                    </a:p>
                  </a:txBody>
                  <a:tcPr anchor="ctr"/>
                </a:tc>
                <a:tc>
                  <a:txBody>
                    <a:bodyPr/>
                    <a:lstStyle/>
                    <a:p>
                      <a:r>
                        <a:rPr lang="es-ES" sz="1400" dirty="0"/>
                        <a:t>Las evidencias presentadas permiten mantener sin contradicción el reconocimiento normativo del académico como Profesor Titular en el ámbito de la investigación. La documentación aportada es coherente con las funciones que el Decreto asigna a la jerarquía y acredita el ejercicio de actividades investigativas propias del rango; sin embargo, no permite reforzar de manera explícita ni actualizar con claridad el carácter permanente de la excelencia que fundamenta dicho reconocimiento. En este nivel, la evidencia resulta suficiente para sostener la coherencia normativa del rol, pero no aporta elementos adicionales que profundicen o renueven la ratificación del reconocimiento jerárquico en el período evaluado.</a:t>
                      </a:r>
                      <a:endParaRPr lang="es-CL" sz="1400" dirty="0"/>
                    </a:p>
                  </a:txBody>
                  <a:tcPr/>
                </a:tc>
                <a:extLst>
                  <a:ext uri="{0D108BD9-81ED-4DB2-BD59-A6C34878D82A}">
                    <a16:rowId xmlns:a16="http://schemas.microsoft.com/office/drawing/2014/main" val="224298052"/>
                  </a:ext>
                </a:extLst>
              </a:tr>
              <a:tr h="1098466">
                <a:tc>
                  <a:txBody>
                    <a:bodyPr/>
                    <a:lstStyle/>
                    <a:p>
                      <a:r>
                        <a:rPr lang="es-CL" sz="1400" dirty="0"/>
                        <a:t>Nivel 1 - Condicional</a:t>
                      </a:r>
                    </a:p>
                  </a:txBody>
                  <a:tcPr anchor="ctr"/>
                </a:tc>
                <a:tc>
                  <a:txBody>
                    <a:bodyPr/>
                    <a:lstStyle/>
                    <a:p>
                      <a:r>
                        <a:rPr lang="es-ES" sz="1400" dirty="0"/>
                        <a:t>Las evidencias presentadas tensionan el reconocimiento normativo del académico como Profesor Titular en el ámbito de la investigación. La documentación no permite establecer con precisión que las actividades evidenciadas correspondan de manera clara al ejercicio sostenido de las funciones investigativas propias del rango, ya sea por falta de correspondencia explícita con dichas funciones o por debilidades en la forma en que la evidencia representa el rol normativo esperado. En este nivel, no se niega el reconocimiento previo, pero la evidencia no resulta suficiente para sostenerlo sin reservas, requiriéndose una revisión o fortalecimiento de la articulación entre lo evidenciado y la jerarquía académica.</a:t>
                      </a:r>
                      <a:endParaRPr lang="es-CL" sz="1400" dirty="0"/>
                    </a:p>
                  </a:txBody>
                  <a:tcPr/>
                </a:tc>
                <a:extLst>
                  <a:ext uri="{0D108BD9-81ED-4DB2-BD59-A6C34878D82A}">
                    <a16:rowId xmlns:a16="http://schemas.microsoft.com/office/drawing/2014/main" val="2475202380"/>
                  </a:ext>
                </a:extLst>
              </a:tr>
              <a:tr h="896117">
                <a:tc>
                  <a:txBody>
                    <a:bodyPr/>
                    <a:lstStyle/>
                    <a:p>
                      <a:r>
                        <a:rPr lang="es-CL" sz="1400" dirty="0"/>
                        <a:t>Nivel 0 -  Insuficiente</a:t>
                      </a:r>
                    </a:p>
                  </a:txBody>
                  <a:tcPr anchor="ctr"/>
                </a:tc>
                <a:tc>
                  <a:txBody>
                    <a:bodyPr/>
                    <a:lstStyle/>
                    <a:p>
                      <a:r>
                        <a:rPr lang="es-ES" sz="1400" dirty="0"/>
                        <a:t>Las evidencias presentadas no permiten sostener el reconocimiento normativo del académico como Profesor Titular en el ámbito de la investigación. La documentación es inexistente, no trazable o no guarda relación con las funciones investigativas que el Decreto define como propias de la jerarquía, impidiendo establecer una correspondencia entre las actividades evidenciadas y el rol de excelencia sostenida que caracteriza a esta categoría académica. En este nivel, la falta de coherencia entre evidencia y normativa impide ratificar el reconocimiento jerárquico en el período evaluado.</a:t>
                      </a:r>
                      <a:endParaRPr lang="es-CL" sz="1400" dirty="0"/>
                    </a:p>
                  </a:txBody>
                  <a:tcPr/>
                </a:tc>
                <a:extLst>
                  <a:ext uri="{0D108BD9-81ED-4DB2-BD59-A6C34878D82A}">
                    <a16:rowId xmlns:a16="http://schemas.microsoft.com/office/drawing/2014/main" val="48141507"/>
                  </a:ext>
                </a:extLst>
              </a:tr>
            </a:tbl>
          </a:graphicData>
        </a:graphic>
      </p:graphicFrame>
      <p:sp>
        <p:nvSpPr>
          <p:cNvPr id="3" name="Text 0">
            <a:extLst>
              <a:ext uri="{FF2B5EF4-FFF2-40B4-BE49-F238E27FC236}">
                <a16:creationId xmlns:a16="http://schemas.microsoft.com/office/drawing/2014/main" id="{658616FD-C1D5-A051-1FBE-70515F82DDDE}"/>
              </a:ext>
            </a:extLst>
          </p:cNvPr>
          <p:cNvSpPr/>
          <p:nvPr/>
        </p:nvSpPr>
        <p:spPr>
          <a:xfrm>
            <a:off x="349134" y="480983"/>
            <a:ext cx="6234546" cy="1357908"/>
          </a:xfrm>
          <a:prstGeom prst="rect">
            <a:avLst/>
          </a:prstGeom>
          <a:noFill/>
          <a:ln/>
        </p:spPr>
        <p:txBody>
          <a:bodyPr wrap="none" lIns="0" tIns="0" rIns="0" bIns="0" rtlCol="0" anchor="t"/>
          <a:lstStyle/>
          <a:p>
            <a:pPr marL="0" indent="0" algn="l">
              <a:lnSpc>
                <a:spcPts val="4100"/>
              </a:lnSpc>
              <a:buNone/>
            </a:pPr>
            <a:r>
              <a:rPr lang="en-US" sz="3250" dirty="0" err="1">
                <a:solidFill>
                  <a:srgbClr val="020202"/>
                </a:solidFill>
                <a:latin typeface="PT Serif" pitchFamily="34" charset="0"/>
                <a:ea typeface="PT Serif" pitchFamily="34" charset="-122"/>
                <a:cs typeface="PT Serif" pitchFamily="34" charset="-120"/>
              </a:rPr>
              <a:t>Rúbrica</a:t>
            </a:r>
            <a:r>
              <a:rPr lang="en-US" sz="3250" dirty="0">
                <a:solidFill>
                  <a:srgbClr val="020202"/>
                </a:solidFill>
                <a:latin typeface="PT Serif" pitchFamily="34" charset="0"/>
                <a:ea typeface="PT Serif" pitchFamily="34" charset="-122"/>
                <a:cs typeface="PT Serif" pitchFamily="34" charset="-120"/>
              </a:rPr>
              <a:t> </a:t>
            </a:r>
            <a:r>
              <a:rPr lang="en-US" sz="3250" dirty="0" err="1">
                <a:solidFill>
                  <a:srgbClr val="020202"/>
                </a:solidFill>
                <a:latin typeface="PT Serif" pitchFamily="34" charset="0"/>
                <a:ea typeface="PT Serif" pitchFamily="34" charset="-122"/>
                <a:cs typeface="PT Serif" pitchFamily="34" charset="-120"/>
              </a:rPr>
              <a:t>holística</a:t>
            </a:r>
            <a:r>
              <a:rPr lang="en-US" sz="3250" dirty="0">
                <a:solidFill>
                  <a:srgbClr val="020202"/>
                </a:solidFill>
                <a:latin typeface="PT Serif" pitchFamily="34" charset="0"/>
                <a:ea typeface="PT Serif" pitchFamily="34" charset="-122"/>
                <a:cs typeface="PT Serif" pitchFamily="34" charset="-120"/>
              </a:rPr>
              <a:t> – </a:t>
            </a:r>
            <a:r>
              <a:rPr lang="en-US" sz="3250" dirty="0" err="1">
                <a:solidFill>
                  <a:srgbClr val="020202"/>
                </a:solidFill>
                <a:latin typeface="PT Serif" pitchFamily="34" charset="0"/>
                <a:ea typeface="PT Serif" pitchFamily="34" charset="-122"/>
                <a:cs typeface="PT Serif" pitchFamily="34" charset="-120"/>
              </a:rPr>
              <a:t>Área</a:t>
            </a:r>
            <a:r>
              <a:rPr lang="en-US" sz="3250" dirty="0">
                <a:solidFill>
                  <a:srgbClr val="020202"/>
                </a:solidFill>
                <a:latin typeface="PT Serif" pitchFamily="34" charset="0"/>
                <a:ea typeface="PT Serif" pitchFamily="34" charset="-122"/>
                <a:cs typeface="PT Serif" pitchFamily="34" charset="-120"/>
              </a:rPr>
              <a:t> </a:t>
            </a:r>
          </a:p>
          <a:p>
            <a:pPr marL="0" indent="0" algn="l">
              <a:lnSpc>
                <a:spcPts val="4100"/>
              </a:lnSpc>
              <a:buNone/>
            </a:pPr>
            <a:r>
              <a:rPr lang="en-US" sz="3250" dirty="0" err="1">
                <a:solidFill>
                  <a:srgbClr val="020202"/>
                </a:solidFill>
                <a:latin typeface="PT Serif" pitchFamily="34" charset="0"/>
                <a:ea typeface="PT Serif" pitchFamily="34" charset="-122"/>
                <a:cs typeface="PT Serif" pitchFamily="34" charset="-120"/>
              </a:rPr>
              <a:t>Investigación</a:t>
            </a:r>
            <a:br>
              <a:rPr lang="en-US" sz="3250" dirty="0">
                <a:solidFill>
                  <a:srgbClr val="020202"/>
                </a:solidFill>
                <a:latin typeface="PT Serif" pitchFamily="34" charset="0"/>
                <a:ea typeface="PT Serif" pitchFamily="34" charset="-122"/>
                <a:cs typeface="PT Serif" pitchFamily="34" charset="-120"/>
              </a:rPr>
            </a:br>
            <a:r>
              <a:rPr lang="en-US" sz="3250" dirty="0" err="1">
                <a:solidFill>
                  <a:srgbClr val="020202"/>
                </a:solidFill>
                <a:latin typeface="PT Serif" pitchFamily="34" charset="0"/>
                <a:ea typeface="PT Serif" pitchFamily="34" charset="-122"/>
                <a:cs typeface="PT Serif" pitchFamily="34" charset="-120"/>
              </a:rPr>
              <a:t>Jerarquía</a:t>
            </a:r>
            <a:r>
              <a:rPr lang="en-US" sz="3250" dirty="0">
                <a:solidFill>
                  <a:srgbClr val="020202"/>
                </a:solidFill>
                <a:latin typeface="PT Serif" pitchFamily="34" charset="0"/>
                <a:ea typeface="PT Serif" pitchFamily="34" charset="-122"/>
                <a:cs typeface="PT Serif" pitchFamily="34" charset="-120"/>
              </a:rPr>
              <a:t>: </a:t>
            </a:r>
            <a:r>
              <a:rPr lang="en-US" sz="3250" dirty="0" err="1">
                <a:solidFill>
                  <a:srgbClr val="020202"/>
                </a:solidFill>
                <a:latin typeface="PT Serif" pitchFamily="34" charset="0"/>
                <a:ea typeface="PT Serif" pitchFamily="34" charset="-122"/>
                <a:cs typeface="PT Serif" pitchFamily="34" charset="-120"/>
              </a:rPr>
              <a:t>Profesor</a:t>
            </a:r>
            <a:r>
              <a:rPr lang="en-US" sz="3250" dirty="0">
                <a:solidFill>
                  <a:srgbClr val="020202"/>
                </a:solidFill>
                <a:latin typeface="PT Serif" pitchFamily="34" charset="0"/>
                <a:ea typeface="PT Serif" pitchFamily="34" charset="-122"/>
                <a:cs typeface="PT Serif" pitchFamily="34" charset="-120"/>
              </a:rPr>
              <a:t> Titular</a:t>
            </a:r>
            <a:br>
              <a:rPr lang="en-US" sz="3250" dirty="0">
                <a:solidFill>
                  <a:srgbClr val="020202"/>
                </a:solidFill>
                <a:latin typeface="PT Serif" pitchFamily="34" charset="0"/>
                <a:ea typeface="PT Serif" pitchFamily="34" charset="-122"/>
                <a:cs typeface="PT Serif" pitchFamily="34" charset="-120"/>
              </a:rPr>
            </a:br>
            <a:endParaRPr lang="en-US" sz="3250" dirty="0"/>
          </a:p>
        </p:txBody>
      </p:sp>
      <p:sp>
        <p:nvSpPr>
          <p:cNvPr id="4" name="CuadroTexto 3">
            <a:extLst>
              <a:ext uri="{FF2B5EF4-FFF2-40B4-BE49-F238E27FC236}">
                <a16:creationId xmlns:a16="http://schemas.microsoft.com/office/drawing/2014/main" id="{5173094F-22BB-7C15-1E97-3F47D8DB95F2}"/>
              </a:ext>
            </a:extLst>
          </p:cNvPr>
          <p:cNvSpPr txBox="1"/>
          <p:nvPr/>
        </p:nvSpPr>
        <p:spPr>
          <a:xfrm>
            <a:off x="5685906" y="5775"/>
            <a:ext cx="8944494" cy="2308324"/>
          </a:xfrm>
          <a:prstGeom prst="rect">
            <a:avLst/>
          </a:prstGeom>
          <a:noFill/>
        </p:spPr>
        <p:txBody>
          <a:bodyPr wrap="square">
            <a:spAutoFit/>
          </a:bodyPr>
          <a:lstStyle/>
          <a:p>
            <a:pPr>
              <a:buNone/>
            </a:pPr>
            <a:r>
              <a:rPr lang="es-ES" sz="1600" b="1" dirty="0">
                <a:latin typeface="DM Sans" pitchFamily="2" charset="0"/>
              </a:rPr>
              <a:t>Fundamento normativo</a:t>
            </a:r>
          </a:p>
          <a:p>
            <a:pPr>
              <a:buNone/>
            </a:pPr>
            <a:endParaRPr lang="es-ES" sz="1600" b="1" dirty="0">
              <a:latin typeface="DM Sans" pitchFamily="2" charset="0"/>
            </a:endParaRPr>
          </a:p>
          <a:p>
            <a:pPr>
              <a:buNone/>
            </a:pPr>
            <a:r>
              <a:rPr lang="es-ES" sz="1600" dirty="0">
                <a:latin typeface="DM Sans" pitchFamily="2" charset="0"/>
              </a:rPr>
              <a:t>De acuerdo con el Decreto Universitario N.º 26, el Profesor Titular es reconocido por su </a:t>
            </a:r>
            <a:r>
              <a:rPr lang="es-ES" sz="1600" b="1" dirty="0">
                <a:latin typeface="DM Sans" pitchFamily="2" charset="0"/>
              </a:rPr>
              <a:t>creatividad y excelencia </a:t>
            </a:r>
            <a:r>
              <a:rPr lang="es-ES" sz="1600" dirty="0">
                <a:latin typeface="DM Sans" pitchFamily="2" charset="0"/>
              </a:rPr>
              <a:t>sostenida en el desarrollo de las funciones académicas, asociadas a la autonomía en la investigación, así como por su capacidad para asumir las más altas responsabilidades en el quehacer universitario. En el ámbito de la investigación, le corresponde originar y conducir trabajos de investigación, liderar líneas y grupos de investigación, formar nuevos investigadores y comunicar resultados en instancias académicas de carácter nacional e internacional.</a:t>
            </a:r>
          </a:p>
        </p:txBody>
      </p:sp>
    </p:spTree>
    <p:extLst>
      <p:ext uri="{BB962C8B-B14F-4D97-AF65-F5344CB8AC3E}">
        <p14:creationId xmlns:p14="http://schemas.microsoft.com/office/powerpoint/2010/main" val="2203906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Marcador de contenido 3">
            <a:extLst>
              <a:ext uri="{FF2B5EF4-FFF2-40B4-BE49-F238E27FC236}">
                <a16:creationId xmlns:a16="http://schemas.microsoft.com/office/drawing/2014/main" id="{F800292B-E54E-63E0-7773-B92D5D236322}"/>
              </a:ext>
            </a:extLst>
          </p:cNvPr>
          <p:cNvGraphicFramePr>
            <a:graphicFrameLocks/>
          </p:cNvGraphicFramePr>
          <p:nvPr>
            <p:extLst>
              <p:ext uri="{D42A27DB-BD31-4B8C-83A1-F6EECF244321}">
                <p14:modId xmlns:p14="http://schemas.microsoft.com/office/powerpoint/2010/main" val="1944252786"/>
              </p:ext>
            </p:extLst>
          </p:nvPr>
        </p:nvGraphicFramePr>
        <p:xfrm>
          <a:off x="0" y="2576945"/>
          <a:ext cx="14630400" cy="5642767"/>
        </p:xfrm>
        <a:graphic>
          <a:graphicData uri="http://schemas.openxmlformats.org/drawingml/2006/table">
            <a:tbl>
              <a:tblPr firstRow="1" bandRow="1">
                <a:tableStyleId>{5FD0F851-EC5A-4D38-B0AD-8093EC10F338}</a:tableStyleId>
              </a:tblPr>
              <a:tblGrid>
                <a:gridCol w="1762298">
                  <a:extLst>
                    <a:ext uri="{9D8B030D-6E8A-4147-A177-3AD203B41FA5}">
                      <a16:colId xmlns:a16="http://schemas.microsoft.com/office/drawing/2014/main" val="16750837"/>
                    </a:ext>
                  </a:extLst>
                </a:gridCol>
                <a:gridCol w="12868102">
                  <a:extLst>
                    <a:ext uri="{9D8B030D-6E8A-4147-A177-3AD203B41FA5}">
                      <a16:colId xmlns:a16="http://schemas.microsoft.com/office/drawing/2014/main" val="1188012830"/>
                    </a:ext>
                  </a:extLst>
                </a:gridCol>
              </a:tblGrid>
              <a:tr h="375723">
                <a:tc>
                  <a:txBody>
                    <a:bodyPr/>
                    <a:lstStyle/>
                    <a:p>
                      <a:r>
                        <a:rPr lang="es-CL" sz="1600" dirty="0"/>
                        <a:t>Nivel desempeño</a:t>
                      </a:r>
                    </a:p>
                  </a:txBody>
                  <a:tcPr/>
                </a:tc>
                <a:tc>
                  <a:txBody>
                    <a:bodyPr/>
                    <a:lstStyle/>
                    <a:p>
                      <a:pPr algn="ctr"/>
                      <a:r>
                        <a:rPr lang="es-CL" dirty="0"/>
                        <a:t>Descripción</a:t>
                      </a:r>
                    </a:p>
                  </a:txBody>
                  <a:tcPr/>
                </a:tc>
                <a:extLst>
                  <a:ext uri="{0D108BD9-81ED-4DB2-BD59-A6C34878D82A}">
                    <a16:rowId xmlns:a16="http://schemas.microsoft.com/office/drawing/2014/main" val="2058955413"/>
                  </a:ext>
                </a:extLst>
              </a:tr>
              <a:tr h="1193846">
                <a:tc>
                  <a:txBody>
                    <a:bodyPr/>
                    <a:lstStyle/>
                    <a:p>
                      <a:r>
                        <a:rPr lang="es-CL" sz="1400" dirty="0"/>
                        <a:t>Nivel 4 -Sobresaliente</a:t>
                      </a:r>
                    </a:p>
                  </a:txBody>
                  <a:tcPr anchor="ctr"/>
                </a:tc>
                <a:tc>
                  <a:txBody>
                    <a:bodyPr/>
                    <a:lstStyle/>
                    <a:p>
                      <a:r>
                        <a:rPr lang="es-ES" sz="1400" dirty="0"/>
                        <a:t>Las evidencias presentadas permiten reafirmar y fortalecer el reconocimiento del académico como Profesor Titular en el ámbito de la docencia. La documentación muestra el ejercicio activo y sostenido de las funciones docentes que fundamentan la jerarquía, tales como la dictación de asignaturas del plan de estudios, la docencia en programas de postgrado o postítulo, la elaboración de material docente, la guía de tesis de grado o trabajos de titulación hasta el más alto nivel y la participación en la elaboración o conducción de planes y programas de estudio. En este nivel, la evidencia no solo es coherente con lo normativo, sino que actualiza y consolida la excelencia docente que dio origen al reconocimiento jerárquico, mostrando su vigencia en el período evaluado.</a:t>
                      </a:r>
                      <a:endParaRPr lang="es-CL" sz="1400" dirty="0"/>
                    </a:p>
                  </a:txBody>
                  <a:tcPr/>
                </a:tc>
                <a:extLst>
                  <a:ext uri="{0D108BD9-81ED-4DB2-BD59-A6C34878D82A}">
                    <a16:rowId xmlns:a16="http://schemas.microsoft.com/office/drawing/2014/main" val="191588233"/>
                  </a:ext>
                </a:extLst>
              </a:tr>
              <a:tr h="1008137">
                <a:tc>
                  <a:txBody>
                    <a:bodyPr/>
                    <a:lstStyle/>
                    <a:p>
                      <a:r>
                        <a:rPr lang="es-CL" sz="1400" dirty="0"/>
                        <a:t>Nivel 3 -  Bueno</a:t>
                      </a:r>
                    </a:p>
                  </a:txBody>
                  <a:tcPr anchor="ctr"/>
                </a:tc>
                <a:tc>
                  <a:txBody>
                    <a:bodyPr/>
                    <a:lstStyle/>
                    <a:p>
                      <a:r>
                        <a:rPr lang="es-ES" sz="1400" dirty="0"/>
                        <a:t>Las evidencias presentadas permiten reconocer el ejercicio efectivo de la excelencia docente propia de la jerarquía de Profesor Titular. La documentación da cuenta de actividades que se corresponden con las funciones docentes definidas por la normativa y permite sostener que el académico continúa desempeñando el rol por el cual fue reconocido. En este nivel, la excelencia se manifiesta de manera suficiente para mantener el reconocimiento jerárquico, aunque la evidencia presentada no extiende ni refuerza adicionalmente dicha excelencia en relación con el período evaluado.</a:t>
                      </a:r>
                      <a:endParaRPr lang="es-CL" sz="1400" dirty="0"/>
                    </a:p>
                  </a:txBody>
                  <a:tcPr/>
                </a:tc>
                <a:extLst>
                  <a:ext uri="{0D108BD9-81ED-4DB2-BD59-A6C34878D82A}">
                    <a16:rowId xmlns:a16="http://schemas.microsoft.com/office/drawing/2014/main" val="3603331290"/>
                  </a:ext>
                </a:extLst>
              </a:tr>
              <a:tr h="1048787">
                <a:tc>
                  <a:txBody>
                    <a:bodyPr/>
                    <a:lstStyle/>
                    <a:p>
                      <a:r>
                        <a:rPr lang="es-CL" sz="1400" dirty="0"/>
                        <a:t>Nivel 2 - Aceptable</a:t>
                      </a:r>
                    </a:p>
                  </a:txBody>
                  <a:tcPr anchor="ctr"/>
                </a:tc>
                <a:tc>
                  <a:txBody>
                    <a:bodyPr/>
                    <a:lstStyle/>
                    <a:p>
                      <a:r>
                        <a:rPr lang="es-ES" sz="1400" dirty="0"/>
                        <a:t>Las evidencias presentadas permiten sostener la excelencia docente en su umbral mínimo normativo, de acuerdo con lo que el Decreto Universitario N.º 26 exige para la jerarquía de Profesor Titular. La documentación es coherente con las funciones docentes propias del rango y no contradice el reconocimiento jerárquico previamente otorgado; sin embargo, la forma en que se presentan las evidencias no permite apreciar una manifestación más intensa o renovada de la excelencia docente en el período evaluado. En este nivel, la excelencia se mantiene, pero se expresa únicamente en el nivel indispensable para que el reconocimiento normativo continúe siendo consistente.</a:t>
                      </a:r>
                      <a:endParaRPr lang="es-CL" sz="1400" dirty="0"/>
                    </a:p>
                  </a:txBody>
                  <a:tcPr/>
                </a:tc>
                <a:extLst>
                  <a:ext uri="{0D108BD9-81ED-4DB2-BD59-A6C34878D82A}">
                    <a16:rowId xmlns:a16="http://schemas.microsoft.com/office/drawing/2014/main" val="224298052"/>
                  </a:ext>
                </a:extLst>
              </a:tr>
              <a:tr h="1008137">
                <a:tc>
                  <a:txBody>
                    <a:bodyPr/>
                    <a:lstStyle/>
                    <a:p>
                      <a:r>
                        <a:rPr lang="es-CL" sz="1400" dirty="0"/>
                        <a:t>Nivel 1 - Condicional</a:t>
                      </a:r>
                    </a:p>
                  </a:txBody>
                  <a:tcPr anchor="ctr"/>
                </a:tc>
                <a:tc>
                  <a:txBody>
                    <a:bodyPr/>
                    <a:lstStyle/>
                    <a:p>
                      <a:r>
                        <a:rPr lang="es-ES" sz="1400" dirty="0"/>
                        <a:t>Las evidencias presentadas introducen tensión respecto de la manifestación de la excelencia docente que fundamenta la jerarquía de Profesor Titular. La documentación no logra sostener de manera suficiente que las actividades evidenciadas representen el ejercicio continuo de las funciones docentes propias del rango, ya sea por una débil vinculación con dichas funciones o por la ausencia de elementos que permitan reconocer la vigencia de la excelencia que justificó el reconocimiento. En este nivel, el reconocimiento jerárquico no se invalida, pero requiere ser revisado o reforzado a partir de nuevas evidencias.</a:t>
                      </a:r>
                      <a:endParaRPr lang="es-CL" sz="1400" dirty="0"/>
                    </a:p>
                  </a:txBody>
                  <a:tcPr/>
                </a:tc>
                <a:extLst>
                  <a:ext uri="{0D108BD9-81ED-4DB2-BD59-A6C34878D82A}">
                    <a16:rowId xmlns:a16="http://schemas.microsoft.com/office/drawing/2014/main" val="2475202380"/>
                  </a:ext>
                </a:extLst>
              </a:tr>
              <a:tr h="1008137">
                <a:tc>
                  <a:txBody>
                    <a:bodyPr/>
                    <a:lstStyle/>
                    <a:p>
                      <a:r>
                        <a:rPr lang="es-CL" sz="1400" dirty="0"/>
                        <a:t>Nivel 0 -  Insuficiente</a:t>
                      </a:r>
                    </a:p>
                  </a:txBody>
                  <a:tcPr anchor="ctr"/>
                </a:tc>
                <a:tc>
                  <a:txBody>
                    <a:bodyPr/>
                    <a:lstStyle/>
                    <a:p>
                      <a:r>
                        <a:rPr lang="es-ES" sz="1400" dirty="0"/>
                        <a:t>Las evidencias presentadas no permiten sostener el reconocimiento normativo del académico como Profesor Titular en el ámbito de la docencia. La documentación es inexistente, no trazable o no guarda relación con las funciones docentes que el Decreto asigna a la jerarquía, tales como la dictación de asignaturas, la docencia avanzada, la elaboración de material docente, la dirección de tesis o la participación en el diseño curricular. En este nivel, la falta de correspondencia entre evidencia y rol impide mantener la coherencia normativa del reconocimiento jerárquico en el período evaluado.</a:t>
                      </a:r>
                      <a:endParaRPr lang="es-CL" sz="1400" dirty="0"/>
                    </a:p>
                  </a:txBody>
                  <a:tcPr/>
                </a:tc>
                <a:extLst>
                  <a:ext uri="{0D108BD9-81ED-4DB2-BD59-A6C34878D82A}">
                    <a16:rowId xmlns:a16="http://schemas.microsoft.com/office/drawing/2014/main" val="48141507"/>
                  </a:ext>
                </a:extLst>
              </a:tr>
            </a:tbl>
          </a:graphicData>
        </a:graphic>
      </p:graphicFrame>
      <p:sp>
        <p:nvSpPr>
          <p:cNvPr id="3" name="Text 0">
            <a:extLst>
              <a:ext uri="{FF2B5EF4-FFF2-40B4-BE49-F238E27FC236}">
                <a16:creationId xmlns:a16="http://schemas.microsoft.com/office/drawing/2014/main" id="{49332195-7112-F438-4AE7-2F1E3CFDA1A2}"/>
              </a:ext>
            </a:extLst>
          </p:cNvPr>
          <p:cNvSpPr/>
          <p:nvPr/>
        </p:nvSpPr>
        <p:spPr>
          <a:xfrm>
            <a:off x="349134" y="806680"/>
            <a:ext cx="6234546" cy="1357908"/>
          </a:xfrm>
          <a:prstGeom prst="rect">
            <a:avLst/>
          </a:prstGeom>
          <a:noFill/>
          <a:ln/>
        </p:spPr>
        <p:txBody>
          <a:bodyPr wrap="none" lIns="0" tIns="0" rIns="0" bIns="0" rtlCol="0" anchor="t"/>
          <a:lstStyle/>
          <a:p>
            <a:pPr marL="0" indent="0" algn="l">
              <a:lnSpc>
                <a:spcPts val="4100"/>
              </a:lnSpc>
              <a:buNone/>
            </a:pPr>
            <a:r>
              <a:rPr lang="en-US" sz="3250" dirty="0" err="1">
                <a:solidFill>
                  <a:srgbClr val="020202"/>
                </a:solidFill>
                <a:latin typeface="PT Serif" pitchFamily="34" charset="0"/>
                <a:ea typeface="PT Serif" pitchFamily="34" charset="-122"/>
                <a:cs typeface="PT Serif" pitchFamily="34" charset="-120"/>
              </a:rPr>
              <a:t>Rúbrica</a:t>
            </a:r>
            <a:r>
              <a:rPr lang="en-US" sz="3250" dirty="0">
                <a:solidFill>
                  <a:srgbClr val="020202"/>
                </a:solidFill>
                <a:latin typeface="PT Serif" pitchFamily="34" charset="0"/>
                <a:ea typeface="PT Serif" pitchFamily="34" charset="-122"/>
                <a:cs typeface="PT Serif" pitchFamily="34" charset="-120"/>
              </a:rPr>
              <a:t> </a:t>
            </a:r>
            <a:r>
              <a:rPr lang="en-US" sz="3250" dirty="0" err="1">
                <a:solidFill>
                  <a:srgbClr val="020202"/>
                </a:solidFill>
                <a:latin typeface="PT Serif" pitchFamily="34" charset="0"/>
                <a:ea typeface="PT Serif" pitchFamily="34" charset="-122"/>
                <a:cs typeface="PT Serif" pitchFamily="34" charset="-120"/>
              </a:rPr>
              <a:t>holística</a:t>
            </a:r>
            <a:r>
              <a:rPr lang="en-US" sz="3250" dirty="0">
                <a:solidFill>
                  <a:srgbClr val="020202"/>
                </a:solidFill>
                <a:latin typeface="PT Serif" pitchFamily="34" charset="0"/>
                <a:ea typeface="PT Serif" pitchFamily="34" charset="-122"/>
                <a:cs typeface="PT Serif" pitchFamily="34" charset="-120"/>
              </a:rPr>
              <a:t> – </a:t>
            </a:r>
            <a:r>
              <a:rPr lang="en-US" sz="3250" dirty="0" err="1">
                <a:solidFill>
                  <a:srgbClr val="020202"/>
                </a:solidFill>
                <a:latin typeface="PT Serif" pitchFamily="34" charset="0"/>
                <a:ea typeface="PT Serif" pitchFamily="34" charset="-122"/>
                <a:cs typeface="PT Serif" pitchFamily="34" charset="-120"/>
              </a:rPr>
              <a:t>Área</a:t>
            </a:r>
            <a:r>
              <a:rPr lang="en-US" sz="3250" dirty="0">
                <a:solidFill>
                  <a:srgbClr val="020202"/>
                </a:solidFill>
                <a:latin typeface="PT Serif" pitchFamily="34" charset="0"/>
                <a:ea typeface="PT Serif" pitchFamily="34" charset="-122"/>
                <a:cs typeface="PT Serif" pitchFamily="34" charset="-120"/>
              </a:rPr>
              <a:t> </a:t>
            </a:r>
            <a:r>
              <a:rPr lang="en-US" sz="3250" dirty="0" err="1">
                <a:solidFill>
                  <a:srgbClr val="020202"/>
                </a:solidFill>
                <a:latin typeface="PT Serif" pitchFamily="34" charset="0"/>
                <a:ea typeface="PT Serif" pitchFamily="34" charset="-122"/>
                <a:cs typeface="PT Serif" pitchFamily="34" charset="-120"/>
              </a:rPr>
              <a:t>Docencia</a:t>
            </a:r>
            <a:br>
              <a:rPr lang="en-US" sz="3250" dirty="0">
                <a:solidFill>
                  <a:srgbClr val="020202"/>
                </a:solidFill>
                <a:latin typeface="PT Serif" pitchFamily="34" charset="0"/>
                <a:ea typeface="PT Serif" pitchFamily="34" charset="-122"/>
                <a:cs typeface="PT Serif" pitchFamily="34" charset="-120"/>
              </a:rPr>
            </a:br>
            <a:r>
              <a:rPr lang="en-US" sz="3250" dirty="0" err="1">
                <a:solidFill>
                  <a:srgbClr val="020202"/>
                </a:solidFill>
                <a:latin typeface="PT Serif" pitchFamily="34" charset="0"/>
                <a:ea typeface="PT Serif" pitchFamily="34" charset="-122"/>
                <a:cs typeface="PT Serif" pitchFamily="34" charset="-120"/>
              </a:rPr>
              <a:t>Jerarquía</a:t>
            </a:r>
            <a:r>
              <a:rPr lang="en-US" sz="3250" dirty="0">
                <a:solidFill>
                  <a:srgbClr val="020202"/>
                </a:solidFill>
                <a:latin typeface="PT Serif" pitchFamily="34" charset="0"/>
                <a:ea typeface="PT Serif" pitchFamily="34" charset="-122"/>
                <a:cs typeface="PT Serif" pitchFamily="34" charset="-120"/>
              </a:rPr>
              <a:t>: </a:t>
            </a:r>
            <a:r>
              <a:rPr lang="en-US" sz="3250" dirty="0" err="1">
                <a:solidFill>
                  <a:srgbClr val="020202"/>
                </a:solidFill>
                <a:latin typeface="PT Serif" pitchFamily="34" charset="0"/>
                <a:ea typeface="PT Serif" pitchFamily="34" charset="-122"/>
                <a:cs typeface="PT Serif" pitchFamily="34" charset="-120"/>
              </a:rPr>
              <a:t>Profesor</a:t>
            </a:r>
            <a:r>
              <a:rPr lang="en-US" sz="3250" dirty="0">
                <a:solidFill>
                  <a:srgbClr val="020202"/>
                </a:solidFill>
                <a:latin typeface="PT Serif" pitchFamily="34" charset="0"/>
                <a:ea typeface="PT Serif" pitchFamily="34" charset="-122"/>
                <a:cs typeface="PT Serif" pitchFamily="34" charset="-120"/>
              </a:rPr>
              <a:t> Titular</a:t>
            </a:r>
            <a:br>
              <a:rPr lang="en-US" sz="3250" dirty="0">
                <a:solidFill>
                  <a:srgbClr val="020202"/>
                </a:solidFill>
                <a:latin typeface="PT Serif" pitchFamily="34" charset="0"/>
                <a:ea typeface="PT Serif" pitchFamily="34" charset="-122"/>
                <a:cs typeface="PT Serif" pitchFamily="34" charset="-120"/>
              </a:rPr>
            </a:br>
            <a:endParaRPr lang="en-US" sz="3250" dirty="0"/>
          </a:p>
        </p:txBody>
      </p:sp>
      <p:sp>
        <p:nvSpPr>
          <p:cNvPr id="4" name="CuadroTexto 3">
            <a:extLst>
              <a:ext uri="{FF2B5EF4-FFF2-40B4-BE49-F238E27FC236}">
                <a16:creationId xmlns:a16="http://schemas.microsoft.com/office/drawing/2014/main" id="{8429B359-0FDA-1797-D37E-5A5E33E89530}"/>
              </a:ext>
            </a:extLst>
          </p:cNvPr>
          <p:cNvSpPr txBox="1"/>
          <p:nvPr/>
        </p:nvSpPr>
        <p:spPr>
          <a:xfrm>
            <a:off x="6733309" y="367132"/>
            <a:ext cx="7730836" cy="2062103"/>
          </a:xfrm>
          <a:prstGeom prst="rect">
            <a:avLst/>
          </a:prstGeom>
          <a:noFill/>
        </p:spPr>
        <p:txBody>
          <a:bodyPr wrap="square">
            <a:spAutoFit/>
          </a:bodyPr>
          <a:lstStyle/>
          <a:p>
            <a:pPr>
              <a:buNone/>
            </a:pPr>
            <a:r>
              <a:rPr lang="es-ES" sz="1600" b="1" dirty="0">
                <a:latin typeface="DM Sans" pitchFamily="2" charset="0"/>
              </a:rPr>
              <a:t>Fundamento normativo</a:t>
            </a:r>
          </a:p>
          <a:p>
            <a:pPr>
              <a:buNone/>
            </a:pPr>
            <a:endParaRPr lang="es-ES" sz="1600" b="1" dirty="0">
              <a:latin typeface="DM Sans" pitchFamily="2" charset="0"/>
            </a:endParaRPr>
          </a:p>
          <a:p>
            <a:pPr>
              <a:buNone/>
            </a:pPr>
            <a:r>
              <a:rPr lang="es-ES" sz="1600" dirty="0">
                <a:latin typeface="DM Sans" pitchFamily="2" charset="0"/>
              </a:rPr>
              <a:t>El Decreto 26 establece que un Profesor Titular debe demostrar creatividad y excelencia sostenida en docencia, capacidad para orientar procesos formativos de alto nivel, dirigir tesis, elaborar materiales avanzados y participar en el diseño curricular a nivel superior. Al que se le reconoce capacidad para dirigir la formación de académicos. En general inspira, conduce y ejecuta las actividades académicas.</a:t>
            </a:r>
          </a:p>
        </p:txBody>
      </p:sp>
    </p:spTree>
    <p:extLst>
      <p:ext uri="{BB962C8B-B14F-4D97-AF65-F5344CB8AC3E}">
        <p14:creationId xmlns:p14="http://schemas.microsoft.com/office/powerpoint/2010/main" val="18428161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0"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88" name="Google Shape;188;p20" descr="image.png"/>
          <p:cNvPicPr preferRelativeResize="0"/>
          <p:nvPr/>
        </p:nvPicPr>
        <p:blipFill rotWithShape="1">
          <a:blip r:embed="rId4">
            <a:alphaModFix/>
          </a:blip>
          <a:srcRect/>
          <a:stretch/>
        </p:blipFill>
        <p:spPr>
          <a:xfrm>
            <a:off x="914400" y="2331720"/>
            <a:ext cx="6057900" cy="5212080"/>
          </a:xfrm>
          <a:prstGeom prst="rect">
            <a:avLst/>
          </a:prstGeom>
          <a:noFill/>
          <a:ln>
            <a:noFill/>
          </a:ln>
        </p:spPr>
      </p:pic>
      <p:pic>
        <p:nvPicPr>
          <p:cNvPr id="189" name="Google Shape;189;p20" descr="image.png"/>
          <p:cNvPicPr preferRelativeResize="0"/>
          <p:nvPr/>
        </p:nvPicPr>
        <p:blipFill rotWithShape="1">
          <a:blip r:embed="rId5">
            <a:alphaModFix/>
          </a:blip>
          <a:srcRect/>
          <a:stretch/>
        </p:blipFill>
        <p:spPr>
          <a:xfrm>
            <a:off x="7658100" y="2331720"/>
            <a:ext cx="6057900" cy="5212080"/>
          </a:xfrm>
          <a:prstGeom prst="rect">
            <a:avLst/>
          </a:prstGeom>
          <a:noFill/>
          <a:ln>
            <a:noFill/>
          </a:ln>
        </p:spPr>
      </p:pic>
      <p:sp>
        <p:nvSpPr>
          <p:cNvPr id="190" name="Google Shape;190;p20"/>
          <p:cNvSpPr/>
          <p:nvPr/>
        </p:nvSpPr>
        <p:spPr>
          <a:xfrm>
            <a:off x="0" y="0"/>
            <a:ext cx="14630400" cy="91440"/>
          </a:xfrm>
          <a:prstGeom prst="rect">
            <a:avLst/>
          </a:prstGeom>
          <a:solidFill>
            <a:srgbClr val="0F172A"/>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91" name="Google Shape;191;p20"/>
          <p:cNvSpPr txBox="1"/>
          <p:nvPr/>
        </p:nvSpPr>
        <p:spPr>
          <a:xfrm>
            <a:off x="1371600" y="3962995"/>
            <a:ext cx="5376672"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Enfoque Normativo</a:t>
            </a:r>
            <a:endParaRPr sz="2160"/>
          </a:p>
        </p:txBody>
      </p:sp>
      <p:sp>
        <p:nvSpPr>
          <p:cNvPr id="192" name="Google Shape;192;p20"/>
          <p:cNvSpPr txBox="1"/>
          <p:nvPr/>
        </p:nvSpPr>
        <p:spPr>
          <a:xfrm>
            <a:off x="1371600" y="4534495"/>
            <a:ext cx="5120640" cy="146251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Los niveles han sido redactados con un criterio exclusivamente normativo y de coherencia funcional.</a:t>
            </a:r>
            <a:endParaRPr sz="2160"/>
          </a:p>
        </p:txBody>
      </p:sp>
      <p:sp>
        <p:nvSpPr>
          <p:cNvPr id="193" name="Google Shape;193;p20"/>
          <p:cNvSpPr txBox="1"/>
          <p:nvPr/>
        </p:nvSpPr>
        <p:spPr>
          <a:xfrm>
            <a:off x="8115300" y="3247548"/>
            <a:ext cx="5376672"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Lo que se Evita</a:t>
            </a:r>
            <a:endParaRPr sz="2160"/>
          </a:p>
        </p:txBody>
      </p:sp>
      <p:sp>
        <p:nvSpPr>
          <p:cNvPr id="194" name="Google Shape;194;p20"/>
          <p:cNvSpPr txBox="1"/>
          <p:nvPr/>
        </p:nvSpPr>
        <p:spPr>
          <a:xfrm>
            <a:off x="8115300" y="3819048"/>
            <a:ext cx="5120640" cy="48750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Se evitan descriptores centrados en:</a:t>
            </a:r>
            <a:endParaRPr sz="2160"/>
          </a:p>
        </p:txBody>
      </p:sp>
      <p:sp>
        <p:nvSpPr>
          <p:cNvPr id="195" name="Google Shape;195;p20"/>
          <p:cNvSpPr txBox="1"/>
          <p:nvPr/>
        </p:nvSpPr>
        <p:spPr>
          <a:xfrm>
            <a:off x="8572500" y="4564141"/>
            <a:ext cx="4663440" cy="48750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Cantidad de productos.</a:t>
            </a:r>
            <a:endParaRPr sz="2160"/>
          </a:p>
        </p:txBody>
      </p:sp>
      <p:sp>
        <p:nvSpPr>
          <p:cNvPr id="196" name="Google Shape;196;p20"/>
          <p:cNvSpPr txBox="1"/>
          <p:nvPr/>
        </p:nvSpPr>
        <p:spPr>
          <a:xfrm>
            <a:off x="8572500" y="5252085"/>
            <a:ext cx="4663440" cy="48750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Calidad intrínseca subjetiva.</a:t>
            </a:r>
            <a:endParaRPr sz="2160"/>
          </a:p>
        </p:txBody>
      </p:sp>
      <p:sp>
        <p:nvSpPr>
          <p:cNvPr id="197" name="Google Shape;197;p20"/>
          <p:cNvSpPr txBox="1"/>
          <p:nvPr/>
        </p:nvSpPr>
        <p:spPr>
          <a:xfrm>
            <a:off x="8572500" y="5940028"/>
            <a:ext cx="4663440" cy="48750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Apreciaciones personales.</a:t>
            </a:r>
            <a:endParaRPr sz="2160"/>
          </a:p>
        </p:txBody>
      </p:sp>
      <p:sp>
        <p:nvSpPr>
          <p:cNvPr id="198" name="Google Shape;198;p20"/>
          <p:cNvSpPr txBox="1"/>
          <p:nvPr/>
        </p:nvSpPr>
        <p:spPr>
          <a:xfrm>
            <a:off x="914400" y="777241"/>
            <a:ext cx="13441680" cy="664797"/>
          </a:xfrm>
          <a:prstGeom prst="rect">
            <a:avLst/>
          </a:prstGeom>
          <a:noFill/>
          <a:ln>
            <a:noFill/>
          </a:ln>
        </p:spPr>
        <p:txBody>
          <a:bodyPr spcFirstLastPara="1" wrap="square" lIns="0" tIns="0" rIns="0" bIns="0" anchor="t" anchorCtr="0">
            <a:spAutoFit/>
          </a:bodyPr>
          <a:lstStyle/>
          <a:p>
            <a:r>
              <a:rPr lang="en-US" sz="4320" b="1">
                <a:solidFill>
                  <a:srgbClr val="0F172A"/>
                </a:solidFill>
                <a:latin typeface="Playfair Display"/>
                <a:ea typeface="Playfair Display"/>
                <a:cs typeface="Playfair Display"/>
                <a:sym typeface="Playfair Display"/>
              </a:rPr>
              <a:t>Criterios de Redacción</a:t>
            </a:r>
            <a:endParaRPr sz="2160"/>
          </a:p>
        </p:txBody>
      </p:sp>
      <p:sp>
        <p:nvSpPr>
          <p:cNvPr id="199" name="Google Shape;199;p20"/>
          <p:cNvSpPr/>
          <p:nvPr/>
        </p:nvSpPr>
        <p:spPr>
          <a:xfrm>
            <a:off x="914400" y="1737360"/>
            <a:ext cx="128016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pic>
        <p:nvPicPr>
          <p:cNvPr id="200" name="Google Shape;200;p20" descr="image.png"/>
          <p:cNvPicPr preferRelativeResize="0"/>
          <p:nvPr/>
        </p:nvPicPr>
        <p:blipFill rotWithShape="1">
          <a:blip r:embed="rId6">
            <a:alphaModFix/>
          </a:blip>
          <a:srcRect/>
          <a:stretch/>
        </p:blipFill>
        <p:spPr>
          <a:xfrm>
            <a:off x="8115300" y="4609862"/>
            <a:ext cx="205740" cy="240030"/>
          </a:xfrm>
          <a:prstGeom prst="rect">
            <a:avLst/>
          </a:prstGeom>
          <a:noFill/>
          <a:ln>
            <a:noFill/>
          </a:ln>
        </p:spPr>
      </p:pic>
      <p:pic>
        <p:nvPicPr>
          <p:cNvPr id="201" name="Google Shape;201;p20" descr="image.png"/>
          <p:cNvPicPr preferRelativeResize="0"/>
          <p:nvPr/>
        </p:nvPicPr>
        <p:blipFill rotWithShape="1">
          <a:blip r:embed="rId6">
            <a:alphaModFix/>
          </a:blip>
          <a:srcRect/>
          <a:stretch/>
        </p:blipFill>
        <p:spPr>
          <a:xfrm>
            <a:off x="8115300" y="5297805"/>
            <a:ext cx="205740" cy="240030"/>
          </a:xfrm>
          <a:prstGeom prst="rect">
            <a:avLst/>
          </a:prstGeom>
          <a:noFill/>
          <a:ln>
            <a:noFill/>
          </a:ln>
        </p:spPr>
      </p:pic>
      <p:pic>
        <p:nvPicPr>
          <p:cNvPr id="202" name="Google Shape;202;p20" descr="image.png"/>
          <p:cNvPicPr preferRelativeResize="0"/>
          <p:nvPr/>
        </p:nvPicPr>
        <p:blipFill rotWithShape="1">
          <a:blip r:embed="rId6">
            <a:alphaModFix/>
          </a:blip>
          <a:srcRect/>
          <a:stretch/>
        </p:blipFill>
        <p:spPr>
          <a:xfrm>
            <a:off x="8115300" y="5985748"/>
            <a:ext cx="205740" cy="24003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21" descr="image.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08" name="Google Shape;208;p21"/>
          <p:cNvSpPr/>
          <p:nvPr/>
        </p:nvSpPr>
        <p:spPr>
          <a:xfrm>
            <a:off x="0" y="0"/>
            <a:ext cx="14630400" cy="91440"/>
          </a:xfrm>
          <a:prstGeom prst="rect">
            <a:avLst/>
          </a:prstGeom>
          <a:solidFill>
            <a:srgbClr val="0F172A"/>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09" name="Google Shape;209;p21"/>
          <p:cNvSpPr txBox="1"/>
          <p:nvPr/>
        </p:nvSpPr>
        <p:spPr>
          <a:xfrm>
            <a:off x="2057400" y="2331721"/>
            <a:ext cx="10515600" cy="1240981"/>
          </a:xfrm>
          <a:prstGeom prst="rect">
            <a:avLst/>
          </a:prstGeom>
          <a:noFill/>
          <a:ln>
            <a:noFill/>
          </a:ln>
        </p:spPr>
        <p:txBody>
          <a:bodyPr spcFirstLastPara="1" wrap="square" lIns="0" tIns="0" rIns="0" bIns="0" anchor="t" anchorCtr="0">
            <a:spAutoFit/>
          </a:bodyPr>
          <a:lstStyle/>
          <a:p>
            <a:pPr algn="ctr">
              <a:lnSpc>
                <a:spcPct val="159952"/>
              </a:lnSpc>
            </a:pPr>
            <a:r>
              <a:rPr lang="en-US" sz="2520">
                <a:solidFill>
                  <a:srgbClr val="334155"/>
                </a:solidFill>
                <a:latin typeface="Inter"/>
                <a:ea typeface="Inter"/>
                <a:cs typeface="Inter"/>
                <a:sym typeface="Inter"/>
              </a:rPr>
              <a:t>Cada nivel describe </a:t>
            </a:r>
            <a:r>
              <a:rPr lang="en-US" sz="2520" b="1">
                <a:solidFill>
                  <a:srgbClr val="334155"/>
                </a:solidFill>
                <a:latin typeface="Inter"/>
                <a:ea typeface="Inter"/>
                <a:cs typeface="Inter"/>
                <a:sym typeface="Inter"/>
              </a:rPr>
              <a:t>formas diferenciadas de expresión del rol académico</a:t>
            </a:r>
            <a:r>
              <a:rPr lang="en-US" sz="2520">
                <a:solidFill>
                  <a:srgbClr val="334155"/>
                </a:solidFill>
                <a:latin typeface="Inter"/>
                <a:ea typeface="Inter"/>
                <a:cs typeface="Inter"/>
                <a:sym typeface="Inter"/>
              </a:rPr>
              <a:t>.</a:t>
            </a:r>
            <a:endParaRPr sz="2160"/>
          </a:p>
        </p:txBody>
      </p:sp>
      <p:sp>
        <p:nvSpPr>
          <p:cNvPr id="210" name="Google Shape;210;p21"/>
          <p:cNvSpPr txBox="1"/>
          <p:nvPr/>
        </p:nvSpPr>
        <p:spPr>
          <a:xfrm>
            <a:off x="914400" y="4703623"/>
            <a:ext cx="6360794"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Articulación</a:t>
            </a:r>
            <a:endParaRPr sz="2160"/>
          </a:p>
        </p:txBody>
      </p:sp>
      <p:sp>
        <p:nvSpPr>
          <p:cNvPr id="211" name="Google Shape;211;p21"/>
          <p:cNvSpPr txBox="1"/>
          <p:nvPr/>
        </p:nvSpPr>
        <p:spPr>
          <a:xfrm>
            <a:off x="914400" y="5275123"/>
            <a:ext cx="6057900" cy="1462516"/>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Se observa el grado en que las actividades y evidencias se articulan con las funciones y responsabilidades.</a:t>
            </a:r>
            <a:endParaRPr sz="2160"/>
          </a:p>
        </p:txBody>
      </p:sp>
      <p:sp>
        <p:nvSpPr>
          <p:cNvPr id="212" name="Google Shape;212;p21"/>
          <p:cNvSpPr txBox="1"/>
          <p:nvPr/>
        </p:nvSpPr>
        <p:spPr>
          <a:xfrm>
            <a:off x="7658100" y="4904719"/>
            <a:ext cx="6360794" cy="387798"/>
          </a:xfrm>
          <a:prstGeom prst="rect">
            <a:avLst/>
          </a:prstGeom>
          <a:noFill/>
          <a:ln>
            <a:noFill/>
          </a:ln>
        </p:spPr>
        <p:txBody>
          <a:bodyPr spcFirstLastPara="1" wrap="square" lIns="0" tIns="0" rIns="0" bIns="0" anchor="t" anchorCtr="0">
            <a:spAutoFit/>
          </a:bodyPr>
          <a:lstStyle/>
          <a:p>
            <a:r>
              <a:rPr lang="en-US" sz="2520" b="1">
                <a:solidFill>
                  <a:srgbClr val="334155"/>
                </a:solidFill>
                <a:latin typeface="Inter"/>
                <a:ea typeface="Inter"/>
                <a:cs typeface="Inter"/>
                <a:sym typeface="Inter"/>
              </a:rPr>
              <a:t>Expectativas</a:t>
            </a:r>
            <a:endParaRPr sz="2160"/>
          </a:p>
        </p:txBody>
      </p:sp>
      <p:sp>
        <p:nvSpPr>
          <p:cNvPr id="213" name="Google Shape;213;p21"/>
          <p:cNvSpPr txBox="1"/>
          <p:nvPr/>
        </p:nvSpPr>
        <p:spPr>
          <a:xfrm>
            <a:off x="7658100" y="5476219"/>
            <a:ext cx="605790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Todo se mide según las expectativas propias de la jerarquía académica establecidas en la normativa.</a:t>
            </a:r>
            <a:endParaRPr sz="2160"/>
          </a:p>
        </p:txBody>
      </p:sp>
      <p:sp>
        <p:nvSpPr>
          <p:cNvPr id="214" name="Google Shape;214;p21"/>
          <p:cNvSpPr txBox="1"/>
          <p:nvPr/>
        </p:nvSpPr>
        <p:spPr>
          <a:xfrm>
            <a:off x="914400" y="777241"/>
            <a:ext cx="13441680" cy="664797"/>
          </a:xfrm>
          <a:prstGeom prst="rect">
            <a:avLst/>
          </a:prstGeom>
          <a:noFill/>
          <a:ln>
            <a:noFill/>
          </a:ln>
        </p:spPr>
        <p:txBody>
          <a:bodyPr spcFirstLastPara="1" wrap="square" lIns="0" tIns="0" rIns="0" bIns="0" anchor="t" anchorCtr="0">
            <a:spAutoFit/>
          </a:bodyPr>
          <a:lstStyle/>
          <a:p>
            <a:r>
              <a:rPr lang="en-US" sz="4320" b="1">
                <a:solidFill>
                  <a:srgbClr val="0F172A"/>
                </a:solidFill>
                <a:latin typeface="Playfair Display"/>
                <a:ea typeface="Playfair Display"/>
                <a:cs typeface="Playfair Display"/>
                <a:sym typeface="Playfair Display"/>
              </a:rPr>
              <a:t>Descripción de Niveles</a:t>
            </a:r>
            <a:endParaRPr sz="2160"/>
          </a:p>
        </p:txBody>
      </p:sp>
      <p:sp>
        <p:nvSpPr>
          <p:cNvPr id="215" name="Google Shape;215;p21"/>
          <p:cNvSpPr/>
          <p:nvPr/>
        </p:nvSpPr>
        <p:spPr>
          <a:xfrm>
            <a:off x="914400" y="1737360"/>
            <a:ext cx="128016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20" name="Google Shape;220;p22" descr="image.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21" name="Google Shape;221;p22"/>
          <p:cNvSpPr/>
          <p:nvPr/>
        </p:nvSpPr>
        <p:spPr>
          <a:xfrm>
            <a:off x="0" y="0"/>
            <a:ext cx="14630400" cy="91440"/>
          </a:xfrm>
          <a:prstGeom prst="rect">
            <a:avLst/>
          </a:prstGeom>
          <a:solidFill>
            <a:srgbClr val="0F172A"/>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22" name="Google Shape;222;p22"/>
          <p:cNvSpPr txBox="1"/>
          <p:nvPr/>
        </p:nvSpPr>
        <p:spPr>
          <a:xfrm>
            <a:off x="914400" y="3277195"/>
            <a:ext cx="12801600" cy="487506"/>
          </a:xfrm>
          <a:prstGeom prst="rect">
            <a:avLst/>
          </a:prstGeom>
          <a:noFill/>
          <a:ln>
            <a:noFill/>
          </a:ln>
        </p:spPr>
        <p:txBody>
          <a:bodyPr spcFirstLastPara="1" wrap="square" lIns="0" tIns="0" rIns="0" bIns="0" anchor="t" anchorCtr="0">
            <a:spAutoFit/>
          </a:bodyPr>
          <a:lstStyle/>
          <a:p>
            <a:pPr algn="ctr">
              <a:lnSpc>
                <a:spcPct val="160000"/>
              </a:lnSpc>
            </a:pPr>
            <a:r>
              <a:rPr lang="en-US" sz="1980">
                <a:solidFill>
                  <a:srgbClr val="475569"/>
                </a:solidFill>
                <a:latin typeface="Inter"/>
                <a:ea typeface="Inter"/>
                <a:cs typeface="Inter"/>
                <a:sym typeface="Inter"/>
              </a:rPr>
              <a:t>La progresión no es acumulativa ni cuantitativa, es un </a:t>
            </a:r>
            <a:r>
              <a:rPr lang="en-US" sz="1980" b="1">
                <a:solidFill>
                  <a:srgbClr val="475569"/>
                </a:solidFill>
                <a:latin typeface="Inter"/>
                <a:ea typeface="Inter"/>
                <a:cs typeface="Inter"/>
                <a:sym typeface="Inter"/>
              </a:rPr>
              <a:t>continuo de coherencia</a:t>
            </a:r>
            <a:r>
              <a:rPr lang="en-US" sz="1980">
                <a:solidFill>
                  <a:srgbClr val="475569"/>
                </a:solidFill>
                <a:latin typeface="Inter"/>
                <a:ea typeface="Inter"/>
                <a:cs typeface="Inter"/>
                <a:sym typeface="Inter"/>
              </a:rPr>
              <a:t>.</a:t>
            </a:r>
            <a:endParaRPr sz="2160"/>
          </a:p>
        </p:txBody>
      </p:sp>
      <p:sp>
        <p:nvSpPr>
          <p:cNvPr id="223" name="Google Shape;223;p22"/>
          <p:cNvSpPr/>
          <p:nvPr/>
        </p:nvSpPr>
        <p:spPr>
          <a:xfrm>
            <a:off x="914400" y="4593788"/>
            <a:ext cx="12801600" cy="4572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24" name="Google Shape;224;p22"/>
          <p:cNvSpPr txBox="1"/>
          <p:nvPr/>
        </p:nvSpPr>
        <p:spPr>
          <a:xfrm>
            <a:off x="914400" y="5050988"/>
            <a:ext cx="6048756" cy="387798"/>
          </a:xfrm>
          <a:prstGeom prst="rect">
            <a:avLst/>
          </a:prstGeom>
          <a:noFill/>
          <a:ln>
            <a:noFill/>
          </a:ln>
        </p:spPr>
        <p:txBody>
          <a:bodyPr spcFirstLastPara="1" wrap="square" lIns="0" tIns="0" rIns="0" bIns="0" anchor="t" anchorCtr="0">
            <a:spAutoFit/>
          </a:bodyPr>
          <a:lstStyle/>
          <a:p>
            <a:r>
              <a:rPr lang="en-US" sz="2520" b="1">
                <a:solidFill>
                  <a:srgbClr val="64748B"/>
                </a:solidFill>
                <a:latin typeface="Inter"/>
                <a:ea typeface="Inter"/>
                <a:cs typeface="Inter"/>
                <a:sym typeface="Inter"/>
              </a:rPr>
              <a:t>Debilidad / Ausencia</a:t>
            </a:r>
            <a:endParaRPr sz="2160"/>
          </a:p>
        </p:txBody>
      </p:sp>
      <p:sp>
        <p:nvSpPr>
          <p:cNvPr id="225" name="Google Shape;225;p22"/>
          <p:cNvSpPr txBox="1"/>
          <p:nvPr/>
        </p:nvSpPr>
        <p:spPr>
          <a:xfrm>
            <a:off x="914400" y="5622489"/>
            <a:ext cx="576072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75569"/>
                </a:solidFill>
                <a:latin typeface="Inter"/>
                <a:ea typeface="Inter"/>
                <a:cs typeface="Inter"/>
                <a:sym typeface="Inter"/>
              </a:rPr>
              <a:t>Falta de articulación entre evidencias y rol jerárquico.</a:t>
            </a:r>
            <a:endParaRPr sz="2160"/>
          </a:p>
        </p:txBody>
      </p:sp>
      <p:sp>
        <p:nvSpPr>
          <p:cNvPr id="226" name="Google Shape;226;p22"/>
          <p:cNvSpPr txBox="1"/>
          <p:nvPr/>
        </p:nvSpPr>
        <p:spPr>
          <a:xfrm>
            <a:off x="7667244" y="5050988"/>
            <a:ext cx="6048756" cy="387798"/>
          </a:xfrm>
          <a:prstGeom prst="rect">
            <a:avLst/>
          </a:prstGeom>
          <a:noFill/>
          <a:ln>
            <a:noFill/>
          </a:ln>
        </p:spPr>
        <p:txBody>
          <a:bodyPr spcFirstLastPara="1" wrap="square" lIns="0" tIns="0" rIns="0" bIns="0" anchor="t" anchorCtr="0">
            <a:spAutoFit/>
          </a:bodyPr>
          <a:lstStyle/>
          <a:p>
            <a:pPr algn="r"/>
            <a:r>
              <a:rPr lang="en-US" sz="2520" b="1">
                <a:solidFill>
                  <a:srgbClr val="2563EB"/>
                </a:solidFill>
                <a:latin typeface="Inter"/>
                <a:ea typeface="Inter"/>
                <a:cs typeface="Inter"/>
                <a:sym typeface="Inter"/>
              </a:rPr>
              <a:t>Manifestación Sostenida</a:t>
            </a:r>
            <a:endParaRPr sz="2160"/>
          </a:p>
        </p:txBody>
      </p:sp>
      <p:sp>
        <p:nvSpPr>
          <p:cNvPr id="227" name="Google Shape;227;p22"/>
          <p:cNvSpPr txBox="1"/>
          <p:nvPr/>
        </p:nvSpPr>
        <p:spPr>
          <a:xfrm>
            <a:off x="7955280" y="5622489"/>
            <a:ext cx="5760720" cy="975011"/>
          </a:xfrm>
          <a:prstGeom prst="rect">
            <a:avLst/>
          </a:prstGeom>
          <a:noFill/>
          <a:ln>
            <a:noFill/>
          </a:ln>
        </p:spPr>
        <p:txBody>
          <a:bodyPr spcFirstLastPara="1" wrap="square" lIns="0" tIns="0" rIns="0" bIns="0" anchor="t" anchorCtr="0">
            <a:spAutoFit/>
          </a:bodyPr>
          <a:lstStyle/>
          <a:p>
            <a:pPr algn="r">
              <a:lnSpc>
                <a:spcPct val="160000"/>
              </a:lnSpc>
            </a:pPr>
            <a:r>
              <a:rPr lang="en-US" sz="1980">
                <a:solidFill>
                  <a:srgbClr val="475569"/>
                </a:solidFill>
                <a:latin typeface="Inter"/>
                <a:ea typeface="Inter"/>
                <a:cs typeface="Inter"/>
                <a:sym typeface="Inter"/>
              </a:rPr>
              <a:t>Integración consistente de las funciones académicas esperadas.</a:t>
            </a:r>
            <a:endParaRPr sz="2160"/>
          </a:p>
        </p:txBody>
      </p:sp>
      <p:sp>
        <p:nvSpPr>
          <p:cNvPr id="228" name="Google Shape;228;p22"/>
          <p:cNvSpPr txBox="1"/>
          <p:nvPr/>
        </p:nvSpPr>
        <p:spPr>
          <a:xfrm>
            <a:off x="914400" y="777241"/>
            <a:ext cx="13441680" cy="664797"/>
          </a:xfrm>
          <a:prstGeom prst="rect">
            <a:avLst/>
          </a:prstGeom>
          <a:noFill/>
          <a:ln>
            <a:noFill/>
          </a:ln>
        </p:spPr>
        <p:txBody>
          <a:bodyPr spcFirstLastPara="1" wrap="square" lIns="0" tIns="0" rIns="0" bIns="0" anchor="t" anchorCtr="0">
            <a:spAutoFit/>
          </a:bodyPr>
          <a:lstStyle/>
          <a:p>
            <a:r>
              <a:rPr lang="en-US" sz="4320" b="1">
                <a:solidFill>
                  <a:srgbClr val="0F172A"/>
                </a:solidFill>
                <a:latin typeface="Playfair Display"/>
                <a:ea typeface="Playfair Display"/>
                <a:cs typeface="Playfair Display"/>
                <a:sym typeface="Playfair Display"/>
              </a:rPr>
              <a:t>Lógica de Progresión</a:t>
            </a:r>
            <a:endParaRPr sz="2160"/>
          </a:p>
        </p:txBody>
      </p:sp>
      <p:sp>
        <p:nvSpPr>
          <p:cNvPr id="229" name="Google Shape;229;p22"/>
          <p:cNvSpPr/>
          <p:nvPr/>
        </p:nvSpPr>
        <p:spPr>
          <a:xfrm>
            <a:off x="914400" y="1737360"/>
            <a:ext cx="128016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30" name="Google Shape;230;p22"/>
          <p:cNvSpPr/>
          <p:nvPr/>
        </p:nvSpPr>
        <p:spPr>
          <a:xfrm>
            <a:off x="914400" y="4365188"/>
            <a:ext cx="457200" cy="457200"/>
          </a:xfrm>
          <a:prstGeom prst="roundRect">
            <a:avLst>
              <a:gd name="adj" fmla="val 50000"/>
            </a:avLst>
          </a:prstGeom>
          <a:solidFill>
            <a:srgbClr val="FFFFFF"/>
          </a:solidFill>
          <a:ln w="38100" cap="flat" cmpd="sng">
            <a:solidFill>
              <a:srgbClr val="64748B"/>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31" name="Google Shape;231;p22"/>
          <p:cNvSpPr/>
          <p:nvPr/>
        </p:nvSpPr>
        <p:spPr>
          <a:xfrm>
            <a:off x="13258800" y="4365188"/>
            <a:ext cx="457200" cy="457200"/>
          </a:xfrm>
          <a:prstGeom prst="roundRect">
            <a:avLst>
              <a:gd name="adj" fmla="val 50000"/>
            </a:avLst>
          </a:prstGeom>
          <a:solidFill>
            <a:srgbClr val="FFFFFF"/>
          </a:solidFill>
          <a:ln w="38100" cap="flat" cmpd="sng">
            <a:solidFill>
              <a:srgbClr val="2563EB"/>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836652"/>
            <a:ext cx="6321266" cy="521017"/>
          </a:xfrm>
          <a:prstGeom prst="rect">
            <a:avLst/>
          </a:prstGeom>
          <a:noFill/>
          <a:ln/>
        </p:spPr>
        <p:txBody>
          <a:bodyPr wrap="none" lIns="0" tIns="0" rIns="0" bIns="0" rtlCol="0" anchor="t"/>
          <a:lstStyle/>
          <a:p>
            <a:pPr marL="0" indent="0" algn="l">
              <a:lnSpc>
                <a:spcPts val="4100"/>
              </a:lnSpc>
              <a:buNone/>
            </a:pPr>
            <a:r>
              <a:rPr lang="en-US" sz="3250" dirty="0">
                <a:solidFill>
                  <a:srgbClr val="020202"/>
                </a:solidFill>
                <a:latin typeface="PT Serif" pitchFamily="34" charset="0"/>
                <a:ea typeface="PT Serif" pitchFamily="34" charset="-122"/>
                <a:cs typeface="PT Serif" pitchFamily="34" charset="-120"/>
              </a:rPr>
              <a:t>Rúbrica holística: consideraciones</a:t>
            </a:r>
            <a:endParaRPr lang="en-US" sz="3250" dirty="0"/>
          </a:p>
        </p:txBody>
      </p:sp>
      <p:sp>
        <p:nvSpPr>
          <p:cNvPr id="14" name="Shape 12"/>
          <p:cNvSpPr/>
          <p:nvPr/>
        </p:nvSpPr>
        <p:spPr>
          <a:xfrm>
            <a:off x="7303770" y="3900011"/>
            <a:ext cx="22860" cy="3492937"/>
          </a:xfrm>
          <a:prstGeom prst="roundRect">
            <a:avLst>
              <a:gd name="adj" fmla="val 104186"/>
            </a:avLst>
          </a:prstGeom>
          <a:solidFill>
            <a:srgbClr val="D8D4D4"/>
          </a:solidFill>
          <a:ln/>
        </p:spPr>
        <p:txBody>
          <a:bodyPr/>
          <a:lstStyle/>
          <a:p>
            <a:endParaRPr lang="es-CL"/>
          </a:p>
        </p:txBody>
      </p:sp>
      <p:sp>
        <p:nvSpPr>
          <p:cNvPr id="15" name="Shape 13"/>
          <p:cNvSpPr/>
          <p:nvPr/>
        </p:nvSpPr>
        <p:spPr>
          <a:xfrm>
            <a:off x="770930" y="3900011"/>
            <a:ext cx="6521410" cy="952619"/>
          </a:xfrm>
          <a:prstGeom prst="roundRect">
            <a:avLst>
              <a:gd name="adj" fmla="val 2500"/>
            </a:avLst>
          </a:prstGeom>
          <a:solidFill>
            <a:srgbClr val="F2EEEE"/>
          </a:solidFill>
          <a:ln/>
        </p:spPr>
        <p:txBody>
          <a:bodyPr/>
          <a:lstStyle/>
          <a:p>
            <a:endParaRPr lang="es-CL"/>
          </a:p>
        </p:txBody>
      </p:sp>
      <p:sp>
        <p:nvSpPr>
          <p:cNvPr id="16" name="Text 14"/>
          <p:cNvSpPr/>
          <p:nvPr/>
        </p:nvSpPr>
        <p:spPr>
          <a:xfrm>
            <a:off x="5049679" y="4058722"/>
            <a:ext cx="2083951" cy="260390"/>
          </a:xfrm>
          <a:prstGeom prst="rect">
            <a:avLst/>
          </a:prstGeom>
          <a:noFill/>
          <a:ln/>
        </p:spPr>
        <p:txBody>
          <a:bodyPr wrap="none" lIns="0" tIns="0" rIns="0" bIns="0" rtlCol="0" anchor="t"/>
          <a:lstStyle/>
          <a:p>
            <a:pPr marL="0" indent="0" algn="r">
              <a:lnSpc>
                <a:spcPts val="2050"/>
              </a:lnSpc>
              <a:buNone/>
            </a:pPr>
            <a:r>
              <a:rPr lang="en-US" sz="1600" dirty="0">
                <a:solidFill>
                  <a:srgbClr val="383838"/>
                </a:solidFill>
                <a:latin typeface="PT Serif" pitchFamily="34" charset="0"/>
                <a:ea typeface="PT Serif" pitchFamily="34" charset="-122"/>
                <a:cs typeface="PT Serif" pitchFamily="34" charset="-120"/>
              </a:rPr>
              <a:t>Tensión metodológica</a:t>
            </a:r>
            <a:endParaRPr lang="en-US" sz="1600" dirty="0"/>
          </a:p>
        </p:txBody>
      </p:sp>
      <p:sp>
        <p:nvSpPr>
          <p:cNvPr id="17" name="Text 15"/>
          <p:cNvSpPr/>
          <p:nvPr/>
        </p:nvSpPr>
        <p:spPr>
          <a:xfrm>
            <a:off x="929640" y="4414361"/>
            <a:ext cx="6203990" cy="254079"/>
          </a:xfrm>
          <a:prstGeom prst="rect">
            <a:avLst/>
          </a:prstGeom>
          <a:noFill/>
          <a:ln/>
        </p:spPr>
        <p:txBody>
          <a:bodyPr wrap="none" lIns="0" tIns="0" rIns="0" bIns="0" rtlCol="0" anchor="t"/>
          <a:lstStyle/>
          <a:p>
            <a:pPr marL="0" indent="0" algn="r">
              <a:lnSpc>
                <a:spcPts val="2000"/>
              </a:lnSpc>
              <a:buNone/>
            </a:pPr>
            <a:r>
              <a:rPr lang="en-US" sz="1250" dirty="0">
                <a:solidFill>
                  <a:srgbClr val="383838"/>
                </a:solidFill>
                <a:latin typeface="DM Sans" pitchFamily="34" charset="0"/>
                <a:ea typeface="DM Sans" pitchFamily="34" charset="-122"/>
                <a:cs typeface="DM Sans" pitchFamily="34" charset="-120"/>
              </a:rPr>
              <a:t>Desfase entre áreas definidas </a:t>
            </a:r>
            <a:r>
              <a:rPr lang="en-US" sz="1250" dirty="0" err="1">
                <a:solidFill>
                  <a:srgbClr val="383838"/>
                </a:solidFill>
                <a:latin typeface="DM Sans" pitchFamily="34" charset="0"/>
                <a:ea typeface="DM Sans" pitchFamily="34" charset="-122"/>
                <a:cs typeface="DM Sans" pitchFamily="34" charset="-120"/>
              </a:rPr>
              <a:t>en</a:t>
            </a:r>
            <a:r>
              <a:rPr lang="en-US" sz="1250" dirty="0">
                <a:solidFill>
                  <a:srgbClr val="383838"/>
                </a:solidFill>
                <a:latin typeface="DM Sans" pitchFamily="34" charset="0"/>
                <a:ea typeface="DM Sans" pitchFamily="34" charset="-122"/>
                <a:cs typeface="DM Sans" pitchFamily="34" charset="-120"/>
              </a:rPr>
              <a:t> la Carrera </a:t>
            </a:r>
            <a:r>
              <a:rPr lang="en-US" sz="1250" dirty="0" err="1">
                <a:solidFill>
                  <a:srgbClr val="383838"/>
                </a:solidFill>
                <a:latin typeface="DM Sans" pitchFamily="34" charset="0"/>
                <a:ea typeface="DM Sans" pitchFamily="34" charset="-122"/>
                <a:cs typeface="DM Sans" pitchFamily="34" charset="-120"/>
              </a:rPr>
              <a:t>Académica</a:t>
            </a:r>
            <a:r>
              <a:rPr lang="en-US" sz="1250" dirty="0">
                <a:solidFill>
                  <a:srgbClr val="383838"/>
                </a:solidFill>
                <a:latin typeface="DM Sans" pitchFamily="34" charset="0"/>
                <a:ea typeface="DM Sans" pitchFamily="34" charset="-122"/>
                <a:cs typeface="DM Sans" pitchFamily="34" charset="-120"/>
              </a:rPr>
              <a:t> y reglamento de evaluación</a:t>
            </a:r>
            <a:endParaRPr lang="en-US" sz="1250" dirty="0"/>
          </a:p>
        </p:txBody>
      </p:sp>
      <p:sp>
        <p:nvSpPr>
          <p:cNvPr id="18" name="Shape 16"/>
          <p:cNvSpPr/>
          <p:nvPr/>
        </p:nvSpPr>
        <p:spPr>
          <a:xfrm>
            <a:off x="7338060" y="5170170"/>
            <a:ext cx="6521410" cy="952619"/>
          </a:xfrm>
          <a:prstGeom prst="rect">
            <a:avLst/>
          </a:prstGeom>
          <a:solidFill>
            <a:srgbClr val="F2EEEE"/>
          </a:solidFill>
          <a:ln/>
        </p:spPr>
        <p:txBody>
          <a:bodyPr/>
          <a:lstStyle/>
          <a:p>
            <a:endParaRPr lang="es-CL"/>
          </a:p>
        </p:txBody>
      </p:sp>
      <p:sp>
        <p:nvSpPr>
          <p:cNvPr id="19" name="Text 17"/>
          <p:cNvSpPr/>
          <p:nvPr/>
        </p:nvSpPr>
        <p:spPr>
          <a:xfrm>
            <a:off x="7496770" y="5328880"/>
            <a:ext cx="2525197" cy="260390"/>
          </a:xfrm>
          <a:prstGeom prst="rect">
            <a:avLst/>
          </a:prstGeom>
          <a:noFill/>
          <a:ln/>
        </p:spPr>
        <p:txBody>
          <a:bodyPr wrap="none" lIns="0" tIns="0" rIns="0" bIns="0" rtlCol="0" anchor="t"/>
          <a:lstStyle/>
          <a:p>
            <a:pPr marL="0" indent="0" algn="l">
              <a:lnSpc>
                <a:spcPts val="2050"/>
              </a:lnSpc>
              <a:buNone/>
            </a:pPr>
            <a:r>
              <a:rPr lang="en-US" sz="1600" dirty="0">
                <a:solidFill>
                  <a:srgbClr val="383838"/>
                </a:solidFill>
                <a:latin typeface="PT Serif" pitchFamily="34" charset="0"/>
                <a:ea typeface="PT Serif" pitchFamily="34" charset="-122"/>
                <a:cs typeface="PT Serif" pitchFamily="34" charset="-120"/>
              </a:rPr>
              <a:t>Variabilidad interevaluador</a:t>
            </a:r>
            <a:endParaRPr lang="en-US" sz="1600" dirty="0"/>
          </a:p>
        </p:txBody>
      </p:sp>
      <p:sp>
        <p:nvSpPr>
          <p:cNvPr id="20" name="Text 18"/>
          <p:cNvSpPr/>
          <p:nvPr/>
        </p:nvSpPr>
        <p:spPr>
          <a:xfrm>
            <a:off x="7496770" y="5684520"/>
            <a:ext cx="6203990"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Requiere alineamiento conceptual y procedimental de las comisiones</a:t>
            </a:r>
            <a:endParaRPr lang="en-US" sz="1250" dirty="0"/>
          </a:p>
        </p:txBody>
      </p:sp>
      <p:sp>
        <p:nvSpPr>
          <p:cNvPr id="21" name="Shape 19"/>
          <p:cNvSpPr/>
          <p:nvPr/>
        </p:nvSpPr>
        <p:spPr>
          <a:xfrm>
            <a:off x="770930" y="6440329"/>
            <a:ext cx="6521410" cy="952619"/>
          </a:xfrm>
          <a:prstGeom prst="roundRect">
            <a:avLst>
              <a:gd name="adj" fmla="val 2500"/>
            </a:avLst>
          </a:prstGeom>
          <a:solidFill>
            <a:srgbClr val="F2EEEE"/>
          </a:solidFill>
          <a:ln/>
        </p:spPr>
        <p:txBody>
          <a:bodyPr/>
          <a:lstStyle/>
          <a:p>
            <a:endParaRPr lang="es-CL"/>
          </a:p>
        </p:txBody>
      </p:sp>
      <p:sp>
        <p:nvSpPr>
          <p:cNvPr id="22" name="Text 20"/>
          <p:cNvSpPr/>
          <p:nvPr/>
        </p:nvSpPr>
        <p:spPr>
          <a:xfrm>
            <a:off x="5049679" y="6599039"/>
            <a:ext cx="2083951" cy="260390"/>
          </a:xfrm>
          <a:prstGeom prst="rect">
            <a:avLst/>
          </a:prstGeom>
          <a:noFill/>
          <a:ln/>
        </p:spPr>
        <p:txBody>
          <a:bodyPr wrap="none" lIns="0" tIns="0" rIns="0" bIns="0" rtlCol="0" anchor="t"/>
          <a:lstStyle/>
          <a:p>
            <a:pPr marL="0" indent="0" algn="r">
              <a:lnSpc>
                <a:spcPts val="2050"/>
              </a:lnSpc>
              <a:buNone/>
            </a:pPr>
            <a:r>
              <a:rPr lang="en-US" sz="1600" dirty="0">
                <a:solidFill>
                  <a:srgbClr val="383838"/>
                </a:solidFill>
                <a:latin typeface="PT Serif" pitchFamily="34" charset="0"/>
                <a:ea typeface="PT Serif" pitchFamily="34" charset="-122"/>
                <a:cs typeface="PT Serif" pitchFamily="34" charset="-120"/>
              </a:rPr>
              <a:t>Evidencias trazables</a:t>
            </a:r>
            <a:endParaRPr lang="en-US" sz="1600" dirty="0"/>
          </a:p>
        </p:txBody>
      </p:sp>
      <p:sp>
        <p:nvSpPr>
          <p:cNvPr id="23" name="Text 21"/>
          <p:cNvSpPr/>
          <p:nvPr/>
        </p:nvSpPr>
        <p:spPr>
          <a:xfrm>
            <a:off x="929640" y="6954679"/>
            <a:ext cx="6203990" cy="254079"/>
          </a:xfrm>
          <a:prstGeom prst="rect">
            <a:avLst/>
          </a:prstGeom>
          <a:noFill/>
          <a:ln/>
        </p:spPr>
        <p:txBody>
          <a:bodyPr wrap="none" lIns="0" tIns="0" rIns="0" bIns="0" rtlCol="0" anchor="t"/>
          <a:lstStyle/>
          <a:p>
            <a:pPr marL="0" indent="0" algn="r">
              <a:lnSpc>
                <a:spcPts val="2000"/>
              </a:lnSpc>
              <a:buNone/>
            </a:pPr>
            <a:r>
              <a:rPr lang="en-US" sz="1250" dirty="0">
                <a:solidFill>
                  <a:srgbClr val="383838"/>
                </a:solidFill>
                <a:latin typeface="DM Sans" pitchFamily="34" charset="0"/>
                <a:ea typeface="DM Sans" pitchFamily="34" charset="-122"/>
                <a:cs typeface="DM Sans" pitchFamily="34" charset="-120"/>
              </a:rPr>
              <a:t>Sin evidencia suficiente, la rúbrica pierde capacidad explicativa</a:t>
            </a:r>
            <a:endParaRPr lang="en-US" sz="1250" dirty="0"/>
          </a:p>
        </p:txBody>
      </p:sp>
      <p:sp>
        <p:nvSpPr>
          <p:cNvPr id="24" name="Rectángulo 23">
            <a:extLst>
              <a:ext uri="{FF2B5EF4-FFF2-40B4-BE49-F238E27FC236}">
                <a16:creationId xmlns:a16="http://schemas.microsoft.com/office/drawing/2014/main" id="{792B1B83-1BDE-8822-08A9-0A1D64DAA5C8}"/>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6" name="CuadroTexto 25">
            <a:extLst>
              <a:ext uri="{FF2B5EF4-FFF2-40B4-BE49-F238E27FC236}">
                <a16:creationId xmlns:a16="http://schemas.microsoft.com/office/drawing/2014/main" id="{98F86F9D-1018-FE3C-F62A-269CCB718049}"/>
              </a:ext>
            </a:extLst>
          </p:cNvPr>
          <p:cNvSpPr txBox="1"/>
          <p:nvPr/>
        </p:nvSpPr>
        <p:spPr>
          <a:xfrm>
            <a:off x="770930" y="1534210"/>
            <a:ext cx="7315200" cy="2031325"/>
          </a:xfrm>
          <a:prstGeom prst="rect">
            <a:avLst/>
          </a:prstGeom>
          <a:noFill/>
        </p:spPr>
        <p:txBody>
          <a:bodyPr wrap="square">
            <a:spAutoFit/>
          </a:bodyPr>
          <a:lstStyle/>
          <a:p>
            <a:pPr>
              <a:buNone/>
            </a:pPr>
            <a:r>
              <a:rPr lang="es-ES" b="1" dirty="0">
                <a:latin typeface="DM Sans" pitchFamily="2" charset="0"/>
              </a:rPr>
              <a:t>Diferenciación por ámbito</a:t>
            </a:r>
          </a:p>
          <a:p>
            <a:pPr>
              <a:buNone/>
            </a:pPr>
            <a:endParaRPr lang="es-ES" dirty="0">
              <a:latin typeface="DM Sans" pitchFamily="2" charset="0"/>
            </a:endParaRPr>
          </a:p>
          <a:p>
            <a:pPr marL="285750" indent="-285750">
              <a:buFont typeface="Arial" panose="020B0604020202020204" pitchFamily="34" charset="0"/>
              <a:buChar char="•"/>
            </a:pPr>
            <a:r>
              <a:rPr lang="es-ES" dirty="0">
                <a:latin typeface="DM Sans" pitchFamily="2" charset="0"/>
              </a:rPr>
              <a:t>Docencia</a:t>
            </a:r>
          </a:p>
          <a:p>
            <a:pPr marL="285750" indent="-285750">
              <a:buFont typeface="Arial" panose="020B0604020202020204" pitchFamily="34" charset="0"/>
              <a:buChar char="•"/>
            </a:pPr>
            <a:r>
              <a:rPr lang="es-ES" dirty="0">
                <a:latin typeface="DM Sans" pitchFamily="2" charset="0"/>
              </a:rPr>
              <a:t>Investigación</a:t>
            </a:r>
          </a:p>
          <a:p>
            <a:pPr marL="285750" indent="-285750">
              <a:buFont typeface="Arial" panose="020B0604020202020204" pitchFamily="34" charset="0"/>
              <a:buChar char="•"/>
            </a:pPr>
            <a:r>
              <a:rPr lang="es-ES" dirty="0">
                <a:latin typeface="DM Sans" pitchFamily="2" charset="0"/>
              </a:rPr>
              <a:t>Vinculación con el medio</a:t>
            </a:r>
          </a:p>
          <a:p>
            <a:pPr marL="285750" indent="-285750">
              <a:buFont typeface="Arial" panose="020B0604020202020204" pitchFamily="34" charset="0"/>
              <a:buChar char="•"/>
            </a:pPr>
            <a:r>
              <a:rPr lang="es-ES" dirty="0">
                <a:latin typeface="DM Sans" pitchFamily="2" charset="0"/>
              </a:rPr>
              <a:t>Gestión académica</a:t>
            </a:r>
          </a:p>
          <a:p>
            <a:pPr marL="285750" indent="-285750">
              <a:buFont typeface="Arial" panose="020B0604020202020204" pitchFamily="34" charset="0"/>
              <a:buChar char="•"/>
            </a:pPr>
            <a:r>
              <a:rPr lang="es-ES" dirty="0">
                <a:latin typeface="DM Sans" pitchFamily="2" charset="0"/>
              </a:rPr>
              <a:t>Perfeccionamiento y educación continua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3C88064-AD51-5E6F-C893-807CF92FF82F}"/>
              </a:ext>
            </a:extLst>
          </p:cNvPr>
          <p:cNvSpPr txBox="1"/>
          <p:nvPr/>
        </p:nvSpPr>
        <p:spPr>
          <a:xfrm>
            <a:off x="704235" y="1882899"/>
            <a:ext cx="13510529" cy="646331"/>
          </a:xfrm>
          <a:prstGeom prst="rect">
            <a:avLst/>
          </a:prstGeom>
          <a:solidFill>
            <a:schemeClr val="accent2">
              <a:lumMod val="20000"/>
              <a:lumOff val="80000"/>
            </a:schemeClr>
          </a:solidFill>
          <a:effectLst>
            <a:outerShdw blurRad="50800" dist="38100" dir="2700000" algn="tl" rotWithShape="0">
              <a:prstClr val="black">
                <a:alpha val="40000"/>
              </a:prstClr>
            </a:outerShdw>
          </a:effectLst>
        </p:spPr>
        <p:txBody>
          <a:bodyPr wrap="square">
            <a:spAutoFit/>
          </a:bodyPr>
          <a:lstStyle/>
          <a:p>
            <a:pPr marL="0" indent="0">
              <a:buNone/>
            </a:pPr>
            <a:r>
              <a:rPr lang="es-ES" dirty="0">
                <a:latin typeface="DM Sans" pitchFamily="2" charset="0"/>
              </a:rPr>
              <a:t>La retroalimentación se propone como un </a:t>
            </a:r>
            <a:r>
              <a:rPr lang="es-ES" b="1" dirty="0">
                <a:latin typeface="DM Sans" pitchFamily="2" charset="0"/>
              </a:rPr>
              <a:t>componente obligatorio del proceso de evaluación del desempeño académico</a:t>
            </a:r>
            <a:r>
              <a:rPr lang="es-ES" dirty="0">
                <a:latin typeface="DM Sans" pitchFamily="2" charset="0"/>
              </a:rPr>
              <a:t>, cuyo propósito es </a:t>
            </a:r>
            <a:r>
              <a:rPr lang="es-ES" b="1" dirty="0">
                <a:latin typeface="DM Sans" pitchFamily="2" charset="0"/>
              </a:rPr>
              <a:t>explicitar y fundamentar el juicio evaluativo</a:t>
            </a:r>
            <a:r>
              <a:rPr lang="es-ES" dirty="0">
                <a:latin typeface="DM Sans" pitchFamily="2" charset="0"/>
              </a:rPr>
              <a:t> y </a:t>
            </a:r>
            <a:r>
              <a:rPr lang="es-ES" b="1" dirty="0">
                <a:latin typeface="DM Sans" pitchFamily="2" charset="0"/>
              </a:rPr>
              <a:t>orientar la mejora del desempeño futuro.</a:t>
            </a:r>
            <a:endParaRPr lang="es-ES" dirty="0">
              <a:latin typeface="DM Sans" pitchFamily="2" charset="0"/>
            </a:endParaRPr>
          </a:p>
        </p:txBody>
      </p:sp>
      <p:sp>
        <p:nvSpPr>
          <p:cNvPr id="4" name="Text 0">
            <a:extLst>
              <a:ext uri="{FF2B5EF4-FFF2-40B4-BE49-F238E27FC236}">
                <a16:creationId xmlns:a16="http://schemas.microsoft.com/office/drawing/2014/main" id="{644ED3EB-1C9E-1638-4C8B-F64C216286F0}"/>
              </a:ext>
            </a:extLst>
          </p:cNvPr>
          <p:cNvSpPr/>
          <p:nvPr/>
        </p:nvSpPr>
        <p:spPr>
          <a:xfrm>
            <a:off x="793789" y="836652"/>
            <a:ext cx="8815723" cy="521017"/>
          </a:xfrm>
          <a:prstGeom prst="rect">
            <a:avLst/>
          </a:prstGeom>
          <a:noFill/>
          <a:ln/>
        </p:spPr>
        <p:txBody>
          <a:bodyPr wrap="none" lIns="0" tIns="0" rIns="0" bIns="0" rtlCol="0" anchor="t"/>
          <a:lstStyle/>
          <a:p>
            <a:pPr marL="0" indent="0" algn="l">
              <a:lnSpc>
                <a:spcPts val="4100"/>
              </a:lnSpc>
              <a:buNone/>
            </a:pPr>
            <a:r>
              <a:rPr lang="en-US" sz="4000" dirty="0" err="1">
                <a:solidFill>
                  <a:srgbClr val="020202"/>
                </a:solidFill>
                <a:latin typeface="PT Serif" pitchFamily="34" charset="0"/>
                <a:ea typeface="PT Serif" pitchFamily="34" charset="-122"/>
                <a:cs typeface="PT Serif" pitchFamily="34" charset="-120"/>
              </a:rPr>
              <a:t>Retroalimentación</a:t>
            </a:r>
            <a:r>
              <a:rPr lang="en-US" sz="4000" dirty="0">
                <a:solidFill>
                  <a:srgbClr val="020202"/>
                </a:solidFill>
                <a:latin typeface="PT Serif" pitchFamily="34" charset="0"/>
                <a:ea typeface="PT Serif" pitchFamily="34" charset="-122"/>
                <a:cs typeface="PT Serif" pitchFamily="34" charset="-120"/>
              </a:rPr>
              <a:t> del </a:t>
            </a:r>
            <a:r>
              <a:rPr lang="en-US" sz="4000" dirty="0" err="1">
                <a:solidFill>
                  <a:srgbClr val="020202"/>
                </a:solidFill>
                <a:latin typeface="PT Serif" pitchFamily="34" charset="0"/>
                <a:ea typeface="PT Serif" pitchFamily="34" charset="-122"/>
                <a:cs typeface="PT Serif" pitchFamily="34" charset="-120"/>
              </a:rPr>
              <a:t>Desempeño</a:t>
            </a:r>
            <a:r>
              <a:rPr lang="en-US" sz="4000" dirty="0">
                <a:solidFill>
                  <a:srgbClr val="020202"/>
                </a:solidFill>
                <a:latin typeface="PT Serif" pitchFamily="34" charset="0"/>
                <a:ea typeface="PT Serif" pitchFamily="34" charset="-122"/>
                <a:cs typeface="PT Serif" pitchFamily="34" charset="-120"/>
              </a:rPr>
              <a:t> </a:t>
            </a:r>
            <a:r>
              <a:rPr lang="en-US" sz="4000" dirty="0" err="1">
                <a:solidFill>
                  <a:srgbClr val="020202"/>
                </a:solidFill>
                <a:latin typeface="PT Serif" pitchFamily="34" charset="0"/>
                <a:ea typeface="PT Serif" pitchFamily="34" charset="-122"/>
                <a:cs typeface="PT Serif" pitchFamily="34" charset="-120"/>
              </a:rPr>
              <a:t>Académico</a:t>
            </a:r>
            <a:endParaRPr lang="en-US" sz="4000" dirty="0"/>
          </a:p>
        </p:txBody>
      </p:sp>
      <p:sp>
        <p:nvSpPr>
          <p:cNvPr id="5" name="Rectángulo 4">
            <a:extLst>
              <a:ext uri="{FF2B5EF4-FFF2-40B4-BE49-F238E27FC236}">
                <a16:creationId xmlns:a16="http://schemas.microsoft.com/office/drawing/2014/main" id="{5A949707-0D65-300E-1F98-D907A7788D78}"/>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6" name="Tabla 5">
            <a:extLst>
              <a:ext uri="{FF2B5EF4-FFF2-40B4-BE49-F238E27FC236}">
                <a16:creationId xmlns:a16="http://schemas.microsoft.com/office/drawing/2014/main" id="{BB418A89-84EB-A9AF-5CFF-A5213F597E1D}"/>
              </a:ext>
            </a:extLst>
          </p:cNvPr>
          <p:cNvGraphicFramePr>
            <a:graphicFrameLocks noGrp="1"/>
          </p:cNvGraphicFramePr>
          <p:nvPr>
            <p:extLst>
              <p:ext uri="{D42A27DB-BD31-4B8C-83A1-F6EECF244321}">
                <p14:modId xmlns:p14="http://schemas.microsoft.com/office/powerpoint/2010/main" val="3711128842"/>
              </p:ext>
            </p:extLst>
          </p:nvPr>
        </p:nvGraphicFramePr>
        <p:xfrm>
          <a:off x="793789" y="3054460"/>
          <a:ext cx="13088466" cy="4476872"/>
        </p:xfrm>
        <a:graphic>
          <a:graphicData uri="http://schemas.openxmlformats.org/drawingml/2006/table">
            <a:tbl>
              <a:tblPr>
                <a:tableStyleId>{BDBED569-4797-4DF1-A0F4-6AAB3CD982D8}</a:tableStyleId>
              </a:tblPr>
              <a:tblGrid>
                <a:gridCol w="4362822">
                  <a:extLst>
                    <a:ext uri="{9D8B030D-6E8A-4147-A177-3AD203B41FA5}">
                      <a16:colId xmlns:a16="http://schemas.microsoft.com/office/drawing/2014/main" val="310422885"/>
                    </a:ext>
                  </a:extLst>
                </a:gridCol>
                <a:gridCol w="4362822">
                  <a:extLst>
                    <a:ext uri="{9D8B030D-6E8A-4147-A177-3AD203B41FA5}">
                      <a16:colId xmlns:a16="http://schemas.microsoft.com/office/drawing/2014/main" val="3482413822"/>
                    </a:ext>
                  </a:extLst>
                </a:gridCol>
                <a:gridCol w="4362822">
                  <a:extLst>
                    <a:ext uri="{9D8B030D-6E8A-4147-A177-3AD203B41FA5}">
                      <a16:colId xmlns:a16="http://schemas.microsoft.com/office/drawing/2014/main" val="170603445"/>
                    </a:ext>
                  </a:extLst>
                </a:gridCol>
              </a:tblGrid>
              <a:tr h="853339">
                <a:tc>
                  <a:txBody>
                    <a:bodyPr/>
                    <a:lstStyle/>
                    <a:p>
                      <a:pPr algn="ctr" fontAlgn="ctr">
                        <a:buNone/>
                      </a:pPr>
                      <a:r>
                        <a:rPr lang="es-CL" sz="1800" b="1" u="none" strike="noStrike" dirty="0">
                          <a:effectLst/>
                          <a:latin typeface="DM Sans" pitchFamily="2" charset="0"/>
                        </a:rPr>
                        <a:t>Principios Rectores</a:t>
                      </a:r>
                      <a:endParaRPr lang="es-CL" sz="1800" b="1" i="0" u="none" strike="noStrike" dirty="0">
                        <a:solidFill>
                          <a:srgbClr val="000000"/>
                        </a:solidFill>
                        <a:effectLst/>
                        <a:latin typeface="DM Sans" pitchFamily="2" charset="0"/>
                      </a:endParaRPr>
                    </a:p>
                  </a:txBody>
                  <a:tcPr marL="9525" marR="9525" marT="9525" marB="0" anchor="ctr"/>
                </a:tc>
                <a:tc>
                  <a:txBody>
                    <a:bodyPr/>
                    <a:lstStyle/>
                    <a:p>
                      <a:pPr algn="ctr" fontAlgn="ctr">
                        <a:buNone/>
                      </a:pPr>
                      <a:r>
                        <a:rPr lang="es-CL" sz="1800" b="1" u="none" strike="noStrike" dirty="0">
                          <a:effectLst/>
                          <a:latin typeface="DM Sans" pitchFamily="2" charset="0"/>
                        </a:rPr>
                        <a:t>Contenido Mínimo Obligatorio</a:t>
                      </a:r>
                      <a:endParaRPr lang="es-CL" sz="1800" b="1" i="0" u="none" strike="noStrike" dirty="0">
                        <a:solidFill>
                          <a:srgbClr val="000000"/>
                        </a:solidFill>
                        <a:effectLst/>
                        <a:latin typeface="DM Sans" pitchFamily="2" charset="0"/>
                      </a:endParaRPr>
                    </a:p>
                  </a:txBody>
                  <a:tcPr marL="9525" marR="9525" marT="9525" marB="0" anchor="ctr"/>
                </a:tc>
                <a:tc>
                  <a:txBody>
                    <a:bodyPr/>
                    <a:lstStyle/>
                    <a:p>
                      <a:pPr algn="ctr" fontAlgn="ctr">
                        <a:buNone/>
                      </a:pPr>
                      <a:r>
                        <a:rPr lang="es-CL" sz="1800" b="1" u="none" strike="noStrike" dirty="0">
                          <a:effectLst/>
                          <a:latin typeface="DM Sans" pitchFamily="2" charset="0"/>
                        </a:rPr>
                        <a:t>Forma y Registro</a:t>
                      </a:r>
                      <a:endParaRPr lang="es-CL" sz="1800" b="1" i="0" u="none" strike="noStrike" dirty="0">
                        <a:solidFill>
                          <a:srgbClr val="000000"/>
                        </a:solidFill>
                        <a:effectLst/>
                        <a:latin typeface="DM Sans" pitchFamily="2" charset="0"/>
                      </a:endParaRPr>
                    </a:p>
                  </a:txBody>
                  <a:tcPr marL="9525" marR="9525" marT="9525" marB="0" anchor="ctr"/>
                </a:tc>
                <a:extLst>
                  <a:ext uri="{0D108BD9-81ED-4DB2-BD59-A6C34878D82A}">
                    <a16:rowId xmlns:a16="http://schemas.microsoft.com/office/drawing/2014/main" val="1259325024"/>
                  </a:ext>
                </a:extLst>
              </a:tr>
              <a:tr h="1262555">
                <a:tc>
                  <a:txBody>
                    <a:bodyPr/>
                    <a:lstStyle/>
                    <a:p>
                      <a:pPr algn="l" fontAlgn="ctr">
                        <a:buNone/>
                      </a:pPr>
                      <a:r>
                        <a:rPr lang="es-ES" sz="1800" u="none" strike="noStrike" dirty="0">
                          <a:effectLst/>
                          <a:latin typeface="DM Sans" pitchFamily="2" charset="0"/>
                        </a:rPr>
                        <a:t>Basada en evidencia verificable: Sustentada exclusivamente en actividades declaradas.</a:t>
                      </a:r>
                      <a:endParaRPr lang="es-ES" sz="1800" b="0"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dirty="0">
                          <a:effectLst/>
                          <a:latin typeface="DM Sans" pitchFamily="2" charset="0"/>
                        </a:rPr>
                        <a:t>Identificación de fortaleza: Aspecto que evidencia coherencia con la jerarquía.</a:t>
                      </a:r>
                      <a:endParaRPr lang="es-ES" sz="1800" b="1"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a:effectLst/>
                          <a:latin typeface="DM Sans" pitchFamily="2" charset="0"/>
                        </a:rPr>
                        <a:t>Debe quedar registrada por escrito en el expediente.</a:t>
                      </a:r>
                      <a:endParaRPr lang="es-ES" sz="1800" b="0" i="0" u="none" strike="noStrike">
                        <a:solidFill>
                          <a:srgbClr val="000000"/>
                        </a:solidFill>
                        <a:effectLst/>
                        <a:latin typeface="DM Sans" pitchFamily="2" charset="0"/>
                      </a:endParaRPr>
                    </a:p>
                  </a:txBody>
                  <a:tcPr marL="9525" marR="9525" marT="9525" marB="0" anchor="ctr"/>
                </a:tc>
                <a:extLst>
                  <a:ext uri="{0D108BD9-81ED-4DB2-BD59-A6C34878D82A}">
                    <a16:rowId xmlns:a16="http://schemas.microsoft.com/office/drawing/2014/main" val="642674125"/>
                  </a:ext>
                </a:extLst>
              </a:tr>
              <a:tr h="1098423">
                <a:tc>
                  <a:txBody>
                    <a:bodyPr/>
                    <a:lstStyle/>
                    <a:p>
                      <a:pPr algn="l" fontAlgn="ctr">
                        <a:buNone/>
                      </a:pPr>
                      <a:r>
                        <a:rPr lang="es-CL" sz="1800" u="none" strike="noStrike" dirty="0">
                          <a:effectLst/>
                          <a:latin typeface="DM Sans" pitchFamily="2" charset="0"/>
                        </a:rPr>
                        <a:t> Vinculada a criterios: Referida directamente a rúbricas y niveles.</a:t>
                      </a:r>
                      <a:endParaRPr lang="es-CL" sz="1800" b="0"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dirty="0">
                          <a:effectLst/>
                          <a:latin typeface="DM Sans" pitchFamily="2" charset="0"/>
                        </a:rPr>
                        <a:t>Aspecto a mejorar: Ámbito con desempeño parcial o insuficiente.</a:t>
                      </a:r>
                      <a:endParaRPr lang="es-ES" sz="1800" b="1"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a:effectLst/>
                          <a:latin typeface="DM Sans" pitchFamily="2" charset="0"/>
                        </a:rPr>
                        <a:t>Puede ser: Comentarios estructurados en la rúbrica y/o Informe breve.</a:t>
                      </a:r>
                      <a:endParaRPr lang="es-ES" sz="1800" b="0" i="0" u="none" strike="noStrike">
                        <a:solidFill>
                          <a:srgbClr val="000000"/>
                        </a:solidFill>
                        <a:effectLst/>
                        <a:latin typeface="DM Sans" pitchFamily="2" charset="0"/>
                      </a:endParaRPr>
                    </a:p>
                  </a:txBody>
                  <a:tcPr marL="9525" marR="9525" marT="9525" marB="0" anchor="ctr"/>
                </a:tc>
                <a:extLst>
                  <a:ext uri="{0D108BD9-81ED-4DB2-BD59-A6C34878D82A}">
                    <a16:rowId xmlns:a16="http://schemas.microsoft.com/office/drawing/2014/main" val="2980321913"/>
                  </a:ext>
                </a:extLst>
              </a:tr>
              <a:tr h="1262555">
                <a:tc>
                  <a:txBody>
                    <a:bodyPr/>
                    <a:lstStyle/>
                    <a:p>
                      <a:pPr algn="l" fontAlgn="ctr">
                        <a:buNone/>
                      </a:pPr>
                      <a:r>
                        <a:rPr lang="es-ES" sz="1800" u="none" strike="noStrike" dirty="0">
                          <a:effectLst/>
                          <a:latin typeface="DM Sans" pitchFamily="2" charset="0"/>
                        </a:rPr>
                        <a:t>Coherente con la jerarquía: Considera expectativas de autonomía, liderazgo e impacto (Decreto 26).</a:t>
                      </a:r>
                      <a:endParaRPr lang="es-ES" sz="1800" b="0"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dirty="0">
                          <a:effectLst/>
                          <a:latin typeface="DM Sans" pitchFamily="2" charset="0"/>
                        </a:rPr>
                        <a:t>Orientación futura: Indicación concreta de acciones para avanzar de nivel orientada a la mejora</a:t>
                      </a:r>
                      <a:endParaRPr lang="es-ES" sz="1800" b="1" i="0" u="none" strike="noStrike" dirty="0">
                        <a:solidFill>
                          <a:srgbClr val="000000"/>
                        </a:solidFill>
                        <a:effectLst/>
                        <a:latin typeface="DM Sans" pitchFamily="2" charset="0"/>
                      </a:endParaRPr>
                    </a:p>
                  </a:txBody>
                  <a:tcPr marL="9525" marR="9525" marT="9525" marB="0" anchor="ctr"/>
                </a:tc>
                <a:tc>
                  <a:txBody>
                    <a:bodyPr/>
                    <a:lstStyle/>
                    <a:p>
                      <a:pPr algn="l" fontAlgn="ctr">
                        <a:buNone/>
                      </a:pPr>
                      <a:r>
                        <a:rPr lang="es-ES" sz="1800" u="none" strike="noStrike" dirty="0">
                          <a:effectLst/>
                          <a:latin typeface="DM Sans" pitchFamily="2" charset="0"/>
                        </a:rPr>
                        <a:t>Debe permitir comprender la relación entre evidencia, juicio y calificación.</a:t>
                      </a:r>
                      <a:endParaRPr lang="es-ES" sz="1800" b="0" i="0" u="none" strike="noStrike" dirty="0">
                        <a:solidFill>
                          <a:srgbClr val="000000"/>
                        </a:solidFill>
                        <a:effectLst/>
                        <a:latin typeface="DM Sans" pitchFamily="2" charset="0"/>
                      </a:endParaRPr>
                    </a:p>
                  </a:txBody>
                  <a:tcPr marL="9525" marR="9525" marT="9525" marB="0" anchor="ctr"/>
                </a:tc>
                <a:extLst>
                  <a:ext uri="{0D108BD9-81ED-4DB2-BD59-A6C34878D82A}">
                    <a16:rowId xmlns:a16="http://schemas.microsoft.com/office/drawing/2014/main" val="2743905170"/>
                  </a:ext>
                </a:extLst>
              </a:tr>
            </a:tbl>
          </a:graphicData>
        </a:graphic>
      </p:graphicFrame>
    </p:spTree>
    <p:extLst>
      <p:ext uri="{BB962C8B-B14F-4D97-AF65-F5344CB8AC3E}">
        <p14:creationId xmlns:p14="http://schemas.microsoft.com/office/powerpoint/2010/main" val="21699995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7B7B-B04F-3F4B-EED7-1633E136A6C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2F2EB9-CE62-4E48-082C-03DC8793C457}"/>
              </a:ext>
            </a:extLst>
          </p:cNvPr>
          <p:cNvSpPr/>
          <p:nvPr/>
        </p:nvSpPr>
        <p:spPr>
          <a:xfrm>
            <a:off x="793790" y="717590"/>
            <a:ext cx="4763333" cy="595432"/>
          </a:xfrm>
          <a:prstGeom prst="rect">
            <a:avLst/>
          </a:prstGeom>
          <a:noFill/>
          <a:ln/>
        </p:spPr>
        <p:txBody>
          <a:bodyPr wrap="none" lIns="0" tIns="0" rIns="0" bIns="0" rtlCol="0" anchor="t"/>
          <a:lstStyle/>
          <a:p>
            <a:pPr marL="0" indent="0" algn="l">
              <a:lnSpc>
                <a:spcPts val="4650"/>
              </a:lnSpc>
              <a:buNone/>
            </a:pPr>
            <a:r>
              <a:rPr lang="es-ES" sz="3750" dirty="0">
                <a:solidFill>
                  <a:srgbClr val="020202"/>
                </a:solidFill>
                <a:latin typeface="PT Serif" pitchFamily="34" charset="0"/>
                <a:ea typeface="PT Serif" pitchFamily="34" charset="-122"/>
                <a:cs typeface="PT Serif" pitchFamily="34" charset="-120"/>
              </a:rPr>
              <a:t>Aspectos complementarios a considerar en la propuesta</a:t>
            </a:r>
            <a:endParaRPr lang="en-US" sz="3750" dirty="0"/>
          </a:p>
        </p:txBody>
      </p:sp>
      <p:sp>
        <p:nvSpPr>
          <p:cNvPr id="6" name="Shape 4">
            <a:extLst>
              <a:ext uri="{FF2B5EF4-FFF2-40B4-BE49-F238E27FC236}">
                <a16:creationId xmlns:a16="http://schemas.microsoft.com/office/drawing/2014/main" id="{A9F59BAC-8DF5-DEFF-CB59-548972B968D1}"/>
              </a:ext>
            </a:extLst>
          </p:cNvPr>
          <p:cNvSpPr/>
          <p:nvPr/>
        </p:nvSpPr>
        <p:spPr>
          <a:xfrm>
            <a:off x="793790" y="2857857"/>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7" name="Shape 5">
            <a:extLst>
              <a:ext uri="{FF2B5EF4-FFF2-40B4-BE49-F238E27FC236}">
                <a16:creationId xmlns:a16="http://schemas.microsoft.com/office/drawing/2014/main" id="{7AFD8EED-42C8-138D-D6EE-AFDCB1D07EC5}"/>
              </a:ext>
            </a:extLst>
          </p:cNvPr>
          <p:cNvSpPr/>
          <p:nvPr/>
        </p:nvSpPr>
        <p:spPr>
          <a:xfrm>
            <a:off x="816650" y="2880717"/>
            <a:ext cx="725805" cy="1059656"/>
          </a:xfrm>
          <a:prstGeom prst="rect">
            <a:avLst/>
          </a:prstGeom>
          <a:solidFill>
            <a:srgbClr val="F2EEEE"/>
          </a:solidFill>
          <a:ln/>
        </p:spPr>
        <p:txBody>
          <a:bodyPr/>
          <a:lstStyle/>
          <a:p>
            <a:endParaRPr lang="es-CL"/>
          </a:p>
        </p:txBody>
      </p:sp>
      <p:sp>
        <p:nvSpPr>
          <p:cNvPr id="8" name="Text 6">
            <a:extLst>
              <a:ext uri="{FF2B5EF4-FFF2-40B4-BE49-F238E27FC236}">
                <a16:creationId xmlns:a16="http://schemas.microsoft.com/office/drawing/2014/main" id="{7525177F-56E7-E643-8CE6-66F80D32EA30}"/>
              </a:ext>
            </a:extLst>
          </p:cNvPr>
          <p:cNvSpPr/>
          <p:nvPr/>
        </p:nvSpPr>
        <p:spPr>
          <a:xfrm>
            <a:off x="1043464" y="3240405"/>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2</a:t>
            </a:r>
            <a:endParaRPr lang="en-US" sz="2100" dirty="0"/>
          </a:p>
        </p:txBody>
      </p:sp>
      <p:sp>
        <p:nvSpPr>
          <p:cNvPr id="9" name="Text 7">
            <a:extLst>
              <a:ext uri="{FF2B5EF4-FFF2-40B4-BE49-F238E27FC236}">
                <a16:creationId xmlns:a16="http://schemas.microsoft.com/office/drawing/2014/main" id="{095C3366-2B91-2332-D56D-6CD48801F531}"/>
              </a:ext>
            </a:extLst>
          </p:cNvPr>
          <p:cNvSpPr/>
          <p:nvPr/>
        </p:nvSpPr>
        <p:spPr>
          <a:xfrm>
            <a:off x="1723906" y="3062168"/>
            <a:ext cx="2950131"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Criterio de selección de evidencias por parte del académico</a:t>
            </a:r>
            <a:endParaRPr lang="en-US" sz="1850" dirty="0"/>
          </a:p>
        </p:txBody>
      </p:sp>
      <p:sp>
        <p:nvSpPr>
          <p:cNvPr id="10" name="Text 8">
            <a:extLst>
              <a:ext uri="{FF2B5EF4-FFF2-40B4-BE49-F238E27FC236}">
                <a16:creationId xmlns:a16="http://schemas.microsoft.com/office/drawing/2014/main" id="{F8BEC478-323C-43F1-D560-D6B365E59613}"/>
              </a:ext>
            </a:extLst>
          </p:cNvPr>
          <p:cNvSpPr/>
          <p:nvPr/>
        </p:nvSpPr>
        <p:spPr>
          <a:xfrm>
            <a:off x="1723906" y="3468648"/>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Establecer que el académico presente evidencias representativas y de mejor calidad, no necesariamente la totalidad de lo realizado.</a:t>
            </a:r>
            <a:endParaRPr lang="en-US" sz="1400" dirty="0"/>
          </a:p>
        </p:txBody>
      </p:sp>
      <p:sp>
        <p:nvSpPr>
          <p:cNvPr id="11" name="Shape 9">
            <a:extLst>
              <a:ext uri="{FF2B5EF4-FFF2-40B4-BE49-F238E27FC236}">
                <a16:creationId xmlns:a16="http://schemas.microsoft.com/office/drawing/2014/main" id="{C7ABB43F-2359-132A-A7C8-24A20707C4C6}"/>
              </a:ext>
            </a:extLst>
          </p:cNvPr>
          <p:cNvSpPr/>
          <p:nvPr/>
        </p:nvSpPr>
        <p:spPr>
          <a:xfrm>
            <a:off x="793790" y="4144685"/>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2" name="Shape 10">
            <a:extLst>
              <a:ext uri="{FF2B5EF4-FFF2-40B4-BE49-F238E27FC236}">
                <a16:creationId xmlns:a16="http://schemas.microsoft.com/office/drawing/2014/main" id="{05FAB097-FC21-7959-BBCC-FA694CCD6058}"/>
              </a:ext>
            </a:extLst>
          </p:cNvPr>
          <p:cNvSpPr/>
          <p:nvPr/>
        </p:nvSpPr>
        <p:spPr>
          <a:xfrm>
            <a:off x="816650" y="4167545"/>
            <a:ext cx="725805" cy="1059656"/>
          </a:xfrm>
          <a:prstGeom prst="rect">
            <a:avLst/>
          </a:prstGeom>
          <a:solidFill>
            <a:srgbClr val="F2EEEE"/>
          </a:solidFill>
          <a:ln/>
        </p:spPr>
        <p:txBody>
          <a:bodyPr/>
          <a:lstStyle/>
          <a:p>
            <a:endParaRPr lang="es-CL"/>
          </a:p>
        </p:txBody>
      </p:sp>
      <p:sp>
        <p:nvSpPr>
          <p:cNvPr id="13" name="Text 11">
            <a:extLst>
              <a:ext uri="{FF2B5EF4-FFF2-40B4-BE49-F238E27FC236}">
                <a16:creationId xmlns:a16="http://schemas.microsoft.com/office/drawing/2014/main" id="{EEB5349A-1730-3FDE-AA84-552C9692C8DF}"/>
              </a:ext>
            </a:extLst>
          </p:cNvPr>
          <p:cNvSpPr/>
          <p:nvPr/>
        </p:nvSpPr>
        <p:spPr>
          <a:xfrm>
            <a:off x="1043464" y="4527233"/>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3</a:t>
            </a:r>
            <a:endParaRPr lang="en-US" sz="2100" dirty="0"/>
          </a:p>
        </p:txBody>
      </p:sp>
      <p:sp>
        <p:nvSpPr>
          <p:cNvPr id="14" name="Text 12">
            <a:extLst>
              <a:ext uri="{FF2B5EF4-FFF2-40B4-BE49-F238E27FC236}">
                <a16:creationId xmlns:a16="http://schemas.microsoft.com/office/drawing/2014/main" id="{1A072119-6D13-C40A-0155-955BC801F1BE}"/>
              </a:ext>
            </a:extLst>
          </p:cNvPr>
          <p:cNvSpPr/>
          <p:nvPr/>
        </p:nvSpPr>
        <p:spPr>
          <a:xfrm>
            <a:off x="1723906" y="4348996"/>
            <a:ext cx="2381607"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Definir responsabilidades y estándares de trabajo de las Comisiones Evaluadoras</a:t>
            </a:r>
            <a:endParaRPr lang="en-US" sz="1850" dirty="0"/>
          </a:p>
        </p:txBody>
      </p:sp>
      <p:sp>
        <p:nvSpPr>
          <p:cNvPr id="15" name="Text 13">
            <a:extLst>
              <a:ext uri="{FF2B5EF4-FFF2-40B4-BE49-F238E27FC236}">
                <a16:creationId xmlns:a16="http://schemas.microsoft.com/office/drawing/2014/main" id="{4535FB04-7439-7975-AA82-26E539E03A5D}"/>
              </a:ext>
            </a:extLst>
          </p:cNvPr>
          <p:cNvSpPr/>
          <p:nvPr/>
        </p:nvSpPr>
        <p:spPr>
          <a:xfrm>
            <a:off x="1723906" y="4755475"/>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Precisar funciones, productos esperados, tiempos, registros y criterios mínimos de fundamentación.</a:t>
            </a:r>
            <a:endParaRPr lang="en-US" sz="1400" dirty="0"/>
          </a:p>
        </p:txBody>
      </p:sp>
      <p:sp>
        <p:nvSpPr>
          <p:cNvPr id="16" name="Shape 14">
            <a:extLst>
              <a:ext uri="{FF2B5EF4-FFF2-40B4-BE49-F238E27FC236}">
                <a16:creationId xmlns:a16="http://schemas.microsoft.com/office/drawing/2014/main" id="{88F2EB48-C7FA-307C-0CCA-95F2B75F53BA}"/>
              </a:ext>
            </a:extLst>
          </p:cNvPr>
          <p:cNvSpPr/>
          <p:nvPr/>
        </p:nvSpPr>
        <p:spPr>
          <a:xfrm>
            <a:off x="793790" y="5431512"/>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7" name="Shape 15">
            <a:extLst>
              <a:ext uri="{FF2B5EF4-FFF2-40B4-BE49-F238E27FC236}">
                <a16:creationId xmlns:a16="http://schemas.microsoft.com/office/drawing/2014/main" id="{F7F4AE8E-D264-A640-ADC1-8B6B700E5A0A}"/>
              </a:ext>
            </a:extLst>
          </p:cNvPr>
          <p:cNvSpPr/>
          <p:nvPr/>
        </p:nvSpPr>
        <p:spPr>
          <a:xfrm>
            <a:off x="816650" y="5454372"/>
            <a:ext cx="725805" cy="1059656"/>
          </a:xfrm>
          <a:prstGeom prst="rect">
            <a:avLst/>
          </a:prstGeom>
          <a:solidFill>
            <a:srgbClr val="F2EEEE"/>
          </a:solidFill>
          <a:ln/>
        </p:spPr>
        <p:txBody>
          <a:bodyPr/>
          <a:lstStyle/>
          <a:p>
            <a:endParaRPr lang="es-CL"/>
          </a:p>
        </p:txBody>
      </p:sp>
      <p:sp>
        <p:nvSpPr>
          <p:cNvPr id="18" name="Text 16">
            <a:extLst>
              <a:ext uri="{FF2B5EF4-FFF2-40B4-BE49-F238E27FC236}">
                <a16:creationId xmlns:a16="http://schemas.microsoft.com/office/drawing/2014/main" id="{36860B7A-3981-D784-3FB1-E34EDA7F3A0B}"/>
              </a:ext>
            </a:extLst>
          </p:cNvPr>
          <p:cNvSpPr/>
          <p:nvPr/>
        </p:nvSpPr>
        <p:spPr>
          <a:xfrm>
            <a:off x="1043464" y="5814060"/>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4</a:t>
            </a:r>
            <a:endParaRPr lang="en-US" sz="2100" dirty="0"/>
          </a:p>
        </p:txBody>
      </p:sp>
      <p:sp>
        <p:nvSpPr>
          <p:cNvPr id="19" name="Text 17">
            <a:extLst>
              <a:ext uri="{FF2B5EF4-FFF2-40B4-BE49-F238E27FC236}">
                <a16:creationId xmlns:a16="http://schemas.microsoft.com/office/drawing/2014/main" id="{070F8F70-31CE-CF87-FB08-8F4A337E29EB}"/>
              </a:ext>
            </a:extLst>
          </p:cNvPr>
          <p:cNvSpPr/>
          <p:nvPr/>
        </p:nvSpPr>
        <p:spPr>
          <a:xfrm>
            <a:off x="1723906" y="5635823"/>
            <a:ext cx="2384108"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Regular conflictos de interés y confidencialidad</a:t>
            </a:r>
            <a:endParaRPr lang="en-US" sz="1850" dirty="0"/>
          </a:p>
        </p:txBody>
      </p:sp>
      <p:sp>
        <p:nvSpPr>
          <p:cNvPr id="20" name="Text 18">
            <a:extLst>
              <a:ext uri="{FF2B5EF4-FFF2-40B4-BE49-F238E27FC236}">
                <a16:creationId xmlns:a16="http://schemas.microsoft.com/office/drawing/2014/main" id="{2585B23E-8DB4-F5B3-486F-BC4DCB6A5A92}"/>
              </a:ext>
            </a:extLst>
          </p:cNvPr>
          <p:cNvSpPr/>
          <p:nvPr/>
        </p:nvSpPr>
        <p:spPr>
          <a:xfrm>
            <a:off x="1723906" y="6042303"/>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Definir principios, procedimientos de declaración y mecanismos de resguardo y sustitución cuando corresponda.</a:t>
            </a:r>
            <a:endParaRPr lang="en-US" sz="1400" dirty="0"/>
          </a:p>
        </p:txBody>
      </p:sp>
      <p:sp>
        <p:nvSpPr>
          <p:cNvPr id="24" name="Rectángulo 23">
            <a:extLst>
              <a:ext uri="{FF2B5EF4-FFF2-40B4-BE49-F238E27FC236}">
                <a16:creationId xmlns:a16="http://schemas.microsoft.com/office/drawing/2014/main" id="{5FECCF93-2D0B-283F-6018-E8515BF0035B}"/>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0" name="Shape 4">
            <a:extLst>
              <a:ext uri="{FF2B5EF4-FFF2-40B4-BE49-F238E27FC236}">
                <a16:creationId xmlns:a16="http://schemas.microsoft.com/office/drawing/2014/main" id="{FD11FE20-6387-DF07-D12E-1BC664A94CCA}"/>
              </a:ext>
            </a:extLst>
          </p:cNvPr>
          <p:cNvSpPr/>
          <p:nvPr/>
        </p:nvSpPr>
        <p:spPr>
          <a:xfrm>
            <a:off x="816650" y="1586746"/>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31" name="Shape 5">
            <a:extLst>
              <a:ext uri="{FF2B5EF4-FFF2-40B4-BE49-F238E27FC236}">
                <a16:creationId xmlns:a16="http://schemas.microsoft.com/office/drawing/2014/main" id="{A40BE7BC-D2D5-6C40-2487-7CD2FC6765BD}"/>
              </a:ext>
            </a:extLst>
          </p:cNvPr>
          <p:cNvSpPr/>
          <p:nvPr/>
        </p:nvSpPr>
        <p:spPr>
          <a:xfrm>
            <a:off x="839510" y="1609606"/>
            <a:ext cx="725805" cy="1059656"/>
          </a:xfrm>
          <a:prstGeom prst="rect">
            <a:avLst/>
          </a:prstGeom>
          <a:solidFill>
            <a:srgbClr val="F2EEEE"/>
          </a:solidFill>
          <a:ln/>
        </p:spPr>
        <p:txBody>
          <a:bodyPr/>
          <a:lstStyle/>
          <a:p>
            <a:endParaRPr lang="es-CL"/>
          </a:p>
        </p:txBody>
      </p:sp>
      <p:sp>
        <p:nvSpPr>
          <p:cNvPr id="32" name="Text 6">
            <a:extLst>
              <a:ext uri="{FF2B5EF4-FFF2-40B4-BE49-F238E27FC236}">
                <a16:creationId xmlns:a16="http://schemas.microsoft.com/office/drawing/2014/main" id="{C7523EDE-2743-0C2C-0840-988D52227A94}"/>
              </a:ext>
            </a:extLst>
          </p:cNvPr>
          <p:cNvSpPr/>
          <p:nvPr/>
        </p:nvSpPr>
        <p:spPr>
          <a:xfrm>
            <a:off x="1066324" y="1969294"/>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1</a:t>
            </a:r>
            <a:endParaRPr lang="en-US" sz="2100" dirty="0"/>
          </a:p>
        </p:txBody>
      </p:sp>
      <p:sp>
        <p:nvSpPr>
          <p:cNvPr id="33" name="Text 7">
            <a:extLst>
              <a:ext uri="{FF2B5EF4-FFF2-40B4-BE49-F238E27FC236}">
                <a16:creationId xmlns:a16="http://schemas.microsoft.com/office/drawing/2014/main" id="{A9648804-D99D-1186-8AA5-18E844C4066C}"/>
              </a:ext>
            </a:extLst>
          </p:cNvPr>
          <p:cNvSpPr/>
          <p:nvPr/>
        </p:nvSpPr>
        <p:spPr>
          <a:xfrm>
            <a:off x="1746766" y="1791057"/>
            <a:ext cx="2950131"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Fortalecer la dinámica de los convenios de desempeño al inicio del período</a:t>
            </a:r>
            <a:endParaRPr lang="en-US" sz="1850" dirty="0"/>
          </a:p>
        </p:txBody>
      </p:sp>
      <p:sp>
        <p:nvSpPr>
          <p:cNvPr id="34" name="Text 8">
            <a:extLst>
              <a:ext uri="{FF2B5EF4-FFF2-40B4-BE49-F238E27FC236}">
                <a16:creationId xmlns:a16="http://schemas.microsoft.com/office/drawing/2014/main" id="{71B58373-03D8-88C7-F63A-0A14C7B1AAA7}"/>
              </a:ext>
            </a:extLst>
          </p:cNvPr>
          <p:cNvSpPr/>
          <p:nvPr/>
        </p:nvSpPr>
        <p:spPr>
          <a:xfrm>
            <a:off x="1746766" y="2197537"/>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Diseñar un mecanismo que facilite el proceso de acuerdos, criterios y expectativas desde el comienzo, asegurando trazabilidad durante el ciclo.</a:t>
            </a:r>
            <a:endParaRPr lang="en-US" sz="1400" dirty="0"/>
          </a:p>
        </p:txBody>
      </p:sp>
      <p:sp>
        <p:nvSpPr>
          <p:cNvPr id="35" name="Shape 14">
            <a:extLst>
              <a:ext uri="{FF2B5EF4-FFF2-40B4-BE49-F238E27FC236}">
                <a16:creationId xmlns:a16="http://schemas.microsoft.com/office/drawing/2014/main" id="{E6F12FD0-3607-2B13-CDEE-F352141C93C6}"/>
              </a:ext>
            </a:extLst>
          </p:cNvPr>
          <p:cNvSpPr/>
          <p:nvPr/>
        </p:nvSpPr>
        <p:spPr>
          <a:xfrm>
            <a:off x="816650" y="6730429"/>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36" name="Shape 15">
            <a:extLst>
              <a:ext uri="{FF2B5EF4-FFF2-40B4-BE49-F238E27FC236}">
                <a16:creationId xmlns:a16="http://schemas.microsoft.com/office/drawing/2014/main" id="{CDC6E54E-C741-F0BB-1A27-4EB5C1684016}"/>
              </a:ext>
            </a:extLst>
          </p:cNvPr>
          <p:cNvSpPr/>
          <p:nvPr/>
        </p:nvSpPr>
        <p:spPr>
          <a:xfrm>
            <a:off x="839510" y="6753289"/>
            <a:ext cx="725805" cy="1059656"/>
          </a:xfrm>
          <a:prstGeom prst="rect">
            <a:avLst/>
          </a:prstGeom>
          <a:solidFill>
            <a:srgbClr val="F2EEEE"/>
          </a:solidFill>
          <a:ln/>
        </p:spPr>
        <p:txBody>
          <a:bodyPr/>
          <a:lstStyle/>
          <a:p>
            <a:endParaRPr lang="es-CL"/>
          </a:p>
        </p:txBody>
      </p:sp>
      <p:sp>
        <p:nvSpPr>
          <p:cNvPr id="37" name="Text 16">
            <a:extLst>
              <a:ext uri="{FF2B5EF4-FFF2-40B4-BE49-F238E27FC236}">
                <a16:creationId xmlns:a16="http://schemas.microsoft.com/office/drawing/2014/main" id="{63166E8A-F725-DFE2-1941-08292DFB611A}"/>
              </a:ext>
            </a:extLst>
          </p:cNvPr>
          <p:cNvSpPr/>
          <p:nvPr/>
        </p:nvSpPr>
        <p:spPr>
          <a:xfrm>
            <a:off x="1066324" y="7112977"/>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5</a:t>
            </a:r>
            <a:endParaRPr lang="en-US" sz="2100" dirty="0"/>
          </a:p>
        </p:txBody>
      </p:sp>
      <p:sp>
        <p:nvSpPr>
          <p:cNvPr id="38" name="Text 17">
            <a:extLst>
              <a:ext uri="{FF2B5EF4-FFF2-40B4-BE49-F238E27FC236}">
                <a16:creationId xmlns:a16="http://schemas.microsoft.com/office/drawing/2014/main" id="{84D7F0C5-8454-338E-E9A5-68749F562CDE}"/>
              </a:ext>
            </a:extLst>
          </p:cNvPr>
          <p:cNvSpPr/>
          <p:nvPr/>
        </p:nvSpPr>
        <p:spPr>
          <a:xfrm>
            <a:off x="1746766" y="6934740"/>
            <a:ext cx="2384108"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Diseño detallado del proceso evaluativo de las Comisiones</a:t>
            </a:r>
            <a:endParaRPr lang="en-US" sz="1850" dirty="0"/>
          </a:p>
        </p:txBody>
      </p:sp>
      <p:sp>
        <p:nvSpPr>
          <p:cNvPr id="39" name="Text 18">
            <a:extLst>
              <a:ext uri="{FF2B5EF4-FFF2-40B4-BE49-F238E27FC236}">
                <a16:creationId xmlns:a16="http://schemas.microsoft.com/office/drawing/2014/main" id="{7F9E40B3-92E8-2098-6F53-A3455DF07308}"/>
              </a:ext>
            </a:extLst>
          </p:cNvPr>
          <p:cNvSpPr/>
          <p:nvPr/>
        </p:nvSpPr>
        <p:spPr>
          <a:xfrm>
            <a:off x="1746766" y="7221736"/>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Incorporar etapas preliminares, instancias de calibración y criterios para asegurar consistencia </a:t>
            </a:r>
            <a:r>
              <a:rPr lang="es-ES" sz="1400" dirty="0" err="1">
                <a:solidFill>
                  <a:srgbClr val="383838"/>
                </a:solidFill>
                <a:latin typeface="DM Sans" pitchFamily="34" charset="0"/>
                <a:ea typeface="DM Sans" pitchFamily="34" charset="-122"/>
                <a:cs typeface="DM Sans" pitchFamily="34" charset="-120"/>
              </a:rPr>
              <a:t>interevaluador</a:t>
            </a:r>
            <a:r>
              <a:rPr lang="es-ES" sz="1400" dirty="0">
                <a:solidFill>
                  <a:srgbClr val="383838"/>
                </a:solidFill>
                <a:latin typeface="DM Sans" pitchFamily="34" charset="0"/>
                <a:ea typeface="DM Sans" pitchFamily="34" charset="-122"/>
                <a:cs typeface="DM Sans" pitchFamily="34" charset="-120"/>
              </a:rPr>
              <a:t>.</a:t>
            </a:r>
            <a:endParaRPr lang="en-US" sz="1400" dirty="0"/>
          </a:p>
        </p:txBody>
      </p:sp>
    </p:spTree>
    <p:extLst>
      <p:ext uri="{BB962C8B-B14F-4D97-AF65-F5344CB8AC3E}">
        <p14:creationId xmlns:p14="http://schemas.microsoft.com/office/powerpoint/2010/main" val="3454319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48F4C-3CA2-3195-9243-6C12A84769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E82A646-2BC3-8138-8972-88EF1734888E}"/>
              </a:ext>
            </a:extLst>
          </p:cNvPr>
          <p:cNvSpPr/>
          <p:nvPr/>
        </p:nvSpPr>
        <p:spPr>
          <a:xfrm>
            <a:off x="793790" y="717590"/>
            <a:ext cx="6720915" cy="595432"/>
          </a:xfrm>
          <a:prstGeom prst="rect">
            <a:avLst/>
          </a:prstGeom>
          <a:noFill/>
          <a:ln/>
        </p:spPr>
        <p:txBody>
          <a:bodyPr wrap="none" lIns="0" tIns="0" rIns="0" bIns="0" rtlCol="0" anchor="t"/>
          <a:lstStyle/>
          <a:p>
            <a:pPr marL="0" indent="0" algn="l">
              <a:lnSpc>
                <a:spcPts val="4650"/>
              </a:lnSpc>
              <a:buNone/>
            </a:pPr>
            <a:r>
              <a:rPr lang="es-ES" sz="3750" dirty="0">
                <a:solidFill>
                  <a:srgbClr val="020202"/>
                </a:solidFill>
                <a:latin typeface="PT Serif" pitchFamily="34" charset="0"/>
                <a:ea typeface="PT Serif" pitchFamily="34" charset="-122"/>
                <a:cs typeface="PT Serif" pitchFamily="34" charset="-120"/>
              </a:rPr>
              <a:t>Próximos pasos – hoja de ruta</a:t>
            </a:r>
            <a:endParaRPr lang="en-US" sz="3750" dirty="0"/>
          </a:p>
        </p:txBody>
      </p:sp>
      <p:sp>
        <p:nvSpPr>
          <p:cNvPr id="6" name="Shape 4">
            <a:extLst>
              <a:ext uri="{FF2B5EF4-FFF2-40B4-BE49-F238E27FC236}">
                <a16:creationId xmlns:a16="http://schemas.microsoft.com/office/drawing/2014/main" id="{121BF4A4-C8D9-045B-5B90-23D50D8FFEE5}"/>
              </a:ext>
            </a:extLst>
          </p:cNvPr>
          <p:cNvSpPr/>
          <p:nvPr/>
        </p:nvSpPr>
        <p:spPr>
          <a:xfrm>
            <a:off x="793790" y="2857857"/>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7" name="Shape 5">
            <a:extLst>
              <a:ext uri="{FF2B5EF4-FFF2-40B4-BE49-F238E27FC236}">
                <a16:creationId xmlns:a16="http://schemas.microsoft.com/office/drawing/2014/main" id="{C91FD9FC-46B1-EE7F-898B-90D883B4C9C8}"/>
              </a:ext>
            </a:extLst>
          </p:cNvPr>
          <p:cNvSpPr/>
          <p:nvPr/>
        </p:nvSpPr>
        <p:spPr>
          <a:xfrm>
            <a:off x="816650" y="2880717"/>
            <a:ext cx="725805" cy="1059656"/>
          </a:xfrm>
          <a:prstGeom prst="rect">
            <a:avLst/>
          </a:prstGeom>
          <a:solidFill>
            <a:srgbClr val="F2EEEE"/>
          </a:solidFill>
          <a:ln/>
        </p:spPr>
        <p:txBody>
          <a:bodyPr/>
          <a:lstStyle/>
          <a:p>
            <a:endParaRPr lang="es-CL"/>
          </a:p>
        </p:txBody>
      </p:sp>
      <p:sp>
        <p:nvSpPr>
          <p:cNvPr id="8" name="Text 6">
            <a:extLst>
              <a:ext uri="{FF2B5EF4-FFF2-40B4-BE49-F238E27FC236}">
                <a16:creationId xmlns:a16="http://schemas.microsoft.com/office/drawing/2014/main" id="{58F6E516-EE01-E9FA-E90C-57AE76558973}"/>
              </a:ext>
            </a:extLst>
          </p:cNvPr>
          <p:cNvSpPr/>
          <p:nvPr/>
        </p:nvSpPr>
        <p:spPr>
          <a:xfrm>
            <a:off x="1043464" y="3240405"/>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2</a:t>
            </a:r>
            <a:endParaRPr lang="en-US" sz="2100" dirty="0"/>
          </a:p>
        </p:txBody>
      </p:sp>
      <p:sp>
        <p:nvSpPr>
          <p:cNvPr id="9" name="Text 7">
            <a:extLst>
              <a:ext uri="{FF2B5EF4-FFF2-40B4-BE49-F238E27FC236}">
                <a16:creationId xmlns:a16="http://schemas.microsoft.com/office/drawing/2014/main" id="{9426FBF0-AEE9-EB88-6F1C-937876270C63}"/>
              </a:ext>
            </a:extLst>
          </p:cNvPr>
          <p:cNvSpPr/>
          <p:nvPr/>
        </p:nvSpPr>
        <p:spPr>
          <a:xfrm>
            <a:off x="1723906" y="3062168"/>
            <a:ext cx="2950131"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Continuidad en el proceso de levantamiento de información con actores clave</a:t>
            </a:r>
            <a:endParaRPr lang="en-US" sz="1850" dirty="0"/>
          </a:p>
        </p:txBody>
      </p:sp>
      <p:sp>
        <p:nvSpPr>
          <p:cNvPr id="10" name="Text 8">
            <a:extLst>
              <a:ext uri="{FF2B5EF4-FFF2-40B4-BE49-F238E27FC236}">
                <a16:creationId xmlns:a16="http://schemas.microsoft.com/office/drawing/2014/main" id="{0667D224-240D-A46A-53B3-B5095913B8D4}"/>
              </a:ext>
            </a:extLst>
          </p:cNvPr>
          <p:cNvSpPr/>
          <p:nvPr/>
        </p:nvSpPr>
        <p:spPr>
          <a:xfrm>
            <a:off x="1723906" y="3468648"/>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Realización de nuevas jornadas de diálogo y entrevistas académicas para profundizar y complementar los insumos.</a:t>
            </a:r>
            <a:endParaRPr lang="en-US" sz="1400" dirty="0"/>
          </a:p>
        </p:txBody>
      </p:sp>
      <p:sp>
        <p:nvSpPr>
          <p:cNvPr id="11" name="Shape 9">
            <a:extLst>
              <a:ext uri="{FF2B5EF4-FFF2-40B4-BE49-F238E27FC236}">
                <a16:creationId xmlns:a16="http://schemas.microsoft.com/office/drawing/2014/main" id="{44B772D7-9F46-5AFD-20F2-14E30D79FAC2}"/>
              </a:ext>
            </a:extLst>
          </p:cNvPr>
          <p:cNvSpPr/>
          <p:nvPr/>
        </p:nvSpPr>
        <p:spPr>
          <a:xfrm>
            <a:off x="793790" y="4144685"/>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2" name="Shape 10">
            <a:extLst>
              <a:ext uri="{FF2B5EF4-FFF2-40B4-BE49-F238E27FC236}">
                <a16:creationId xmlns:a16="http://schemas.microsoft.com/office/drawing/2014/main" id="{3053A610-0834-666F-9491-34778FE0380F}"/>
              </a:ext>
            </a:extLst>
          </p:cNvPr>
          <p:cNvSpPr/>
          <p:nvPr/>
        </p:nvSpPr>
        <p:spPr>
          <a:xfrm>
            <a:off x="816650" y="4167545"/>
            <a:ext cx="725805" cy="1059656"/>
          </a:xfrm>
          <a:prstGeom prst="rect">
            <a:avLst/>
          </a:prstGeom>
          <a:solidFill>
            <a:srgbClr val="F2EEEE"/>
          </a:solidFill>
          <a:ln/>
        </p:spPr>
        <p:txBody>
          <a:bodyPr/>
          <a:lstStyle/>
          <a:p>
            <a:endParaRPr lang="es-CL"/>
          </a:p>
        </p:txBody>
      </p:sp>
      <p:sp>
        <p:nvSpPr>
          <p:cNvPr id="13" name="Text 11">
            <a:extLst>
              <a:ext uri="{FF2B5EF4-FFF2-40B4-BE49-F238E27FC236}">
                <a16:creationId xmlns:a16="http://schemas.microsoft.com/office/drawing/2014/main" id="{81E07B24-9266-62EA-73A4-46582D82824C}"/>
              </a:ext>
            </a:extLst>
          </p:cNvPr>
          <p:cNvSpPr/>
          <p:nvPr/>
        </p:nvSpPr>
        <p:spPr>
          <a:xfrm>
            <a:off x="1043464" y="4527233"/>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3</a:t>
            </a:r>
            <a:endParaRPr lang="en-US" sz="2100" dirty="0"/>
          </a:p>
        </p:txBody>
      </p:sp>
      <p:sp>
        <p:nvSpPr>
          <p:cNvPr id="14" name="Text 12">
            <a:extLst>
              <a:ext uri="{FF2B5EF4-FFF2-40B4-BE49-F238E27FC236}">
                <a16:creationId xmlns:a16="http://schemas.microsoft.com/office/drawing/2014/main" id="{5F39A8EC-84E4-A154-384B-C4111B3ADE07}"/>
              </a:ext>
            </a:extLst>
          </p:cNvPr>
          <p:cNvSpPr/>
          <p:nvPr/>
        </p:nvSpPr>
        <p:spPr>
          <a:xfrm>
            <a:off x="1723906" y="4348996"/>
            <a:ext cx="2381607"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Ajuste técnico de la propuesta</a:t>
            </a:r>
            <a:endParaRPr lang="en-US" sz="1850" dirty="0"/>
          </a:p>
        </p:txBody>
      </p:sp>
      <p:sp>
        <p:nvSpPr>
          <p:cNvPr id="15" name="Text 13">
            <a:extLst>
              <a:ext uri="{FF2B5EF4-FFF2-40B4-BE49-F238E27FC236}">
                <a16:creationId xmlns:a16="http://schemas.microsoft.com/office/drawing/2014/main" id="{1C5CB86D-4842-F3A3-B477-D3BDE30780AB}"/>
              </a:ext>
            </a:extLst>
          </p:cNvPr>
          <p:cNvSpPr/>
          <p:nvPr/>
        </p:nvSpPr>
        <p:spPr>
          <a:xfrm>
            <a:off x="1723906" y="4755475"/>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Revisión de criterios, lenguaje y componentes operativos a partir de lo recogido.</a:t>
            </a:r>
            <a:endParaRPr lang="en-US" sz="1400" dirty="0"/>
          </a:p>
        </p:txBody>
      </p:sp>
      <p:sp>
        <p:nvSpPr>
          <p:cNvPr id="16" name="Shape 14">
            <a:extLst>
              <a:ext uri="{FF2B5EF4-FFF2-40B4-BE49-F238E27FC236}">
                <a16:creationId xmlns:a16="http://schemas.microsoft.com/office/drawing/2014/main" id="{FBD4EE12-139E-CDAC-7D03-837348945CE4}"/>
              </a:ext>
            </a:extLst>
          </p:cNvPr>
          <p:cNvSpPr/>
          <p:nvPr/>
        </p:nvSpPr>
        <p:spPr>
          <a:xfrm>
            <a:off x="793790" y="5431512"/>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17" name="Shape 15">
            <a:extLst>
              <a:ext uri="{FF2B5EF4-FFF2-40B4-BE49-F238E27FC236}">
                <a16:creationId xmlns:a16="http://schemas.microsoft.com/office/drawing/2014/main" id="{ED2E8D22-0439-BAC5-B057-5617F3CB0B0C}"/>
              </a:ext>
            </a:extLst>
          </p:cNvPr>
          <p:cNvSpPr/>
          <p:nvPr/>
        </p:nvSpPr>
        <p:spPr>
          <a:xfrm>
            <a:off x="816650" y="5454372"/>
            <a:ext cx="725805" cy="1059656"/>
          </a:xfrm>
          <a:prstGeom prst="rect">
            <a:avLst/>
          </a:prstGeom>
          <a:solidFill>
            <a:srgbClr val="F2EEEE"/>
          </a:solidFill>
          <a:ln/>
        </p:spPr>
        <p:txBody>
          <a:bodyPr/>
          <a:lstStyle/>
          <a:p>
            <a:endParaRPr lang="es-CL"/>
          </a:p>
        </p:txBody>
      </p:sp>
      <p:sp>
        <p:nvSpPr>
          <p:cNvPr id="18" name="Text 16">
            <a:extLst>
              <a:ext uri="{FF2B5EF4-FFF2-40B4-BE49-F238E27FC236}">
                <a16:creationId xmlns:a16="http://schemas.microsoft.com/office/drawing/2014/main" id="{E4A30BA9-A649-8201-A4B3-E816BE3E3046}"/>
              </a:ext>
            </a:extLst>
          </p:cNvPr>
          <p:cNvSpPr/>
          <p:nvPr/>
        </p:nvSpPr>
        <p:spPr>
          <a:xfrm>
            <a:off x="1043464" y="5814060"/>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4</a:t>
            </a:r>
            <a:endParaRPr lang="en-US" sz="2100" dirty="0"/>
          </a:p>
        </p:txBody>
      </p:sp>
      <p:sp>
        <p:nvSpPr>
          <p:cNvPr id="19" name="Text 17">
            <a:extLst>
              <a:ext uri="{FF2B5EF4-FFF2-40B4-BE49-F238E27FC236}">
                <a16:creationId xmlns:a16="http://schemas.microsoft.com/office/drawing/2014/main" id="{B0A03786-497E-FCB4-D16F-782B167EAB76}"/>
              </a:ext>
            </a:extLst>
          </p:cNvPr>
          <p:cNvSpPr/>
          <p:nvPr/>
        </p:nvSpPr>
        <p:spPr>
          <a:xfrm>
            <a:off x="1723906" y="5635823"/>
            <a:ext cx="2384108"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Elaboración de una versión consolidada</a:t>
            </a:r>
            <a:endParaRPr lang="en-US" sz="1850" dirty="0"/>
          </a:p>
        </p:txBody>
      </p:sp>
      <p:sp>
        <p:nvSpPr>
          <p:cNvPr id="20" name="Text 18">
            <a:extLst>
              <a:ext uri="{FF2B5EF4-FFF2-40B4-BE49-F238E27FC236}">
                <a16:creationId xmlns:a16="http://schemas.microsoft.com/office/drawing/2014/main" id="{AE98C71C-BF56-D398-B324-18DAE1ACDC63}"/>
              </a:ext>
            </a:extLst>
          </p:cNvPr>
          <p:cNvSpPr/>
          <p:nvPr/>
        </p:nvSpPr>
        <p:spPr>
          <a:xfrm>
            <a:off x="1723906" y="6042303"/>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Preparación de una propuesta ajustada para su socialización formal.</a:t>
            </a:r>
          </a:p>
          <a:p>
            <a:pPr marL="0" indent="0" algn="l">
              <a:lnSpc>
                <a:spcPts val="2250"/>
              </a:lnSpc>
              <a:buNone/>
            </a:pPr>
            <a:endParaRPr lang="en-US" sz="1400" dirty="0"/>
          </a:p>
        </p:txBody>
      </p:sp>
      <p:sp>
        <p:nvSpPr>
          <p:cNvPr id="24" name="Rectángulo 23">
            <a:extLst>
              <a:ext uri="{FF2B5EF4-FFF2-40B4-BE49-F238E27FC236}">
                <a16:creationId xmlns:a16="http://schemas.microsoft.com/office/drawing/2014/main" id="{20FCA462-CB1E-74C2-932A-A841F7D1D53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0" name="Shape 4">
            <a:extLst>
              <a:ext uri="{FF2B5EF4-FFF2-40B4-BE49-F238E27FC236}">
                <a16:creationId xmlns:a16="http://schemas.microsoft.com/office/drawing/2014/main" id="{0EA7864F-C4FC-09F0-5B22-0EA2969AE305}"/>
              </a:ext>
            </a:extLst>
          </p:cNvPr>
          <p:cNvSpPr/>
          <p:nvPr/>
        </p:nvSpPr>
        <p:spPr>
          <a:xfrm>
            <a:off x="816650" y="1586746"/>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31" name="Shape 5">
            <a:extLst>
              <a:ext uri="{FF2B5EF4-FFF2-40B4-BE49-F238E27FC236}">
                <a16:creationId xmlns:a16="http://schemas.microsoft.com/office/drawing/2014/main" id="{6B699AB7-E098-C972-46C1-841A89FBB667}"/>
              </a:ext>
            </a:extLst>
          </p:cNvPr>
          <p:cNvSpPr/>
          <p:nvPr/>
        </p:nvSpPr>
        <p:spPr>
          <a:xfrm>
            <a:off x="839510" y="1609606"/>
            <a:ext cx="725805" cy="1059656"/>
          </a:xfrm>
          <a:prstGeom prst="rect">
            <a:avLst/>
          </a:prstGeom>
          <a:solidFill>
            <a:srgbClr val="F2EEEE"/>
          </a:solidFill>
          <a:ln/>
        </p:spPr>
        <p:txBody>
          <a:bodyPr/>
          <a:lstStyle/>
          <a:p>
            <a:endParaRPr lang="es-CL"/>
          </a:p>
        </p:txBody>
      </p:sp>
      <p:sp>
        <p:nvSpPr>
          <p:cNvPr id="32" name="Text 6">
            <a:extLst>
              <a:ext uri="{FF2B5EF4-FFF2-40B4-BE49-F238E27FC236}">
                <a16:creationId xmlns:a16="http://schemas.microsoft.com/office/drawing/2014/main" id="{5FDBEAA7-CE5D-599E-CB12-840015191A82}"/>
              </a:ext>
            </a:extLst>
          </p:cNvPr>
          <p:cNvSpPr/>
          <p:nvPr/>
        </p:nvSpPr>
        <p:spPr>
          <a:xfrm>
            <a:off x="1066324" y="1969294"/>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ea typeface="PT Serif" pitchFamily="34" charset="-122"/>
                <a:cs typeface="PT Serif" pitchFamily="34" charset="-120"/>
              </a:rPr>
              <a:t>1</a:t>
            </a:r>
            <a:endParaRPr lang="en-US" sz="2100" dirty="0"/>
          </a:p>
        </p:txBody>
      </p:sp>
      <p:sp>
        <p:nvSpPr>
          <p:cNvPr id="33" name="Text 7">
            <a:extLst>
              <a:ext uri="{FF2B5EF4-FFF2-40B4-BE49-F238E27FC236}">
                <a16:creationId xmlns:a16="http://schemas.microsoft.com/office/drawing/2014/main" id="{ED973909-1572-5BDE-54D2-C6C5FC694943}"/>
              </a:ext>
            </a:extLst>
          </p:cNvPr>
          <p:cNvSpPr/>
          <p:nvPr/>
        </p:nvSpPr>
        <p:spPr>
          <a:xfrm>
            <a:off x="1746766" y="1791057"/>
            <a:ext cx="2950131"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ea typeface="PT Serif" pitchFamily="34" charset="-122"/>
                <a:cs typeface="PT Serif" pitchFamily="34" charset="-120"/>
              </a:rPr>
              <a:t>Sistematización de insumos</a:t>
            </a:r>
            <a:endParaRPr lang="en-US" sz="1850" dirty="0"/>
          </a:p>
        </p:txBody>
      </p:sp>
      <p:sp>
        <p:nvSpPr>
          <p:cNvPr id="34" name="Text 8">
            <a:extLst>
              <a:ext uri="{FF2B5EF4-FFF2-40B4-BE49-F238E27FC236}">
                <a16:creationId xmlns:a16="http://schemas.microsoft.com/office/drawing/2014/main" id="{997640E6-32A0-9696-C2C2-5196355BE660}"/>
              </a:ext>
            </a:extLst>
          </p:cNvPr>
          <p:cNvSpPr/>
          <p:nvPr/>
        </p:nvSpPr>
        <p:spPr>
          <a:xfrm>
            <a:off x="1746766" y="2197537"/>
            <a:ext cx="11908393" cy="290274"/>
          </a:xfrm>
          <a:prstGeom prst="rect">
            <a:avLst/>
          </a:prstGeom>
          <a:noFill/>
          <a:ln/>
        </p:spPr>
        <p:txBody>
          <a:bodyPr wrap="none" lIns="0" tIns="0" rIns="0" bIns="0" rtlCol="0" anchor="t"/>
          <a:lstStyle/>
          <a:p>
            <a:pPr marL="0" indent="0" algn="l">
              <a:lnSpc>
                <a:spcPts val="2250"/>
              </a:lnSpc>
              <a:buNone/>
            </a:pPr>
            <a:r>
              <a:rPr lang="es-ES" sz="1400" dirty="0">
                <a:solidFill>
                  <a:srgbClr val="383838"/>
                </a:solidFill>
                <a:latin typeface="DM Sans" pitchFamily="34" charset="0"/>
                <a:ea typeface="DM Sans" pitchFamily="34" charset="-122"/>
                <a:cs typeface="DM Sans" pitchFamily="34" charset="-120"/>
              </a:rPr>
              <a:t>Análisis de percepciones, observaciones y alertas levantadas durante la jornada.</a:t>
            </a:r>
            <a:endParaRPr lang="en-US" sz="1400" dirty="0"/>
          </a:p>
        </p:txBody>
      </p:sp>
      <p:sp>
        <p:nvSpPr>
          <p:cNvPr id="35" name="Shape 14">
            <a:extLst>
              <a:ext uri="{FF2B5EF4-FFF2-40B4-BE49-F238E27FC236}">
                <a16:creationId xmlns:a16="http://schemas.microsoft.com/office/drawing/2014/main" id="{F049C6E1-1E45-973B-55C1-01AA4421A09C}"/>
              </a:ext>
            </a:extLst>
          </p:cNvPr>
          <p:cNvSpPr/>
          <p:nvPr/>
        </p:nvSpPr>
        <p:spPr>
          <a:xfrm>
            <a:off x="816650" y="6730429"/>
            <a:ext cx="13042821" cy="1105376"/>
          </a:xfrm>
          <a:prstGeom prst="roundRect">
            <a:avLst>
              <a:gd name="adj" fmla="val 2462"/>
            </a:avLst>
          </a:prstGeom>
          <a:solidFill>
            <a:srgbClr val="FFFFFF"/>
          </a:solidFill>
          <a:ln w="22860">
            <a:solidFill>
              <a:srgbClr val="D8D4D4"/>
            </a:solidFill>
            <a:prstDash val="solid"/>
          </a:ln>
        </p:spPr>
        <p:txBody>
          <a:bodyPr/>
          <a:lstStyle/>
          <a:p>
            <a:endParaRPr lang="es-CL"/>
          </a:p>
        </p:txBody>
      </p:sp>
      <p:sp>
        <p:nvSpPr>
          <p:cNvPr id="36" name="Shape 15">
            <a:extLst>
              <a:ext uri="{FF2B5EF4-FFF2-40B4-BE49-F238E27FC236}">
                <a16:creationId xmlns:a16="http://schemas.microsoft.com/office/drawing/2014/main" id="{2BE62C87-2EF2-F110-E0F7-A4802F7C3881}"/>
              </a:ext>
            </a:extLst>
          </p:cNvPr>
          <p:cNvSpPr/>
          <p:nvPr/>
        </p:nvSpPr>
        <p:spPr>
          <a:xfrm>
            <a:off x="839510" y="6753289"/>
            <a:ext cx="725805" cy="1059656"/>
          </a:xfrm>
          <a:prstGeom prst="rect">
            <a:avLst/>
          </a:prstGeom>
          <a:solidFill>
            <a:srgbClr val="F2EEEE"/>
          </a:solidFill>
          <a:ln/>
        </p:spPr>
        <p:txBody>
          <a:bodyPr/>
          <a:lstStyle/>
          <a:p>
            <a:endParaRPr lang="es-CL"/>
          </a:p>
        </p:txBody>
      </p:sp>
      <p:sp>
        <p:nvSpPr>
          <p:cNvPr id="37" name="Text 16">
            <a:extLst>
              <a:ext uri="{FF2B5EF4-FFF2-40B4-BE49-F238E27FC236}">
                <a16:creationId xmlns:a16="http://schemas.microsoft.com/office/drawing/2014/main" id="{982E0B8D-6BAD-8896-0C9D-43419FAF034E}"/>
              </a:ext>
            </a:extLst>
          </p:cNvPr>
          <p:cNvSpPr/>
          <p:nvPr/>
        </p:nvSpPr>
        <p:spPr>
          <a:xfrm>
            <a:off x="1066324" y="7112977"/>
            <a:ext cx="272177" cy="340162"/>
          </a:xfrm>
          <a:prstGeom prst="rect">
            <a:avLst/>
          </a:prstGeom>
          <a:noFill/>
          <a:ln/>
        </p:spPr>
        <p:txBody>
          <a:bodyPr wrap="none" lIns="0" tIns="0" rIns="0" bIns="0" rtlCol="0" anchor="t"/>
          <a:lstStyle/>
          <a:p>
            <a:pPr marL="0" indent="0" algn="l">
              <a:lnSpc>
                <a:spcPts val="2100"/>
              </a:lnSpc>
              <a:buNone/>
            </a:pPr>
            <a:r>
              <a:rPr lang="en-US" sz="2100" dirty="0">
                <a:solidFill>
                  <a:srgbClr val="383838"/>
                </a:solidFill>
                <a:latin typeface="PT Serif" pitchFamily="34" charset="0"/>
              </a:rPr>
              <a:t>5</a:t>
            </a:r>
            <a:endParaRPr lang="en-US" sz="2100" dirty="0"/>
          </a:p>
        </p:txBody>
      </p:sp>
      <p:sp>
        <p:nvSpPr>
          <p:cNvPr id="38" name="Text 17">
            <a:extLst>
              <a:ext uri="{FF2B5EF4-FFF2-40B4-BE49-F238E27FC236}">
                <a16:creationId xmlns:a16="http://schemas.microsoft.com/office/drawing/2014/main" id="{0B998DC5-6577-BE0C-311D-B4FCEB6861E9}"/>
              </a:ext>
            </a:extLst>
          </p:cNvPr>
          <p:cNvSpPr/>
          <p:nvPr/>
        </p:nvSpPr>
        <p:spPr>
          <a:xfrm>
            <a:off x="1746766" y="6934740"/>
            <a:ext cx="2384108" cy="297656"/>
          </a:xfrm>
          <a:prstGeom prst="rect">
            <a:avLst/>
          </a:prstGeom>
          <a:noFill/>
          <a:ln/>
        </p:spPr>
        <p:txBody>
          <a:bodyPr wrap="none" lIns="0" tIns="0" rIns="0" bIns="0" rtlCol="0" anchor="t"/>
          <a:lstStyle/>
          <a:p>
            <a:pPr marL="0" indent="0" algn="l">
              <a:lnSpc>
                <a:spcPts val="2300"/>
              </a:lnSpc>
              <a:buNone/>
            </a:pPr>
            <a:r>
              <a:rPr lang="es-ES" sz="1850" dirty="0">
                <a:solidFill>
                  <a:srgbClr val="383838"/>
                </a:solidFill>
                <a:latin typeface="PT Serif" pitchFamily="34" charset="0"/>
              </a:rPr>
              <a:t>Recoger evidencias de validez de contenido</a:t>
            </a:r>
            <a:endParaRPr lang="en-US" sz="1850" dirty="0"/>
          </a:p>
        </p:txBody>
      </p:sp>
      <p:sp>
        <p:nvSpPr>
          <p:cNvPr id="39" name="Text 18">
            <a:extLst>
              <a:ext uri="{FF2B5EF4-FFF2-40B4-BE49-F238E27FC236}">
                <a16:creationId xmlns:a16="http://schemas.microsoft.com/office/drawing/2014/main" id="{D6854D4F-B389-5502-4F09-CA986D884397}"/>
              </a:ext>
            </a:extLst>
          </p:cNvPr>
          <p:cNvSpPr/>
          <p:nvPr/>
        </p:nvSpPr>
        <p:spPr>
          <a:xfrm>
            <a:off x="1746766" y="7221736"/>
            <a:ext cx="11908393" cy="290274"/>
          </a:xfrm>
          <a:prstGeom prst="rect">
            <a:avLst/>
          </a:prstGeom>
          <a:noFill/>
          <a:ln/>
        </p:spPr>
        <p:txBody>
          <a:bodyPr wrap="none" lIns="0" tIns="0" rIns="0" bIns="0" rtlCol="0" anchor="t"/>
          <a:lstStyle/>
          <a:p>
            <a:pPr>
              <a:lnSpc>
                <a:spcPts val="2250"/>
              </a:lnSpc>
            </a:pPr>
            <a:r>
              <a:rPr lang="es-ES" sz="1400" dirty="0">
                <a:solidFill>
                  <a:srgbClr val="383838"/>
                </a:solidFill>
                <a:latin typeface="DM Sans" pitchFamily="34" charset="0"/>
                <a:ea typeface="DM Sans" pitchFamily="34" charset="-122"/>
                <a:cs typeface="DM Sans" pitchFamily="34" charset="-120"/>
              </a:rPr>
              <a:t>Desarrollar iteraciones a través de juicio de expertos y ajustes del modelo.</a:t>
            </a:r>
            <a:endParaRPr lang="en-US" sz="1400" dirty="0"/>
          </a:p>
        </p:txBody>
      </p:sp>
    </p:spTree>
    <p:extLst>
      <p:ext uri="{BB962C8B-B14F-4D97-AF65-F5344CB8AC3E}">
        <p14:creationId xmlns:p14="http://schemas.microsoft.com/office/powerpoint/2010/main" val="3123797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4ECEAE5-2E13-25A5-6E74-6D50D0004F26}"/>
              </a:ext>
            </a:extLst>
          </p:cNvPr>
          <p:cNvSpPr txBox="1"/>
          <p:nvPr/>
        </p:nvSpPr>
        <p:spPr>
          <a:xfrm>
            <a:off x="1130530" y="1337530"/>
            <a:ext cx="12651971" cy="6186309"/>
          </a:xfrm>
          <a:prstGeom prst="rect">
            <a:avLst/>
          </a:prstGeom>
          <a:noFill/>
        </p:spPr>
        <p:txBody>
          <a:bodyPr wrap="square">
            <a:spAutoFit/>
          </a:bodyPr>
          <a:lstStyle/>
          <a:p>
            <a:pPr>
              <a:buNone/>
            </a:pPr>
            <a:r>
              <a:rPr lang="es-ES" b="1" dirty="0"/>
              <a:t>Paso 1 · Lectura individual (5 min)</a:t>
            </a:r>
          </a:p>
          <a:p>
            <a:pPr>
              <a:buNone/>
            </a:pPr>
            <a:endParaRPr lang="es-ES" b="1" dirty="0"/>
          </a:p>
          <a:p>
            <a:pPr marL="285750" indent="-285750">
              <a:buFont typeface="Arial" panose="020B0604020202020204" pitchFamily="34" charset="0"/>
              <a:buChar char="•"/>
            </a:pPr>
            <a:r>
              <a:rPr lang="es-ES" dirty="0"/>
              <a:t>Cada participante recibe </a:t>
            </a:r>
            <a:r>
              <a:rPr lang="es-ES" b="1" dirty="0"/>
              <a:t>un ejemplo de rúbrica holística</a:t>
            </a:r>
            <a:r>
              <a:rPr lang="es-ES" dirty="0"/>
              <a:t>.</a:t>
            </a:r>
          </a:p>
          <a:p>
            <a:pPr marL="285750" indent="-285750">
              <a:buFont typeface="Arial" panose="020B0604020202020204" pitchFamily="34" charset="0"/>
              <a:buChar char="•"/>
            </a:pPr>
            <a:r>
              <a:rPr lang="es-ES" dirty="0"/>
              <a:t>Lectura general, </a:t>
            </a:r>
            <a:r>
              <a:rPr lang="es-ES" b="1" dirty="0"/>
              <a:t>no detallada</a:t>
            </a:r>
            <a:r>
              <a:rPr lang="es-ES" dirty="0"/>
              <a:t>.</a:t>
            </a:r>
          </a:p>
          <a:p>
            <a:pPr marL="285750" indent="-285750">
              <a:buFont typeface="Arial" panose="020B0604020202020204" pitchFamily="34" charset="0"/>
              <a:buChar char="•"/>
            </a:pPr>
            <a:r>
              <a:rPr lang="es-ES" dirty="0"/>
              <a:t>Enfoque en lo que la rúbrica comunica sobre el desempeño esperado.</a:t>
            </a:r>
          </a:p>
          <a:p>
            <a:pPr>
              <a:buNone/>
            </a:pPr>
            <a:br>
              <a:rPr lang="es-ES" dirty="0"/>
            </a:br>
            <a:endParaRPr lang="es-ES" dirty="0"/>
          </a:p>
          <a:p>
            <a:pPr>
              <a:buNone/>
            </a:pPr>
            <a:r>
              <a:rPr lang="es-ES" b="1" dirty="0"/>
              <a:t>Paso 2 · Discusión plenaria estructurada (15 min)</a:t>
            </a:r>
          </a:p>
          <a:p>
            <a:pPr>
              <a:buNone/>
            </a:pPr>
            <a:endParaRPr lang="es-ES" b="1" dirty="0"/>
          </a:p>
          <a:p>
            <a:pPr>
              <a:buNone/>
            </a:pPr>
            <a:r>
              <a:rPr lang="es-ES" b="1" dirty="0"/>
              <a:t>Ronda 1 – Sentido</a:t>
            </a:r>
            <a:endParaRPr lang="es-ES" dirty="0"/>
          </a:p>
          <a:p>
            <a:pPr>
              <a:buNone/>
            </a:pPr>
            <a:r>
              <a:rPr lang="es-ES" dirty="0"/>
              <a:t>¿Qué les comunica esta rúbrica sobre el desempeño académico esperado para una jerarquía?</a:t>
            </a:r>
          </a:p>
          <a:p>
            <a:pPr>
              <a:buNone/>
            </a:pPr>
            <a:r>
              <a:rPr lang="es-ES" b="1" dirty="0"/>
              <a:t>Ronda 2 – Aporte</a:t>
            </a:r>
            <a:endParaRPr lang="es-ES" dirty="0"/>
          </a:p>
          <a:p>
            <a:pPr>
              <a:buNone/>
            </a:pPr>
            <a:r>
              <a:rPr lang="es-ES" dirty="0"/>
              <a:t>¿Qué elementos de este enfoque podrían aportar mayor claridad o consistencia a la evaluación?</a:t>
            </a:r>
          </a:p>
          <a:p>
            <a:pPr>
              <a:buNone/>
            </a:pPr>
            <a:r>
              <a:rPr lang="es-ES" b="1" dirty="0"/>
              <a:t>Ronda 3 – Condiciones</a:t>
            </a:r>
            <a:endParaRPr lang="es-ES" dirty="0"/>
          </a:p>
          <a:p>
            <a:pPr>
              <a:buNone/>
            </a:pPr>
            <a:r>
              <a:rPr lang="es-ES" dirty="0"/>
              <a:t>¿Qué condiciones deberían cumplirse para que este enfoque funcione adecuadamente en la práctica?</a:t>
            </a:r>
          </a:p>
          <a:p>
            <a:pPr>
              <a:buNone/>
            </a:pPr>
            <a:br>
              <a:rPr lang="es-ES" dirty="0"/>
            </a:br>
            <a:endParaRPr lang="es-ES" dirty="0"/>
          </a:p>
          <a:p>
            <a:pPr>
              <a:buNone/>
            </a:pPr>
            <a:r>
              <a:rPr lang="es-ES" b="1" dirty="0"/>
              <a:t>Regla del espacio</a:t>
            </a:r>
          </a:p>
          <a:p>
            <a:pPr>
              <a:buNone/>
            </a:pPr>
            <a:endParaRPr lang="es-ES" b="1" dirty="0"/>
          </a:p>
          <a:p>
            <a:pPr marL="285750" indent="-285750">
              <a:buFont typeface="Arial" panose="020B0604020202020204" pitchFamily="34" charset="0"/>
              <a:buChar char="•"/>
            </a:pPr>
            <a:r>
              <a:rPr lang="es-ES" dirty="0"/>
              <a:t>Intervenciones breves y focalizadas.</a:t>
            </a:r>
          </a:p>
          <a:p>
            <a:pPr marL="285750" indent="-285750">
              <a:buFont typeface="Arial" panose="020B0604020202020204" pitchFamily="34" charset="0"/>
              <a:buChar char="•"/>
            </a:pPr>
            <a:r>
              <a:rPr lang="es-ES" dirty="0"/>
              <a:t>Referirse al </a:t>
            </a:r>
            <a:r>
              <a:rPr lang="es-ES" b="1" dirty="0"/>
              <a:t>proceso y al instrumento</a:t>
            </a:r>
            <a:r>
              <a:rPr lang="es-ES" dirty="0"/>
              <a:t>, no a casos personales.</a:t>
            </a:r>
          </a:p>
          <a:p>
            <a:pPr marL="285750" indent="-285750">
              <a:buFont typeface="Arial" panose="020B0604020202020204" pitchFamily="34" charset="0"/>
              <a:buChar char="•"/>
            </a:pPr>
            <a:r>
              <a:rPr lang="es-ES" dirty="0"/>
              <a:t>Este espacio </a:t>
            </a:r>
            <a:r>
              <a:rPr lang="es-ES" b="1" dirty="0"/>
              <a:t>no busca aprobar ni rechazar</a:t>
            </a:r>
            <a:r>
              <a:rPr lang="es-ES" dirty="0"/>
              <a:t> la propuesta.</a:t>
            </a:r>
          </a:p>
        </p:txBody>
      </p:sp>
      <p:sp>
        <p:nvSpPr>
          <p:cNvPr id="5" name="CuadroTexto 4">
            <a:extLst>
              <a:ext uri="{FF2B5EF4-FFF2-40B4-BE49-F238E27FC236}">
                <a16:creationId xmlns:a16="http://schemas.microsoft.com/office/drawing/2014/main" id="{C3147525-26A9-EEAF-D52D-F2E1899B17F5}"/>
              </a:ext>
            </a:extLst>
          </p:cNvPr>
          <p:cNvSpPr txBox="1"/>
          <p:nvPr/>
        </p:nvSpPr>
        <p:spPr>
          <a:xfrm>
            <a:off x="1130530" y="432678"/>
            <a:ext cx="7315200" cy="584775"/>
          </a:xfrm>
          <a:prstGeom prst="rect">
            <a:avLst/>
          </a:prstGeom>
          <a:noFill/>
        </p:spPr>
        <p:txBody>
          <a:bodyPr wrap="square">
            <a:spAutoFit/>
          </a:bodyPr>
          <a:lstStyle/>
          <a:p>
            <a:r>
              <a:rPr lang="es-ES" sz="3200" b="1" dirty="0"/>
              <a:t>Discusión guiada sobre la propuesta</a:t>
            </a:r>
            <a:endParaRPr lang="es-CL" sz="3200" b="1" dirty="0"/>
          </a:p>
        </p:txBody>
      </p:sp>
      <p:sp>
        <p:nvSpPr>
          <p:cNvPr id="6" name="Rectángulo 5">
            <a:extLst>
              <a:ext uri="{FF2B5EF4-FFF2-40B4-BE49-F238E27FC236}">
                <a16:creationId xmlns:a16="http://schemas.microsoft.com/office/drawing/2014/main" id="{9FE4C115-DF07-D08D-5E71-3647FA22B075}"/>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1873919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D65BFC9-513C-BB44-F0F3-04F9D002846D}"/>
              </a:ext>
            </a:extLst>
          </p:cNvPr>
          <p:cNvSpPr txBox="1"/>
          <p:nvPr/>
        </p:nvSpPr>
        <p:spPr>
          <a:xfrm>
            <a:off x="282633" y="468403"/>
            <a:ext cx="13549745" cy="3139321"/>
          </a:xfrm>
          <a:prstGeom prst="rect">
            <a:avLst/>
          </a:prstGeom>
          <a:noFill/>
        </p:spPr>
        <p:txBody>
          <a:bodyPr wrap="square">
            <a:spAutoFit/>
          </a:bodyPr>
          <a:lstStyle/>
          <a:p>
            <a:pPr>
              <a:buNone/>
            </a:pPr>
            <a:r>
              <a:rPr lang="es-ES" b="1" dirty="0">
                <a:latin typeface="DM Sans" pitchFamily="2" charset="0"/>
              </a:rPr>
              <a:t>DECRETO N°26 CARREA ACADEMICA</a:t>
            </a:r>
          </a:p>
          <a:p>
            <a:pPr>
              <a:buNone/>
            </a:pPr>
            <a:r>
              <a:rPr lang="es-ES" b="1" dirty="0">
                <a:latin typeface="DM Sans" pitchFamily="2" charset="0"/>
              </a:rPr>
              <a:t>PROFESOR TITULAR</a:t>
            </a:r>
            <a:endParaRPr lang="es-ES" dirty="0">
              <a:latin typeface="DM Sans" pitchFamily="2" charset="0"/>
            </a:endParaRPr>
          </a:p>
          <a:p>
            <a:pPr>
              <a:buNone/>
            </a:pPr>
            <a:r>
              <a:rPr lang="es-ES" b="1" dirty="0">
                <a:latin typeface="DM Sans" pitchFamily="2" charset="0"/>
              </a:rPr>
              <a:t>DEFINICIÓN</a:t>
            </a:r>
            <a:endParaRPr lang="es-ES" dirty="0">
              <a:latin typeface="DM Sans" pitchFamily="2" charset="0"/>
            </a:endParaRPr>
          </a:p>
          <a:p>
            <a:pPr>
              <a:buNone/>
            </a:pPr>
            <a:r>
              <a:rPr lang="es-ES" b="1" dirty="0">
                <a:latin typeface="DM Sans" pitchFamily="2" charset="0"/>
              </a:rPr>
              <a:t>Art. 6°</a:t>
            </a:r>
            <a:r>
              <a:rPr lang="es-ES" dirty="0">
                <a:latin typeface="DM Sans" pitchFamily="2" charset="0"/>
              </a:rPr>
              <a:t> Se entenderá por Profesor Titular a un académico:</a:t>
            </a:r>
          </a:p>
          <a:p>
            <a:pPr>
              <a:buNone/>
            </a:pPr>
            <a:endParaRPr lang="es-ES" dirty="0">
              <a:latin typeface="DM Sans" pitchFamily="2" charset="0"/>
            </a:endParaRPr>
          </a:p>
          <a:p>
            <a:pPr>
              <a:buFont typeface="+mj-lt"/>
              <a:buAutoNum type="arabicPeriod"/>
            </a:pPr>
            <a:r>
              <a:rPr lang="es-ES" dirty="0">
                <a:latin typeface="DM Sans" pitchFamily="2" charset="0"/>
              </a:rPr>
              <a:t> Reconocido por los Profesores del Cuerpo Académico Regular por su </a:t>
            </a:r>
            <a:r>
              <a:rPr lang="es-ES" b="1" dirty="0">
                <a:latin typeface="DM Sans" pitchFamily="2" charset="0"/>
              </a:rPr>
              <a:t>creatividad y excelencia </a:t>
            </a:r>
            <a:r>
              <a:rPr lang="es-ES" dirty="0">
                <a:latin typeface="DM Sans" pitchFamily="2" charset="0"/>
              </a:rPr>
              <a:t>en la realización de sus actividades relativas al desarrollo docente, a la autonomía en la investigación, a la administración académica y al desarrollo profesional, durante un período que permita juzgar que corresponde a una actitud permanente y no circunstancial.</a:t>
            </a:r>
          </a:p>
          <a:p>
            <a:pPr>
              <a:buFont typeface="+mj-lt"/>
              <a:buAutoNum type="arabicPeriod"/>
            </a:pPr>
            <a:endParaRPr lang="es-ES" dirty="0">
              <a:latin typeface="DM Sans" pitchFamily="2" charset="0"/>
            </a:endParaRPr>
          </a:p>
          <a:p>
            <a:pPr>
              <a:buFont typeface="+mj-lt"/>
              <a:buAutoNum type="arabicPeriod"/>
            </a:pPr>
            <a:r>
              <a:rPr lang="es-ES" dirty="0">
                <a:latin typeface="DM Sans" pitchFamily="2" charset="0"/>
              </a:rPr>
              <a:t> Al que se le reconozca capacidad para dirigir la formación de académicos, asumir las más altas responsabilidades en la dirección académica y representar a la Universidad en el foro académico internacional.</a:t>
            </a:r>
          </a:p>
        </p:txBody>
      </p:sp>
      <p:sp>
        <p:nvSpPr>
          <p:cNvPr id="7" name="CuadroTexto 6">
            <a:extLst>
              <a:ext uri="{FF2B5EF4-FFF2-40B4-BE49-F238E27FC236}">
                <a16:creationId xmlns:a16="http://schemas.microsoft.com/office/drawing/2014/main" id="{B4BFB38D-BAB7-5C82-EF35-7EC9F517A5A6}"/>
              </a:ext>
            </a:extLst>
          </p:cNvPr>
          <p:cNvSpPr txBox="1"/>
          <p:nvPr/>
        </p:nvSpPr>
        <p:spPr>
          <a:xfrm>
            <a:off x="282633" y="3672780"/>
            <a:ext cx="7647709" cy="3970318"/>
          </a:xfrm>
          <a:prstGeom prst="rect">
            <a:avLst/>
          </a:prstGeom>
          <a:noFill/>
        </p:spPr>
        <p:txBody>
          <a:bodyPr wrap="square">
            <a:spAutoFit/>
          </a:bodyPr>
          <a:lstStyle/>
          <a:p>
            <a:pPr>
              <a:buNone/>
            </a:pPr>
            <a:r>
              <a:rPr lang="es-ES" b="1" dirty="0">
                <a:latin typeface="DM Sans" pitchFamily="2" charset="0"/>
              </a:rPr>
              <a:t>FUNCIONES</a:t>
            </a:r>
            <a:endParaRPr lang="es-ES" dirty="0">
              <a:latin typeface="DM Sans" pitchFamily="2" charset="0"/>
            </a:endParaRPr>
          </a:p>
          <a:p>
            <a:pPr>
              <a:buNone/>
            </a:pPr>
            <a:r>
              <a:rPr lang="es-ES" b="1" dirty="0">
                <a:latin typeface="DM Sans" pitchFamily="2" charset="0"/>
              </a:rPr>
              <a:t>Art. 7°</a:t>
            </a:r>
            <a:r>
              <a:rPr lang="es-ES" dirty="0">
                <a:latin typeface="DM Sans" pitchFamily="2" charset="0"/>
              </a:rPr>
              <a:t> Corresponde al Profesor Titular:</a:t>
            </a:r>
          </a:p>
          <a:p>
            <a:pPr>
              <a:buNone/>
            </a:pPr>
            <a:endParaRPr lang="es-ES" dirty="0">
              <a:latin typeface="DM Sans" pitchFamily="2" charset="0"/>
            </a:endParaRPr>
          </a:p>
          <a:p>
            <a:pPr>
              <a:buNone/>
            </a:pPr>
            <a:r>
              <a:rPr lang="es-ES" dirty="0">
                <a:latin typeface="DM Sans" pitchFamily="2" charset="0"/>
              </a:rPr>
              <a:t>En general: </a:t>
            </a:r>
            <a:r>
              <a:rPr lang="es-ES" b="1" dirty="0">
                <a:latin typeface="DM Sans" pitchFamily="2" charset="0"/>
              </a:rPr>
              <a:t>inspirar, conducir y ejecutar </a:t>
            </a:r>
            <a:r>
              <a:rPr lang="es-ES" dirty="0">
                <a:latin typeface="DM Sans" pitchFamily="2" charset="0"/>
              </a:rPr>
              <a:t>las actividades académicas.</a:t>
            </a:r>
          </a:p>
          <a:p>
            <a:pPr>
              <a:buNone/>
            </a:pPr>
            <a:endParaRPr lang="es-ES" dirty="0">
              <a:latin typeface="DM Sans" pitchFamily="2" charset="0"/>
            </a:endParaRPr>
          </a:p>
          <a:p>
            <a:pPr>
              <a:buNone/>
            </a:pPr>
            <a:r>
              <a:rPr lang="es-ES" dirty="0">
                <a:latin typeface="DM Sans" pitchFamily="2" charset="0"/>
              </a:rPr>
              <a:t>En especial, realizar algunas de las siguientes funciones:</a:t>
            </a:r>
          </a:p>
          <a:p>
            <a:pPr>
              <a:buNone/>
            </a:pPr>
            <a:endParaRPr lang="es-ES" dirty="0">
              <a:latin typeface="DM Sans" pitchFamily="2" charset="0"/>
            </a:endParaRPr>
          </a:p>
          <a:p>
            <a:pPr>
              <a:buNone/>
            </a:pPr>
            <a:r>
              <a:rPr lang="es-ES" b="1" dirty="0">
                <a:latin typeface="DM Sans" pitchFamily="2" charset="0"/>
              </a:rPr>
              <a:t>1. En la docencia:</a:t>
            </a:r>
            <a:endParaRPr lang="es-ES" dirty="0">
              <a:latin typeface="DM Sans" pitchFamily="2" charset="0"/>
            </a:endParaRPr>
          </a:p>
          <a:p>
            <a:pPr>
              <a:buNone/>
            </a:pPr>
            <a:r>
              <a:rPr lang="es-ES" dirty="0">
                <a:latin typeface="DM Sans" pitchFamily="2" charset="0"/>
              </a:rPr>
              <a:t>a) Dictar asignaturas de los planes de estudios.</a:t>
            </a:r>
            <a:br>
              <a:rPr lang="es-ES" dirty="0">
                <a:latin typeface="DM Sans" pitchFamily="2" charset="0"/>
              </a:rPr>
            </a:br>
            <a:r>
              <a:rPr lang="es-ES" dirty="0">
                <a:latin typeface="DM Sans" pitchFamily="2" charset="0"/>
              </a:rPr>
              <a:t>b) Dictar cursos de postgrado y de postítulo.</a:t>
            </a:r>
            <a:br>
              <a:rPr lang="es-ES" dirty="0">
                <a:latin typeface="DM Sans" pitchFamily="2" charset="0"/>
              </a:rPr>
            </a:br>
            <a:r>
              <a:rPr lang="es-ES" dirty="0">
                <a:latin typeface="DM Sans" pitchFamily="2" charset="0"/>
              </a:rPr>
              <a:t>c) Elaborar material docente.</a:t>
            </a:r>
            <a:br>
              <a:rPr lang="es-ES" dirty="0">
                <a:latin typeface="DM Sans" pitchFamily="2" charset="0"/>
              </a:rPr>
            </a:br>
            <a:r>
              <a:rPr lang="es-ES" dirty="0">
                <a:latin typeface="DM Sans" pitchFamily="2" charset="0"/>
              </a:rPr>
              <a:t>d) Guiar tesis de grado o trabajos de titulación hasta el más alto nivel.</a:t>
            </a:r>
            <a:br>
              <a:rPr lang="es-ES" dirty="0">
                <a:latin typeface="DM Sans" pitchFamily="2" charset="0"/>
              </a:rPr>
            </a:br>
            <a:r>
              <a:rPr lang="es-ES" dirty="0">
                <a:latin typeface="DM Sans" pitchFamily="2" charset="0"/>
              </a:rPr>
              <a:t>e) Dirigir y colaborar en la elaboración de planes y programas de estudio hasta el más alto nivel.</a:t>
            </a:r>
          </a:p>
        </p:txBody>
      </p:sp>
      <p:sp>
        <p:nvSpPr>
          <p:cNvPr id="9" name="CuadroTexto 8">
            <a:extLst>
              <a:ext uri="{FF2B5EF4-FFF2-40B4-BE49-F238E27FC236}">
                <a16:creationId xmlns:a16="http://schemas.microsoft.com/office/drawing/2014/main" id="{F6C4B9A9-D025-C5D0-1563-0E7A5C8A4F0E}"/>
              </a:ext>
            </a:extLst>
          </p:cNvPr>
          <p:cNvSpPr txBox="1"/>
          <p:nvPr/>
        </p:nvSpPr>
        <p:spPr>
          <a:xfrm>
            <a:off x="8412479" y="5243545"/>
            <a:ext cx="5935288" cy="2585323"/>
          </a:xfrm>
          <a:prstGeom prst="rect">
            <a:avLst/>
          </a:prstGeom>
          <a:noFill/>
        </p:spPr>
        <p:txBody>
          <a:bodyPr wrap="square">
            <a:spAutoFit/>
          </a:bodyPr>
          <a:lstStyle/>
          <a:p>
            <a:pPr>
              <a:buNone/>
            </a:pPr>
            <a:r>
              <a:rPr lang="es-ES" b="1" dirty="0">
                <a:latin typeface="DM Sans" pitchFamily="2" charset="0"/>
              </a:rPr>
              <a:t>2. En la investigación:</a:t>
            </a:r>
            <a:endParaRPr lang="es-ES" dirty="0">
              <a:latin typeface="DM Sans" pitchFamily="2" charset="0"/>
            </a:endParaRPr>
          </a:p>
          <a:p>
            <a:pPr>
              <a:buNone/>
            </a:pPr>
            <a:r>
              <a:rPr lang="es-ES" dirty="0">
                <a:latin typeface="DM Sans" pitchFamily="2" charset="0"/>
              </a:rPr>
              <a:t>a) Originar y realizar trabajos de investigación.</a:t>
            </a:r>
            <a:br>
              <a:rPr lang="es-ES" dirty="0">
                <a:latin typeface="DM Sans" pitchFamily="2" charset="0"/>
              </a:rPr>
            </a:br>
            <a:r>
              <a:rPr lang="es-ES" dirty="0">
                <a:latin typeface="DM Sans" pitchFamily="2" charset="0"/>
              </a:rPr>
              <a:t>b) Dirigir líneas y grupos de investigación.</a:t>
            </a:r>
            <a:br>
              <a:rPr lang="es-ES" dirty="0">
                <a:latin typeface="DM Sans" pitchFamily="2" charset="0"/>
              </a:rPr>
            </a:br>
            <a:r>
              <a:rPr lang="es-ES" dirty="0">
                <a:latin typeface="DM Sans" pitchFamily="2" charset="0"/>
              </a:rPr>
              <a:t>c) Dirigir la formación de nuevos investigadores.</a:t>
            </a:r>
            <a:br>
              <a:rPr lang="es-ES" dirty="0">
                <a:latin typeface="DM Sans" pitchFamily="2" charset="0"/>
              </a:rPr>
            </a:br>
            <a:r>
              <a:rPr lang="es-ES" dirty="0">
                <a:latin typeface="DM Sans" pitchFamily="2" charset="0"/>
              </a:rPr>
              <a:t>d) Publicar trabajos de investigación en revistas especializadas de prestigio internacional.</a:t>
            </a:r>
            <a:br>
              <a:rPr lang="es-ES" dirty="0">
                <a:latin typeface="DM Sans" pitchFamily="2" charset="0"/>
              </a:rPr>
            </a:br>
            <a:r>
              <a:rPr lang="es-ES" dirty="0">
                <a:latin typeface="DM Sans" pitchFamily="2" charset="0"/>
              </a:rPr>
              <a:t>e) Presentar trabajos de investigación en congresos u otros eventos de naturaleza semejante en el ámbito internacional.</a:t>
            </a:r>
          </a:p>
        </p:txBody>
      </p:sp>
    </p:spTree>
    <p:extLst>
      <p:ext uri="{BB962C8B-B14F-4D97-AF65-F5344CB8AC3E}">
        <p14:creationId xmlns:p14="http://schemas.microsoft.com/office/powerpoint/2010/main" val="39626072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80F17B60-64AD-14CF-875F-1C0CFA7C51BF}"/>
              </a:ext>
            </a:extLst>
          </p:cNvPr>
          <p:cNvSpPr txBox="1"/>
          <p:nvPr/>
        </p:nvSpPr>
        <p:spPr>
          <a:xfrm>
            <a:off x="507076" y="438789"/>
            <a:ext cx="9991898" cy="461665"/>
          </a:xfrm>
          <a:prstGeom prst="rect">
            <a:avLst/>
          </a:prstGeom>
          <a:noFill/>
        </p:spPr>
        <p:txBody>
          <a:bodyPr wrap="square">
            <a:spAutoFit/>
          </a:bodyPr>
          <a:lstStyle/>
          <a:p>
            <a:pPr>
              <a:buNone/>
            </a:pPr>
            <a:r>
              <a:rPr lang="es-ES" sz="2400" b="1" dirty="0">
                <a:latin typeface="DM Sans" pitchFamily="2" charset="0"/>
              </a:rPr>
              <a:t>RESOLUCIÓN N°5949 REGLAMENTO DE EVALUACIÓN</a:t>
            </a:r>
          </a:p>
        </p:txBody>
      </p:sp>
      <p:sp>
        <p:nvSpPr>
          <p:cNvPr id="11" name="CuadroTexto 10">
            <a:extLst>
              <a:ext uri="{FF2B5EF4-FFF2-40B4-BE49-F238E27FC236}">
                <a16:creationId xmlns:a16="http://schemas.microsoft.com/office/drawing/2014/main" id="{B3B8E32A-0F3A-4251-57FF-56101B5296FE}"/>
              </a:ext>
            </a:extLst>
          </p:cNvPr>
          <p:cNvSpPr txBox="1"/>
          <p:nvPr/>
        </p:nvSpPr>
        <p:spPr>
          <a:xfrm>
            <a:off x="507076" y="1235170"/>
            <a:ext cx="13616247" cy="6370975"/>
          </a:xfrm>
          <a:prstGeom prst="rect">
            <a:avLst/>
          </a:prstGeom>
          <a:noFill/>
        </p:spPr>
        <p:txBody>
          <a:bodyPr wrap="square">
            <a:spAutoFit/>
          </a:bodyPr>
          <a:lstStyle/>
          <a:p>
            <a:pPr>
              <a:buNone/>
            </a:pPr>
            <a:r>
              <a:rPr lang="es-ES" sz="2400" b="1" dirty="0">
                <a:latin typeface="DM Sans" pitchFamily="2" charset="0"/>
              </a:rPr>
              <a:t>Actividades académicas:</a:t>
            </a:r>
            <a:r>
              <a:rPr lang="es-ES" sz="2400" dirty="0">
                <a:latin typeface="DM Sans" pitchFamily="2" charset="0"/>
              </a:rPr>
              <a:t> Son actividades susceptibles de evaluación las siguientes:</a:t>
            </a:r>
          </a:p>
          <a:p>
            <a:pPr>
              <a:buNone/>
            </a:pPr>
            <a:endParaRPr lang="es-ES" sz="2400" dirty="0">
              <a:latin typeface="DM Sans" pitchFamily="2" charset="0"/>
            </a:endParaRPr>
          </a:p>
          <a:p>
            <a:pPr>
              <a:buNone/>
            </a:pPr>
            <a:r>
              <a:rPr lang="es-ES" sz="2400" dirty="0">
                <a:latin typeface="DM Sans" pitchFamily="2" charset="0"/>
              </a:rPr>
              <a:t>a) </a:t>
            </a:r>
            <a:r>
              <a:rPr lang="es-ES" sz="2400" b="1" dirty="0">
                <a:latin typeface="DM Sans" pitchFamily="2" charset="0"/>
              </a:rPr>
              <a:t>Docencia:</a:t>
            </a:r>
            <a:r>
              <a:rPr lang="es-ES" sz="2400" dirty="0">
                <a:latin typeface="DM Sans" pitchFamily="2" charset="0"/>
              </a:rPr>
              <a:t> Se considerarán actividades docentes, entre otras: la planificación, diseño y evaluación de planes y programas de pregrado, postgrado y postítulo; docencia en aula o a distancia; dirección de trabajos conducentes a títulos profesionales o a grados académicos; gestión y administración de carreras; publicaciones y comunicaciones docentes; proyectos de investigación y/o desarrollo docente; perfeccionamiento o actualización en docencia.</a:t>
            </a:r>
          </a:p>
          <a:p>
            <a:pPr>
              <a:buNone/>
            </a:pPr>
            <a:endParaRPr lang="es-ES" sz="2400" dirty="0">
              <a:latin typeface="DM Sans" pitchFamily="2" charset="0"/>
            </a:endParaRPr>
          </a:p>
          <a:p>
            <a:pPr>
              <a:buNone/>
            </a:pPr>
            <a:endParaRPr lang="es-ES" sz="2400" dirty="0">
              <a:latin typeface="DM Sans" pitchFamily="2" charset="0"/>
            </a:endParaRPr>
          </a:p>
          <a:p>
            <a:pPr>
              <a:buNone/>
            </a:pPr>
            <a:r>
              <a:rPr lang="es-ES" sz="2400" dirty="0">
                <a:latin typeface="DM Sans" pitchFamily="2" charset="0"/>
              </a:rPr>
              <a:t>b) </a:t>
            </a:r>
            <a:r>
              <a:rPr lang="es-ES" sz="2400" b="1" dirty="0">
                <a:latin typeface="DM Sans" pitchFamily="2" charset="0"/>
              </a:rPr>
              <a:t>Investigación:</a:t>
            </a:r>
            <a:r>
              <a:rPr lang="es-ES" sz="2400" dirty="0">
                <a:latin typeface="DM Sans" pitchFamily="2" charset="0"/>
              </a:rPr>
              <a:t> Se considerarán actividades de investigación, entre otras, las siguientes: participación, ya sea como investigador principal, investigador asociado o consultor, en proyectos de investigación; planificación, diseño e implementación de proyectos de investigación; gestión administrativa y desarrollo de proyectos de investigación; organización de encuentros científicos; elaboración de productos de los proyectos de investigación (libros, capítulos de libros, artículos en revistas, patentes, entre otros); perfeccionamiento en investigación; dirección de tesis de postgrado en investigación; participación en programas de postgrado.</a:t>
            </a:r>
          </a:p>
        </p:txBody>
      </p:sp>
    </p:spTree>
    <p:extLst>
      <p:ext uri="{BB962C8B-B14F-4D97-AF65-F5344CB8AC3E}">
        <p14:creationId xmlns:p14="http://schemas.microsoft.com/office/powerpoint/2010/main" val="1849335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9C9BF-2DA9-EED6-5F6D-26CAF5A42917}"/>
            </a:ext>
          </a:extLst>
        </p:cNvPr>
        <p:cNvGrpSpPr/>
        <p:nvPr/>
      </p:nvGrpSpPr>
      <p:grpSpPr>
        <a:xfrm>
          <a:off x="0" y="0"/>
          <a:ext cx="0" cy="0"/>
          <a:chOff x="0" y="0"/>
          <a:chExt cx="0" cy="0"/>
        </a:xfrm>
      </p:grpSpPr>
      <p:sp>
        <p:nvSpPr>
          <p:cNvPr id="6" name="CuadroTexto 5">
            <a:extLst>
              <a:ext uri="{FF2B5EF4-FFF2-40B4-BE49-F238E27FC236}">
                <a16:creationId xmlns:a16="http://schemas.microsoft.com/office/drawing/2014/main" id="{525C5145-DB29-0E38-4659-E6D1F9186408}"/>
              </a:ext>
            </a:extLst>
          </p:cNvPr>
          <p:cNvSpPr txBox="1"/>
          <p:nvPr/>
        </p:nvSpPr>
        <p:spPr>
          <a:xfrm>
            <a:off x="768730" y="207956"/>
            <a:ext cx="9991898" cy="461665"/>
          </a:xfrm>
          <a:prstGeom prst="rect">
            <a:avLst/>
          </a:prstGeom>
          <a:noFill/>
        </p:spPr>
        <p:txBody>
          <a:bodyPr wrap="square">
            <a:spAutoFit/>
          </a:bodyPr>
          <a:lstStyle/>
          <a:p>
            <a:pPr>
              <a:buNone/>
            </a:pPr>
            <a:r>
              <a:rPr lang="es-ES" sz="2400" b="1" dirty="0">
                <a:latin typeface="DM Sans" pitchFamily="2" charset="0"/>
              </a:rPr>
              <a:t>RESOLUCIÓN N°5949 REGLAMENTO DE EVALUACIÓN</a:t>
            </a:r>
          </a:p>
        </p:txBody>
      </p:sp>
      <p:graphicFrame>
        <p:nvGraphicFramePr>
          <p:cNvPr id="2" name="Tabla 1">
            <a:extLst>
              <a:ext uri="{FF2B5EF4-FFF2-40B4-BE49-F238E27FC236}">
                <a16:creationId xmlns:a16="http://schemas.microsoft.com/office/drawing/2014/main" id="{876AEEBD-614D-67E3-73FE-17E06B25865B}"/>
              </a:ext>
            </a:extLst>
          </p:cNvPr>
          <p:cNvGraphicFramePr>
            <a:graphicFrameLocks noGrp="1"/>
          </p:cNvGraphicFramePr>
          <p:nvPr>
            <p:extLst>
              <p:ext uri="{D42A27DB-BD31-4B8C-83A1-F6EECF244321}">
                <p14:modId xmlns:p14="http://schemas.microsoft.com/office/powerpoint/2010/main" val="3767724771"/>
              </p:ext>
            </p:extLst>
          </p:nvPr>
        </p:nvGraphicFramePr>
        <p:xfrm>
          <a:off x="768730" y="1646714"/>
          <a:ext cx="13349606" cy="1828800"/>
        </p:xfrm>
        <a:graphic>
          <a:graphicData uri="http://schemas.openxmlformats.org/drawingml/2006/table">
            <a:tbl>
              <a:tblPr>
                <a:tableStyleId>{BDBED569-4797-4DF1-A0F4-6AAB3CD982D8}</a:tableStyleId>
              </a:tblPr>
              <a:tblGrid>
                <a:gridCol w="6363590">
                  <a:extLst>
                    <a:ext uri="{9D8B030D-6E8A-4147-A177-3AD203B41FA5}">
                      <a16:colId xmlns:a16="http://schemas.microsoft.com/office/drawing/2014/main" val="3587504031"/>
                    </a:ext>
                  </a:extLst>
                </a:gridCol>
                <a:gridCol w="6986016">
                  <a:extLst>
                    <a:ext uri="{9D8B030D-6E8A-4147-A177-3AD203B41FA5}">
                      <a16:colId xmlns:a16="http://schemas.microsoft.com/office/drawing/2014/main" val="3925865524"/>
                    </a:ext>
                  </a:extLst>
                </a:gridCol>
              </a:tblGrid>
              <a:tr h="0">
                <a:tc>
                  <a:txBody>
                    <a:bodyPr/>
                    <a:lstStyle/>
                    <a:p>
                      <a:pPr algn="ctr">
                        <a:buNone/>
                      </a:pPr>
                      <a:r>
                        <a:rPr lang="es-CL" b="1" dirty="0"/>
                        <a:t>Actividad</a:t>
                      </a:r>
                      <a:endParaRPr lang="es-CL" dirty="0"/>
                    </a:p>
                  </a:txBody>
                  <a:tcPr anchor="ctr"/>
                </a:tc>
                <a:tc>
                  <a:txBody>
                    <a:bodyPr/>
                    <a:lstStyle/>
                    <a:p>
                      <a:pPr algn="ctr">
                        <a:buNone/>
                      </a:pPr>
                      <a:r>
                        <a:rPr lang="es-CL" b="1" dirty="0"/>
                        <a:t>Actividad</a:t>
                      </a:r>
                      <a:endParaRPr lang="es-CL" dirty="0"/>
                    </a:p>
                  </a:txBody>
                  <a:tcPr anchor="ctr"/>
                </a:tc>
                <a:extLst>
                  <a:ext uri="{0D108BD9-81ED-4DB2-BD59-A6C34878D82A}">
                    <a16:rowId xmlns:a16="http://schemas.microsoft.com/office/drawing/2014/main" val="1668597240"/>
                  </a:ext>
                </a:extLst>
              </a:tr>
              <a:tr h="0">
                <a:tc>
                  <a:txBody>
                    <a:bodyPr/>
                    <a:lstStyle/>
                    <a:p>
                      <a:pPr>
                        <a:buNone/>
                      </a:pPr>
                      <a:r>
                        <a:rPr lang="es-ES"/>
                        <a:t>Cursos dictados en pre y postgrado</a:t>
                      </a:r>
                    </a:p>
                  </a:txBody>
                  <a:tcPr anchor="ctr"/>
                </a:tc>
                <a:tc>
                  <a:txBody>
                    <a:bodyPr/>
                    <a:lstStyle/>
                    <a:p>
                      <a:pPr>
                        <a:buNone/>
                      </a:pPr>
                      <a:r>
                        <a:rPr lang="es-ES"/>
                        <a:t>Dirección de tesis de pre y postgrado</a:t>
                      </a:r>
                    </a:p>
                  </a:txBody>
                  <a:tcPr anchor="ctr"/>
                </a:tc>
                <a:extLst>
                  <a:ext uri="{0D108BD9-81ED-4DB2-BD59-A6C34878D82A}">
                    <a16:rowId xmlns:a16="http://schemas.microsoft.com/office/drawing/2014/main" val="1205892245"/>
                  </a:ext>
                </a:extLst>
              </a:tr>
              <a:tr h="0">
                <a:tc>
                  <a:txBody>
                    <a:bodyPr/>
                    <a:lstStyle/>
                    <a:p>
                      <a:pPr>
                        <a:buNone/>
                      </a:pPr>
                      <a:r>
                        <a:rPr lang="es-ES"/>
                        <a:t>Evaluación en aula de cada uno de los cursos dictados</a:t>
                      </a:r>
                    </a:p>
                  </a:txBody>
                  <a:tcPr anchor="ctr"/>
                </a:tc>
                <a:tc>
                  <a:txBody>
                    <a:bodyPr/>
                    <a:lstStyle/>
                    <a:p>
                      <a:pPr>
                        <a:buNone/>
                      </a:pPr>
                      <a:r>
                        <a:rPr lang="es-ES"/>
                        <a:t>Evaluación de pares respecto de la calidad de la docencia realizada</a:t>
                      </a:r>
                    </a:p>
                  </a:txBody>
                  <a:tcPr anchor="ctr"/>
                </a:tc>
                <a:extLst>
                  <a:ext uri="{0D108BD9-81ED-4DB2-BD59-A6C34878D82A}">
                    <a16:rowId xmlns:a16="http://schemas.microsoft.com/office/drawing/2014/main" val="3200806000"/>
                  </a:ext>
                </a:extLst>
              </a:tr>
              <a:tr h="0">
                <a:tc>
                  <a:txBody>
                    <a:bodyPr/>
                    <a:lstStyle/>
                    <a:p>
                      <a:pPr>
                        <a:buNone/>
                      </a:pPr>
                      <a:r>
                        <a:rPr lang="es-ES"/>
                        <a:t>Calidad del material docente elaborado</a:t>
                      </a:r>
                    </a:p>
                  </a:txBody>
                  <a:tcPr anchor="ctr"/>
                </a:tc>
                <a:tc>
                  <a:txBody>
                    <a:bodyPr/>
                    <a:lstStyle/>
                    <a:p>
                      <a:pPr>
                        <a:buNone/>
                      </a:pPr>
                      <a:r>
                        <a:rPr lang="es-ES"/>
                        <a:t>Pertinencia y actualidad de la bibliografía obligatoria y optativa</a:t>
                      </a:r>
                    </a:p>
                  </a:txBody>
                  <a:tcPr anchor="ctr"/>
                </a:tc>
                <a:extLst>
                  <a:ext uri="{0D108BD9-81ED-4DB2-BD59-A6C34878D82A}">
                    <a16:rowId xmlns:a16="http://schemas.microsoft.com/office/drawing/2014/main" val="1983882858"/>
                  </a:ext>
                </a:extLst>
              </a:tr>
              <a:tr h="0">
                <a:tc>
                  <a:txBody>
                    <a:bodyPr/>
                    <a:lstStyle/>
                    <a:p>
                      <a:pPr>
                        <a:buNone/>
                      </a:pPr>
                      <a:r>
                        <a:rPr lang="es-ES"/>
                        <a:t>Utilización de tecnologías de información y comunicación (TIC)</a:t>
                      </a:r>
                    </a:p>
                  </a:txBody>
                  <a:tcPr anchor="ctr"/>
                </a:tc>
                <a:tc>
                  <a:txBody>
                    <a:bodyPr/>
                    <a:lstStyle/>
                    <a:p>
                      <a:pPr>
                        <a:buNone/>
                      </a:pPr>
                      <a:endParaRPr lang="es-CL" dirty="0"/>
                    </a:p>
                  </a:txBody>
                  <a:tcPr anchor="ctr"/>
                </a:tc>
                <a:extLst>
                  <a:ext uri="{0D108BD9-81ED-4DB2-BD59-A6C34878D82A}">
                    <a16:rowId xmlns:a16="http://schemas.microsoft.com/office/drawing/2014/main" val="3682452590"/>
                  </a:ext>
                </a:extLst>
              </a:tr>
            </a:tbl>
          </a:graphicData>
        </a:graphic>
      </p:graphicFrame>
      <p:sp>
        <p:nvSpPr>
          <p:cNvPr id="4" name="CuadroTexto 3">
            <a:extLst>
              <a:ext uri="{FF2B5EF4-FFF2-40B4-BE49-F238E27FC236}">
                <a16:creationId xmlns:a16="http://schemas.microsoft.com/office/drawing/2014/main" id="{A8332AFA-D480-4D1F-C589-9743F1E5D98D}"/>
              </a:ext>
            </a:extLst>
          </p:cNvPr>
          <p:cNvSpPr txBox="1"/>
          <p:nvPr/>
        </p:nvSpPr>
        <p:spPr>
          <a:xfrm>
            <a:off x="768730" y="778599"/>
            <a:ext cx="13349606" cy="646331"/>
          </a:xfrm>
          <a:prstGeom prst="rect">
            <a:avLst/>
          </a:prstGeom>
          <a:noFill/>
        </p:spPr>
        <p:txBody>
          <a:bodyPr wrap="square">
            <a:spAutoFit/>
          </a:bodyPr>
          <a:lstStyle/>
          <a:p>
            <a:pPr>
              <a:buNone/>
            </a:pPr>
            <a:r>
              <a:rPr lang="es-ES" b="1" dirty="0"/>
              <a:t>Artículo 19:</a:t>
            </a:r>
            <a:r>
              <a:rPr lang="es-ES" dirty="0"/>
              <a:t> Para la evaluación y calificación del desempeño académico en docencia, el Manual de Facultad considerará, entre otras alternativas para construir los indicadores, las siguientes:</a:t>
            </a:r>
          </a:p>
        </p:txBody>
      </p:sp>
      <p:sp>
        <p:nvSpPr>
          <p:cNvPr id="8" name="CuadroTexto 7">
            <a:extLst>
              <a:ext uri="{FF2B5EF4-FFF2-40B4-BE49-F238E27FC236}">
                <a16:creationId xmlns:a16="http://schemas.microsoft.com/office/drawing/2014/main" id="{AFF80A88-F1A4-2EA0-339A-211B4A0953BC}"/>
              </a:ext>
            </a:extLst>
          </p:cNvPr>
          <p:cNvSpPr txBox="1"/>
          <p:nvPr/>
        </p:nvSpPr>
        <p:spPr>
          <a:xfrm>
            <a:off x="768730" y="3859932"/>
            <a:ext cx="13349606" cy="646331"/>
          </a:xfrm>
          <a:prstGeom prst="rect">
            <a:avLst/>
          </a:prstGeom>
          <a:noFill/>
        </p:spPr>
        <p:txBody>
          <a:bodyPr wrap="square">
            <a:spAutoFit/>
          </a:bodyPr>
          <a:lstStyle/>
          <a:p>
            <a:pPr>
              <a:buNone/>
            </a:pPr>
            <a:r>
              <a:rPr lang="es-ES" b="1" dirty="0"/>
              <a:t>Artículo 20:</a:t>
            </a:r>
            <a:r>
              <a:rPr lang="es-ES" dirty="0"/>
              <a:t> Para la evaluación y calificación del desempeño en investigación, desarrollo e innovación, el Manual de Facultad considerará, entre otras alternativas para construir los indicadores, las siguientes:</a:t>
            </a:r>
          </a:p>
        </p:txBody>
      </p:sp>
      <p:graphicFrame>
        <p:nvGraphicFramePr>
          <p:cNvPr id="9" name="Tabla 8">
            <a:extLst>
              <a:ext uri="{FF2B5EF4-FFF2-40B4-BE49-F238E27FC236}">
                <a16:creationId xmlns:a16="http://schemas.microsoft.com/office/drawing/2014/main" id="{2F14394D-4094-3922-A64C-5F97A60DA99D}"/>
              </a:ext>
            </a:extLst>
          </p:cNvPr>
          <p:cNvGraphicFramePr>
            <a:graphicFrameLocks noGrp="1"/>
          </p:cNvGraphicFramePr>
          <p:nvPr>
            <p:extLst>
              <p:ext uri="{D42A27DB-BD31-4B8C-83A1-F6EECF244321}">
                <p14:modId xmlns:p14="http://schemas.microsoft.com/office/powerpoint/2010/main" val="1184971810"/>
              </p:ext>
            </p:extLst>
          </p:nvPr>
        </p:nvGraphicFramePr>
        <p:xfrm>
          <a:off x="768730" y="4890681"/>
          <a:ext cx="13349606" cy="2560320"/>
        </p:xfrm>
        <a:graphic>
          <a:graphicData uri="http://schemas.openxmlformats.org/drawingml/2006/table">
            <a:tbl>
              <a:tblPr>
                <a:tableStyleId>{BDBED569-4797-4DF1-A0F4-6AAB3CD982D8}</a:tableStyleId>
              </a:tblPr>
              <a:tblGrid>
                <a:gridCol w="6380215">
                  <a:extLst>
                    <a:ext uri="{9D8B030D-6E8A-4147-A177-3AD203B41FA5}">
                      <a16:colId xmlns:a16="http://schemas.microsoft.com/office/drawing/2014/main" val="2634923367"/>
                    </a:ext>
                  </a:extLst>
                </a:gridCol>
                <a:gridCol w="6969391">
                  <a:extLst>
                    <a:ext uri="{9D8B030D-6E8A-4147-A177-3AD203B41FA5}">
                      <a16:colId xmlns:a16="http://schemas.microsoft.com/office/drawing/2014/main" val="3965403943"/>
                    </a:ext>
                  </a:extLst>
                </a:gridCol>
              </a:tblGrid>
              <a:tr h="0">
                <a:tc>
                  <a:txBody>
                    <a:bodyPr/>
                    <a:lstStyle/>
                    <a:p>
                      <a:pPr algn="ctr">
                        <a:buNone/>
                      </a:pPr>
                      <a:r>
                        <a:rPr lang="es-CL" b="1" dirty="0"/>
                        <a:t>Actividad</a:t>
                      </a:r>
                      <a:endParaRPr lang="es-CL" dirty="0"/>
                    </a:p>
                  </a:txBody>
                  <a:tcPr anchor="ctr"/>
                </a:tc>
                <a:tc>
                  <a:txBody>
                    <a:bodyPr/>
                    <a:lstStyle/>
                    <a:p>
                      <a:pPr algn="ctr">
                        <a:buNone/>
                      </a:pPr>
                      <a:r>
                        <a:rPr lang="es-CL" b="1" dirty="0"/>
                        <a:t>Actividad</a:t>
                      </a:r>
                      <a:endParaRPr lang="es-CL" dirty="0"/>
                    </a:p>
                  </a:txBody>
                  <a:tcPr anchor="ctr"/>
                </a:tc>
                <a:extLst>
                  <a:ext uri="{0D108BD9-81ED-4DB2-BD59-A6C34878D82A}">
                    <a16:rowId xmlns:a16="http://schemas.microsoft.com/office/drawing/2014/main" val="2672954251"/>
                  </a:ext>
                </a:extLst>
              </a:tr>
              <a:tr h="0">
                <a:tc>
                  <a:txBody>
                    <a:bodyPr/>
                    <a:lstStyle/>
                    <a:p>
                      <a:pPr>
                        <a:buNone/>
                      </a:pPr>
                      <a:r>
                        <a:rPr lang="es-CL" dirty="0"/>
                        <a:t>Proyectos de investigación postulados</a:t>
                      </a:r>
                    </a:p>
                  </a:txBody>
                  <a:tcPr anchor="ctr"/>
                </a:tc>
                <a:tc>
                  <a:txBody>
                    <a:bodyPr/>
                    <a:lstStyle/>
                    <a:p>
                      <a:pPr>
                        <a:buNone/>
                      </a:pPr>
                      <a:r>
                        <a:rPr lang="es-ES"/>
                        <a:t>Proyectos con financiamiento interno o externo</a:t>
                      </a:r>
                    </a:p>
                  </a:txBody>
                  <a:tcPr anchor="ctr"/>
                </a:tc>
                <a:extLst>
                  <a:ext uri="{0D108BD9-81ED-4DB2-BD59-A6C34878D82A}">
                    <a16:rowId xmlns:a16="http://schemas.microsoft.com/office/drawing/2014/main" val="2270198168"/>
                  </a:ext>
                </a:extLst>
              </a:tr>
              <a:tr h="0">
                <a:tc>
                  <a:txBody>
                    <a:bodyPr/>
                    <a:lstStyle/>
                    <a:p>
                      <a:pPr>
                        <a:buNone/>
                      </a:pPr>
                      <a:r>
                        <a:rPr lang="es-CL"/>
                        <a:t>Publicaciones indexadas (ISI o equivalentes)</a:t>
                      </a:r>
                    </a:p>
                  </a:txBody>
                  <a:tcPr anchor="ctr"/>
                </a:tc>
                <a:tc>
                  <a:txBody>
                    <a:bodyPr/>
                    <a:lstStyle/>
                    <a:p>
                      <a:pPr>
                        <a:buNone/>
                      </a:pPr>
                      <a:r>
                        <a:rPr lang="es-ES"/>
                        <a:t>Publicaciones en revistas de corriente principal, libros, capítulos de libros</a:t>
                      </a:r>
                    </a:p>
                  </a:txBody>
                  <a:tcPr anchor="ctr"/>
                </a:tc>
                <a:extLst>
                  <a:ext uri="{0D108BD9-81ED-4DB2-BD59-A6C34878D82A}">
                    <a16:rowId xmlns:a16="http://schemas.microsoft.com/office/drawing/2014/main" val="4200763385"/>
                  </a:ext>
                </a:extLst>
              </a:tr>
              <a:tr h="0">
                <a:tc>
                  <a:txBody>
                    <a:bodyPr/>
                    <a:lstStyle/>
                    <a:p>
                      <a:pPr>
                        <a:buNone/>
                      </a:pPr>
                      <a:r>
                        <a:rPr lang="es-CL"/>
                        <a:t>Patentes tramitadas</a:t>
                      </a:r>
                    </a:p>
                  </a:txBody>
                  <a:tcPr anchor="ctr"/>
                </a:tc>
                <a:tc>
                  <a:txBody>
                    <a:bodyPr/>
                    <a:lstStyle/>
                    <a:p>
                      <a:pPr>
                        <a:buNone/>
                      </a:pPr>
                      <a:r>
                        <a:rPr lang="es-ES"/>
                        <a:t>Desarrollo tecnológico, innovación e impactos en la competitividad</a:t>
                      </a:r>
                    </a:p>
                  </a:txBody>
                  <a:tcPr anchor="ctr"/>
                </a:tc>
                <a:extLst>
                  <a:ext uri="{0D108BD9-81ED-4DB2-BD59-A6C34878D82A}">
                    <a16:rowId xmlns:a16="http://schemas.microsoft.com/office/drawing/2014/main" val="722242436"/>
                  </a:ext>
                </a:extLst>
              </a:tr>
              <a:tr h="0">
                <a:tc>
                  <a:txBody>
                    <a:bodyPr/>
                    <a:lstStyle/>
                    <a:p>
                      <a:pPr>
                        <a:buNone/>
                      </a:pPr>
                      <a:r>
                        <a:rPr lang="es-ES"/>
                        <a:t>Índice de citas de los artículos publicados</a:t>
                      </a:r>
                    </a:p>
                  </a:txBody>
                  <a:tcPr anchor="ctr"/>
                </a:tc>
                <a:tc>
                  <a:txBody>
                    <a:bodyPr/>
                    <a:lstStyle/>
                    <a:p>
                      <a:pPr>
                        <a:buNone/>
                      </a:pPr>
                      <a:r>
                        <a:rPr lang="es-ES"/>
                        <a:t>Resultados de tesis de pregrado y postgrado</a:t>
                      </a:r>
                    </a:p>
                  </a:txBody>
                  <a:tcPr anchor="ctr"/>
                </a:tc>
                <a:extLst>
                  <a:ext uri="{0D108BD9-81ED-4DB2-BD59-A6C34878D82A}">
                    <a16:rowId xmlns:a16="http://schemas.microsoft.com/office/drawing/2014/main" val="904255370"/>
                  </a:ext>
                </a:extLst>
              </a:tr>
              <a:tr h="0">
                <a:tc>
                  <a:txBody>
                    <a:bodyPr/>
                    <a:lstStyle/>
                    <a:p>
                      <a:pPr>
                        <a:buNone/>
                      </a:pPr>
                      <a:r>
                        <a:rPr lang="es-CL"/>
                        <a:t>Reconocimientos nacionales o internacionales</a:t>
                      </a:r>
                    </a:p>
                  </a:txBody>
                  <a:tcPr anchor="ctr"/>
                </a:tc>
                <a:tc>
                  <a:txBody>
                    <a:bodyPr/>
                    <a:lstStyle/>
                    <a:p>
                      <a:pPr>
                        <a:buNone/>
                      </a:pPr>
                      <a:r>
                        <a:rPr lang="es-CL"/>
                        <a:t>Proyectos con financiamiento interno</a:t>
                      </a:r>
                    </a:p>
                  </a:txBody>
                  <a:tcPr anchor="ctr"/>
                </a:tc>
                <a:extLst>
                  <a:ext uri="{0D108BD9-81ED-4DB2-BD59-A6C34878D82A}">
                    <a16:rowId xmlns:a16="http://schemas.microsoft.com/office/drawing/2014/main" val="1118464688"/>
                  </a:ext>
                </a:extLst>
              </a:tr>
              <a:tr h="0">
                <a:tc>
                  <a:txBody>
                    <a:bodyPr/>
                    <a:lstStyle/>
                    <a:p>
                      <a:pPr>
                        <a:buNone/>
                      </a:pPr>
                      <a:r>
                        <a:rPr lang="es-ES"/>
                        <a:t>Ponencias en reuniones nacionales o internacionales</a:t>
                      </a:r>
                    </a:p>
                  </a:txBody>
                  <a:tcPr anchor="ctr"/>
                </a:tc>
                <a:tc>
                  <a:txBody>
                    <a:bodyPr/>
                    <a:lstStyle/>
                    <a:p>
                      <a:pPr>
                        <a:buNone/>
                      </a:pPr>
                      <a:endParaRPr lang="es-CL" dirty="0"/>
                    </a:p>
                  </a:txBody>
                  <a:tcPr anchor="ctr"/>
                </a:tc>
                <a:extLst>
                  <a:ext uri="{0D108BD9-81ED-4DB2-BD59-A6C34878D82A}">
                    <a16:rowId xmlns:a16="http://schemas.microsoft.com/office/drawing/2014/main" val="3045226577"/>
                  </a:ext>
                </a:extLst>
              </a:tr>
            </a:tbl>
          </a:graphicData>
        </a:graphic>
      </p:graphicFrame>
    </p:spTree>
    <p:extLst>
      <p:ext uri="{BB962C8B-B14F-4D97-AF65-F5344CB8AC3E}">
        <p14:creationId xmlns:p14="http://schemas.microsoft.com/office/powerpoint/2010/main" val="1955543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FAAD996B-D5C1-442A-0995-815036612C8B}"/>
              </a:ext>
            </a:extLst>
          </p:cNvPr>
          <p:cNvGraphicFramePr>
            <a:graphicFrameLocks noGrp="1"/>
          </p:cNvGraphicFramePr>
          <p:nvPr>
            <p:extLst>
              <p:ext uri="{D42A27DB-BD31-4B8C-83A1-F6EECF244321}">
                <p14:modId xmlns:p14="http://schemas.microsoft.com/office/powerpoint/2010/main" val="524993876"/>
              </p:ext>
            </p:extLst>
          </p:nvPr>
        </p:nvGraphicFramePr>
        <p:xfrm>
          <a:off x="407227" y="1909503"/>
          <a:ext cx="13624657" cy="5641798"/>
        </p:xfrm>
        <a:graphic>
          <a:graphicData uri="http://schemas.openxmlformats.org/drawingml/2006/table">
            <a:tbl>
              <a:tblPr>
                <a:tableStyleId>{BDBED569-4797-4DF1-A0F4-6AAB3CD982D8}</a:tableStyleId>
              </a:tblPr>
              <a:tblGrid>
                <a:gridCol w="2497469">
                  <a:extLst>
                    <a:ext uri="{9D8B030D-6E8A-4147-A177-3AD203B41FA5}">
                      <a16:colId xmlns:a16="http://schemas.microsoft.com/office/drawing/2014/main" val="4051637590"/>
                    </a:ext>
                  </a:extLst>
                </a:gridCol>
                <a:gridCol w="11127188">
                  <a:extLst>
                    <a:ext uri="{9D8B030D-6E8A-4147-A177-3AD203B41FA5}">
                      <a16:colId xmlns:a16="http://schemas.microsoft.com/office/drawing/2014/main" val="2134343351"/>
                    </a:ext>
                  </a:extLst>
                </a:gridCol>
              </a:tblGrid>
              <a:tr h="222182">
                <a:tc>
                  <a:txBody>
                    <a:bodyPr/>
                    <a:lstStyle/>
                    <a:p>
                      <a:pPr>
                        <a:buNone/>
                      </a:pPr>
                      <a:r>
                        <a:rPr lang="es-CL" sz="1800" b="1"/>
                        <a:t>Eje funcional</a:t>
                      </a:r>
                      <a:endParaRPr lang="es-CL" sz="1800"/>
                    </a:p>
                  </a:txBody>
                  <a:tcPr marL="55546" marR="55546" marT="27773" marB="27773" anchor="ctr"/>
                </a:tc>
                <a:tc>
                  <a:txBody>
                    <a:bodyPr/>
                    <a:lstStyle/>
                    <a:p>
                      <a:pPr>
                        <a:buNone/>
                      </a:pPr>
                      <a:r>
                        <a:rPr lang="es-CL" sz="1800" b="1" dirty="0"/>
                        <a:t>Descripción del rol académico</a:t>
                      </a:r>
                      <a:endParaRPr lang="es-CL" sz="1800" dirty="0"/>
                    </a:p>
                  </a:txBody>
                  <a:tcPr marL="55546" marR="55546" marT="27773" marB="27773" anchor="ctr"/>
                </a:tc>
                <a:extLst>
                  <a:ext uri="{0D108BD9-81ED-4DB2-BD59-A6C34878D82A}">
                    <a16:rowId xmlns:a16="http://schemas.microsoft.com/office/drawing/2014/main" val="2977883682"/>
                  </a:ext>
                </a:extLst>
              </a:tr>
              <a:tr h="888730">
                <a:tc>
                  <a:txBody>
                    <a:bodyPr/>
                    <a:lstStyle/>
                    <a:p>
                      <a:pPr>
                        <a:buNone/>
                      </a:pPr>
                      <a:r>
                        <a:rPr lang="es-CL" sz="1800" b="1"/>
                        <a:t>Desempeñar</a:t>
                      </a:r>
                      <a:endParaRPr lang="es-CL" sz="1800"/>
                    </a:p>
                  </a:txBody>
                  <a:tcPr marL="55546" marR="55546" marT="27773" marB="27773" anchor="ctr"/>
                </a:tc>
                <a:tc>
                  <a:txBody>
                    <a:bodyPr/>
                    <a:lstStyle/>
                    <a:p>
                      <a:pPr>
                        <a:buNone/>
                      </a:pPr>
                      <a:r>
                        <a:rPr lang="es-ES" sz="1800"/>
                        <a:t>Participa en actividades docentes asociadas a espacios de alta complejidad académica, tales como asignaturas avanzadas, programas estratégicos o instancias formativas que requieren una trayectoria consolidada. Su participación contribuye al fortalecimiento del proyecto formativo institucional.</a:t>
                      </a:r>
                    </a:p>
                  </a:txBody>
                  <a:tcPr marL="55546" marR="55546" marT="27773" marB="27773" anchor="ctr"/>
                </a:tc>
                <a:extLst>
                  <a:ext uri="{0D108BD9-81ED-4DB2-BD59-A6C34878D82A}">
                    <a16:rowId xmlns:a16="http://schemas.microsoft.com/office/drawing/2014/main" val="3791944591"/>
                  </a:ext>
                </a:extLst>
              </a:tr>
              <a:tr h="888730">
                <a:tc>
                  <a:txBody>
                    <a:bodyPr/>
                    <a:lstStyle/>
                    <a:p>
                      <a:pPr>
                        <a:buNone/>
                      </a:pPr>
                      <a:r>
                        <a:rPr lang="es-CL" sz="1800" b="1"/>
                        <a:t>Formular</a:t>
                      </a:r>
                      <a:endParaRPr lang="es-CL" sz="1800"/>
                    </a:p>
                  </a:txBody>
                  <a:tcPr marL="55546" marR="55546" marT="27773" marB="27773" anchor="ctr"/>
                </a:tc>
                <a:tc>
                  <a:txBody>
                    <a:bodyPr/>
                    <a:lstStyle/>
                    <a:p>
                      <a:pPr>
                        <a:buNone/>
                      </a:pPr>
                      <a:r>
                        <a:rPr lang="es-ES" sz="1800"/>
                        <a:t>Lidera o participa activamente en la formulación y rediseño de planes de estudio, programas de asignatura y estructuras curriculares, especialmente cuando estas corresponden al más alto nivel académico, incorporan enfoques interdisciplinarios o definen lineamientos estratégicos para la carrera o la Facultad.</a:t>
                      </a:r>
                    </a:p>
                  </a:txBody>
                  <a:tcPr marL="55546" marR="55546" marT="27773" marB="27773" anchor="ctr"/>
                </a:tc>
                <a:extLst>
                  <a:ext uri="{0D108BD9-81ED-4DB2-BD59-A6C34878D82A}">
                    <a16:rowId xmlns:a16="http://schemas.microsoft.com/office/drawing/2014/main" val="3313472095"/>
                  </a:ext>
                </a:extLst>
              </a:tr>
              <a:tr h="722093">
                <a:tc>
                  <a:txBody>
                    <a:bodyPr/>
                    <a:lstStyle/>
                    <a:p>
                      <a:pPr>
                        <a:buNone/>
                      </a:pPr>
                      <a:r>
                        <a:rPr lang="es-CL" sz="1800" b="1"/>
                        <a:t>Gestionar</a:t>
                      </a:r>
                      <a:endParaRPr lang="es-CL" sz="1800"/>
                    </a:p>
                  </a:txBody>
                  <a:tcPr marL="55546" marR="55546" marT="27773" marB="27773" anchor="ctr"/>
                </a:tc>
                <a:tc>
                  <a:txBody>
                    <a:bodyPr/>
                    <a:lstStyle/>
                    <a:p>
                      <a:pPr>
                        <a:buNone/>
                      </a:pPr>
                      <a:r>
                        <a:rPr lang="es-ES" sz="1800"/>
                        <a:t>Asume la gestión académica de iniciativas docentes de alcance institucional, tales como programas de desarrollo docente, proyectos de innovación curricular o procesos de coordinación académica vinculados al aseguramiento y mejora de la formación.</a:t>
                      </a:r>
                    </a:p>
                  </a:txBody>
                  <a:tcPr marL="55546" marR="55546" marT="27773" marB="27773" anchor="ctr"/>
                </a:tc>
                <a:extLst>
                  <a:ext uri="{0D108BD9-81ED-4DB2-BD59-A6C34878D82A}">
                    <a16:rowId xmlns:a16="http://schemas.microsoft.com/office/drawing/2014/main" val="1175887430"/>
                  </a:ext>
                </a:extLst>
              </a:tr>
              <a:tr h="722093">
                <a:tc>
                  <a:txBody>
                    <a:bodyPr/>
                    <a:lstStyle/>
                    <a:p>
                      <a:pPr>
                        <a:buNone/>
                      </a:pPr>
                      <a:r>
                        <a:rPr lang="es-CL" sz="1800" b="1"/>
                        <a:t>Representar</a:t>
                      </a:r>
                      <a:endParaRPr lang="es-CL" sz="1800"/>
                    </a:p>
                  </a:txBody>
                  <a:tcPr marL="55546" marR="55546" marT="27773" marB="27773" anchor="ctr"/>
                </a:tc>
                <a:tc>
                  <a:txBody>
                    <a:bodyPr/>
                    <a:lstStyle/>
                    <a:p>
                      <a:pPr>
                        <a:buNone/>
                      </a:pPr>
                      <a:r>
                        <a:rPr lang="es-ES" sz="1800"/>
                        <a:t>Representa a la Universidad en instancias nacionales e internacionales vinculadas a la docencia, tales como comisiones, redes académicas, encuentros o congresos, contribuyendo al posicionamiento institucional en el ámbito formativo.</a:t>
                      </a:r>
                    </a:p>
                  </a:txBody>
                  <a:tcPr marL="55546" marR="55546" marT="27773" marB="27773" anchor="ctr"/>
                </a:tc>
                <a:extLst>
                  <a:ext uri="{0D108BD9-81ED-4DB2-BD59-A6C34878D82A}">
                    <a16:rowId xmlns:a16="http://schemas.microsoft.com/office/drawing/2014/main" val="2529028356"/>
                  </a:ext>
                </a:extLst>
              </a:tr>
              <a:tr h="888730">
                <a:tc>
                  <a:txBody>
                    <a:bodyPr/>
                    <a:lstStyle/>
                    <a:p>
                      <a:pPr>
                        <a:buNone/>
                      </a:pPr>
                      <a:r>
                        <a:rPr lang="es-CL" sz="1800" b="1"/>
                        <a:t>Orientar</a:t>
                      </a:r>
                      <a:endParaRPr lang="es-CL" sz="1800"/>
                    </a:p>
                  </a:txBody>
                  <a:tcPr marL="55546" marR="55546" marT="27773" marB="27773" anchor="ctr"/>
                </a:tc>
                <a:tc>
                  <a:txBody>
                    <a:bodyPr/>
                    <a:lstStyle/>
                    <a:p>
                      <a:pPr>
                        <a:buNone/>
                      </a:pPr>
                      <a:r>
                        <a:rPr lang="es-ES" sz="1800"/>
                        <a:t>Desarrolla labores de orientación formativa de alto nivel, expresadas en la guía de tesis o trabajos de titulación complejos, multidisciplinarios o avanzados, así como en el acompañamiento académico de estudiantes y académicos en procesos formativos relevantes.</a:t>
                      </a:r>
                    </a:p>
                  </a:txBody>
                  <a:tcPr marL="55546" marR="55546" marT="27773" marB="27773" anchor="ctr"/>
                </a:tc>
                <a:extLst>
                  <a:ext uri="{0D108BD9-81ED-4DB2-BD59-A6C34878D82A}">
                    <a16:rowId xmlns:a16="http://schemas.microsoft.com/office/drawing/2014/main" val="716301566"/>
                  </a:ext>
                </a:extLst>
              </a:tr>
              <a:tr h="888730">
                <a:tc>
                  <a:txBody>
                    <a:bodyPr/>
                    <a:lstStyle/>
                    <a:p>
                      <a:pPr>
                        <a:buNone/>
                      </a:pPr>
                      <a:r>
                        <a:rPr lang="es-CL" sz="1800" b="1"/>
                        <a:t>Dirigir</a:t>
                      </a:r>
                      <a:endParaRPr lang="es-CL" sz="1800"/>
                    </a:p>
                  </a:txBody>
                  <a:tcPr marL="55546" marR="55546" marT="27773" marB="27773" anchor="ctr"/>
                </a:tc>
                <a:tc>
                  <a:txBody>
                    <a:bodyPr/>
                    <a:lstStyle/>
                    <a:p>
                      <a:pPr>
                        <a:buNone/>
                      </a:pPr>
                      <a:r>
                        <a:rPr lang="es-ES" sz="1800" dirty="0"/>
                        <a:t>Ejerce la dirección académica en el ámbito de la docencia, asumiendo responsabilidades en la conducción de unidades, programas o instancias institucionales vinculadas a la formación y participando en la definición de lineamientos y decisiones estratégicas del quehacer docente.</a:t>
                      </a:r>
                    </a:p>
                  </a:txBody>
                  <a:tcPr marL="55546" marR="55546" marT="27773" marB="27773" anchor="ctr"/>
                </a:tc>
                <a:extLst>
                  <a:ext uri="{0D108BD9-81ED-4DB2-BD59-A6C34878D82A}">
                    <a16:rowId xmlns:a16="http://schemas.microsoft.com/office/drawing/2014/main" val="3984745285"/>
                  </a:ext>
                </a:extLst>
              </a:tr>
            </a:tbl>
          </a:graphicData>
        </a:graphic>
      </p:graphicFrame>
      <p:sp>
        <p:nvSpPr>
          <p:cNvPr id="6" name="CuadroTexto 5">
            <a:extLst>
              <a:ext uri="{FF2B5EF4-FFF2-40B4-BE49-F238E27FC236}">
                <a16:creationId xmlns:a16="http://schemas.microsoft.com/office/drawing/2014/main" id="{E0A9D37B-45B0-F0CE-7478-FFCCA1B6E878}"/>
              </a:ext>
            </a:extLst>
          </p:cNvPr>
          <p:cNvSpPr txBox="1"/>
          <p:nvPr/>
        </p:nvSpPr>
        <p:spPr>
          <a:xfrm>
            <a:off x="407227" y="627827"/>
            <a:ext cx="12161615" cy="923330"/>
          </a:xfrm>
          <a:prstGeom prst="rect">
            <a:avLst/>
          </a:prstGeom>
          <a:noFill/>
        </p:spPr>
        <p:txBody>
          <a:bodyPr wrap="square">
            <a:spAutoFit/>
          </a:bodyPr>
          <a:lstStyle/>
          <a:p>
            <a:pPr>
              <a:buNone/>
            </a:pPr>
            <a:r>
              <a:rPr lang="es-ES" b="1" dirty="0"/>
              <a:t>Matriz de funciones y roles académicos</a:t>
            </a:r>
          </a:p>
          <a:p>
            <a:pPr>
              <a:buNone/>
            </a:pPr>
            <a:r>
              <a:rPr lang="es-ES" b="1" dirty="0"/>
              <a:t>Área: Docencia</a:t>
            </a:r>
          </a:p>
          <a:p>
            <a:pPr>
              <a:buNone/>
            </a:pPr>
            <a:r>
              <a:rPr lang="es-ES" b="1" dirty="0"/>
              <a:t>Jerarquía: Profesor Titular</a:t>
            </a:r>
          </a:p>
        </p:txBody>
      </p:sp>
    </p:spTree>
    <p:extLst>
      <p:ext uri="{BB962C8B-B14F-4D97-AF65-F5344CB8AC3E}">
        <p14:creationId xmlns:p14="http://schemas.microsoft.com/office/powerpoint/2010/main" val="7841981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6273BAAD-3B5A-FC95-6E74-027DE24E9DF6}"/>
              </a:ext>
            </a:extLst>
          </p:cNvPr>
          <p:cNvGraphicFramePr>
            <a:graphicFrameLocks noGrp="1"/>
          </p:cNvGraphicFramePr>
          <p:nvPr>
            <p:extLst>
              <p:ext uri="{D42A27DB-BD31-4B8C-83A1-F6EECF244321}">
                <p14:modId xmlns:p14="http://schemas.microsoft.com/office/powerpoint/2010/main" val="1187964154"/>
              </p:ext>
            </p:extLst>
          </p:nvPr>
        </p:nvGraphicFramePr>
        <p:xfrm>
          <a:off x="365760" y="2098396"/>
          <a:ext cx="14031884" cy="5380758"/>
        </p:xfrm>
        <a:graphic>
          <a:graphicData uri="http://schemas.openxmlformats.org/drawingml/2006/table">
            <a:tbl>
              <a:tblPr>
                <a:tableStyleId>{BDBED569-4797-4DF1-A0F4-6AAB3CD982D8}</a:tableStyleId>
              </a:tblPr>
              <a:tblGrid>
                <a:gridCol w="2361608">
                  <a:extLst>
                    <a:ext uri="{9D8B030D-6E8A-4147-A177-3AD203B41FA5}">
                      <a16:colId xmlns:a16="http://schemas.microsoft.com/office/drawing/2014/main" val="3693281037"/>
                    </a:ext>
                  </a:extLst>
                </a:gridCol>
                <a:gridCol w="11670276">
                  <a:extLst>
                    <a:ext uri="{9D8B030D-6E8A-4147-A177-3AD203B41FA5}">
                      <a16:colId xmlns:a16="http://schemas.microsoft.com/office/drawing/2014/main" val="1989451899"/>
                    </a:ext>
                  </a:extLst>
                </a:gridCol>
              </a:tblGrid>
              <a:tr h="215311">
                <a:tc>
                  <a:txBody>
                    <a:bodyPr/>
                    <a:lstStyle/>
                    <a:p>
                      <a:pPr>
                        <a:buNone/>
                      </a:pPr>
                      <a:r>
                        <a:rPr lang="es-CL" sz="1800" b="1"/>
                        <a:t>Eje funcional</a:t>
                      </a:r>
                      <a:endParaRPr lang="es-CL" sz="1800"/>
                    </a:p>
                  </a:txBody>
                  <a:tcPr marL="53828" marR="53828" marT="26914" marB="26914" anchor="ctr"/>
                </a:tc>
                <a:tc>
                  <a:txBody>
                    <a:bodyPr/>
                    <a:lstStyle/>
                    <a:p>
                      <a:pPr>
                        <a:buNone/>
                      </a:pPr>
                      <a:r>
                        <a:rPr lang="es-CL" sz="1800" b="1"/>
                        <a:t>Descripción del rol académico</a:t>
                      </a:r>
                      <a:endParaRPr lang="es-CL" sz="1800"/>
                    </a:p>
                  </a:txBody>
                  <a:tcPr marL="53828" marR="53828" marT="26914" marB="26914" anchor="ctr"/>
                </a:tc>
                <a:extLst>
                  <a:ext uri="{0D108BD9-81ED-4DB2-BD59-A6C34878D82A}">
                    <a16:rowId xmlns:a16="http://schemas.microsoft.com/office/drawing/2014/main" val="2749045133"/>
                  </a:ext>
                </a:extLst>
              </a:tr>
              <a:tr h="1022726">
                <a:tc>
                  <a:txBody>
                    <a:bodyPr/>
                    <a:lstStyle/>
                    <a:p>
                      <a:pPr>
                        <a:buNone/>
                      </a:pPr>
                      <a:r>
                        <a:rPr lang="es-CL" sz="1800" b="1"/>
                        <a:t>Desempeñar</a:t>
                      </a:r>
                      <a:endParaRPr lang="es-CL" sz="1800"/>
                    </a:p>
                  </a:txBody>
                  <a:tcPr marL="53828" marR="53828" marT="26914" marB="26914" anchor="ctr"/>
                </a:tc>
                <a:tc>
                  <a:txBody>
                    <a:bodyPr/>
                    <a:lstStyle/>
                    <a:p>
                      <a:pPr>
                        <a:buNone/>
                      </a:pPr>
                      <a:r>
                        <a:rPr lang="es-ES" sz="1800"/>
                        <a:t>Origina y desarrolla investigación desde una posición de autonomía académica, participando en la generación de conocimiento en líneas consolidadas o emergentes de relevancia disciplinar o interdisciplinaria. Su quehacer investigativo se inscribe en marcos de referencia reconocidos y contribuye al desarrollo académico institucional.</a:t>
                      </a:r>
                    </a:p>
                  </a:txBody>
                  <a:tcPr marL="53828" marR="53828" marT="26914" marB="26914" anchor="ctr"/>
                </a:tc>
                <a:extLst>
                  <a:ext uri="{0D108BD9-81ED-4DB2-BD59-A6C34878D82A}">
                    <a16:rowId xmlns:a16="http://schemas.microsoft.com/office/drawing/2014/main" val="3244369105"/>
                  </a:ext>
                </a:extLst>
              </a:tr>
              <a:tr h="861243">
                <a:tc>
                  <a:txBody>
                    <a:bodyPr/>
                    <a:lstStyle/>
                    <a:p>
                      <a:pPr>
                        <a:buNone/>
                      </a:pPr>
                      <a:r>
                        <a:rPr lang="es-CL" sz="1800" b="1"/>
                        <a:t>Formular</a:t>
                      </a:r>
                      <a:endParaRPr lang="es-CL" sz="1800"/>
                    </a:p>
                  </a:txBody>
                  <a:tcPr marL="53828" marR="53828" marT="26914" marB="26914" anchor="ctr"/>
                </a:tc>
                <a:tc>
                  <a:txBody>
                    <a:bodyPr/>
                    <a:lstStyle/>
                    <a:p>
                      <a:pPr>
                        <a:buNone/>
                      </a:pPr>
                      <a:r>
                        <a:rPr lang="es-ES" sz="1800"/>
                        <a:t>Formula y lidera propuestas de investigación de alcance institucional, nacional o internacional, definiendo objetivos, enfoques teóricos y metodológicos que orientan el desarrollo de líneas y programas de investigación. Participa en la definición estratégica de agendas de investigación.</a:t>
                      </a:r>
                    </a:p>
                  </a:txBody>
                  <a:tcPr marL="53828" marR="53828" marT="26914" marB="26914" anchor="ctr"/>
                </a:tc>
                <a:extLst>
                  <a:ext uri="{0D108BD9-81ED-4DB2-BD59-A6C34878D82A}">
                    <a16:rowId xmlns:a16="http://schemas.microsoft.com/office/drawing/2014/main" val="1197017848"/>
                  </a:ext>
                </a:extLst>
              </a:tr>
              <a:tr h="699760">
                <a:tc>
                  <a:txBody>
                    <a:bodyPr/>
                    <a:lstStyle/>
                    <a:p>
                      <a:pPr>
                        <a:buNone/>
                      </a:pPr>
                      <a:r>
                        <a:rPr lang="es-CL" sz="1800" b="1" dirty="0"/>
                        <a:t>Gestionar</a:t>
                      </a:r>
                      <a:endParaRPr lang="es-CL" sz="1800" dirty="0"/>
                    </a:p>
                  </a:txBody>
                  <a:tcPr marL="53828" marR="53828" marT="26914" marB="26914" anchor="ctr"/>
                </a:tc>
                <a:tc>
                  <a:txBody>
                    <a:bodyPr/>
                    <a:lstStyle/>
                    <a:p>
                      <a:pPr>
                        <a:buNone/>
                      </a:pPr>
                      <a:r>
                        <a:rPr lang="es-ES" sz="1800"/>
                        <a:t>Gestiona y conduce proyectos, líneas o centros de investigación, coordinando equipos académicos y recursos, y asegurando la continuidad y proyección de las actividades investigativas bajo su responsabilidad.</a:t>
                      </a:r>
                    </a:p>
                  </a:txBody>
                  <a:tcPr marL="53828" marR="53828" marT="26914" marB="26914" anchor="ctr"/>
                </a:tc>
                <a:extLst>
                  <a:ext uri="{0D108BD9-81ED-4DB2-BD59-A6C34878D82A}">
                    <a16:rowId xmlns:a16="http://schemas.microsoft.com/office/drawing/2014/main" val="1167686373"/>
                  </a:ext>
                </a:extLst>
              </a:tr>
              <a:tr h="861243">
                <a:tc>
                  <a:txBody>
                    <a:bodyPr/>
                    <a:lstStyle/>
                    <a:p>
                      <a:pPr>
                        <a:buNone/>
                      </a:pPr>
                      <a:r>
                        <a:rPr lang="es-CL" sz="1800" b="1"/>
                        <a:t>Representar</a:t>
                      </a:r>
                      <a:endParaRPr lang="es-CL" sz="1800"/>
                    </a:p>
                  </a:txBody>
                  <a:tcPr marL="53828" marR="53828" marT="26914" marB="26914" anchor="ctr"/>
                </a:tc>
                <a:tc>
                  <a:txBody>
                    <a:bodyPr/>
                    <a:lstStyle/>
                    <a:p>
                      <a:pPr>
                        <a:buNone/>
                      </a:pPr>
                      <a:r>
                        <a:rPr lang="es-ES" sz="1800"/>
                        <a:t>Representa a la Universidad en instancias académicas nacionales e internacionales vinculadas a la investigación, tales como redes, comités científicos, comisiones evaluadoras, congresos o espacios de discusión académica, contribuyendo al posicionamiento institucional.</a:t>
                      </a:r>
                    </a:p>
                  </a:txBody>
                  <a:tcPr marL="53828" marR="53828" marT="26914" marB="26914" anchor="ctr"/>
                </a:tc>
                <a:extLst>
                  <a:ext uri="{0D108BD9-81ED-4DB2-BD59-A6C34878D82A}">
                    <a16:rowId xmlns:a16="http://schemas.microsoft.com/office/drawing/2014/main" val="575511343"/>
                  </a:ext>
                </a:extLst>
              </a:tr>
              <a:tr h="699760">
                <a:tc>
                  <a:txBody>
                    <a:bodyPr/>
                    <a:lstStyle/>
                    <a:p>
                      <a:pPr>
                        <a:buNone/>
                      </a:pPr>
                      <a:r>
                        <a:rPr lang="es-CL" sz="1800" b="1"/>
                        <a:t>Orientar</a:t>
                      </a:r>
                      <a:endParaRPr lang="es-CL" sz="1800"/>
                    </a:p>
                  </a:txBody>
                  <a:tcPr marL="53828" marR="53828" marT="26914" marB="26914" anchor="ctr"/>
                </a:tc>
                <a:tc>
                  <a:txBody>
                    <a:bodyPr/>
                    <a:lstStyle/>
                    <a:p>
                      <a:pPr>
                        <a:buNone/>
                      </a:pPr>
                      <a:r>
                        <a:rPr lang="es-ES" sz="1800"/>
                        <a:t>Dirige la formación de nuevos investigadores mediante la supervisión de tesis, trabajos doctorales u otras instancias avanzadas de formación, orientando procesos de investigación de alta complejidad académica y disciplinar.</a:t>
                      </a:r>
                    </a:p>
                  </a:txBody>
                  <a:tcPr marL="53828" marR="53828" marT="26914" marB="26914" anchor="ctr"/>
                </a:tc>
                <a:extLst>
                  <a:ext uri="{0D108BD9-81ED-4DB2-BD59-A6C34878D82A}">
                    <a16:rowId xmlns:a16="http://schemas.microsoft.com/office/drawing/2014/main" val="3707611665"/>
                  </a:ext>
                </a:extLst>
              </a:tr>
              <a:tr h="861243">
                <a:tc>
                  <a:txBody>
                    <a:bodyPr/>
                    <a:lstStyle/>
                    <a:p>
                      <a:pPr>
                        <a:buNone/>
                      </a:pPr>
                      <a:r>
                        <a:rPr lang="es-CL" sz="1800" b="1"/>
                        <a:t>Dirigir</a:t>
                      </a:r>
                      <a:endParaRPr lang="es-CL" sz="1800"/>
                    </a:p>
                  </a:txBody>
                  <a:tcPr marL="53828" marR="53828" marT="26914" marB="26914" anchor="ctr"/>
                </a:tc>
                <a:tc>
                  <a:txBody>
                    <a:bodyPr/>
                    <a:lstStyle/>
                    <a:p>
                      <a:pPr>
                        <a:buNone/>
                      </a:pPr>
                      <a:r>
                        <a:rPr lang="es-ES" sz="1800" dirty="0"/>
                        <a:t>Ejerce la dirección académica de la investigación, asumiendo responsabilidades en la conducción de unidades, programas, centros o instancias institucionales vinculadas al desarrollo investigativo y a la definición de lineamientos estratégicos en este ámbito.</a:t>
                      </a:r>
                    </a:p>
                  </a:txBody>
                  <a:tcPr marL="53828" marR="53828" marT="26914" marB="26914" anchor="ctr"/>
                </a:tc>
                <a:extLst>
                  <a:ext uri="{0D108BD9-81ED-4DB2-BD59-A6C34878D82A}">
                    <a16:rowId xmlns:a16="http://schemas.microsoft.com/office/drawing/2014/main" val="185188552"/>
                  </a:ext>
                </a:extLst>
              </a:tr>
            </a:tbl>
          </a:graphicData>
        </a:graphic>
      </p:graphicFrame>
      <p:sp>
        <p:nvSpPr>
          <p:cNvPr id="6" name="CuadroTexto 5">
            <a:extLst>
              <a:ext uri="{FF2B5EF4-FFF2-40B4-BE49-F238E27FC236}">
                <a16:creationId xmlns:a16="http://schemas.microsoft.com/office/drawing/2014/main" id="{00259483-F99E-C6B1-59E0-F5C49AAC1C35}"/>
              </a:ext>
            </a:extLst>
          </p:cNvPr>
          <p:cNvSpPr txBox="1"/>
          <p:nvPr/>
        </p:nvSpPr>
        <p:spPr>
          <a:xfrm>
            <a:off x="365759" y="750446"/>
            <a:ext cx="7764087" cy="923330"/>
          </a:xfrm>
          <a:prstGeom prst="rect">
            <a:avLst/>
          </a:prstGeom>
          <a:noFill/>
        </p:spPr>
        <p:txBody>
          <a:bodyPr wrap="square">
            <a:spAutoFit/>
          </a:bodyPr>
          <a:lstStyle/>
          <a:p>
            <a:pPr>
              <a:buNone/>
            </a:pPr>
            <a:r>
              <a:rPr lang="es-ES" b="1" dirty="0"/>
              <a:t>Matriz de funciones y roles académicos</a:t>
            </a:r>
          </a:p>
          <a:p>
            <a:pPr>
              <a:buNone/>
            </a:pPr>
            <a:r>
              <a:rPr lang="es-ES" b="1" dirty="0"/>
              <a:t>Área: Investigación</a:t>
            </a:r>
          </a:p>
          <a:p>
            <a:pPr>
              <a:buNone/>
            </a:pPr>
            <a:r>
              <a:rPr lang="es-ES" b="1" dirty="0"/>
              <a:t>Jerarquía: Profesor Titular</a:t>
            </a:r>
          </a:p>
        </p:txBody>
      </p:sp>
    </p:spTree>
    <p:extLst>
      <p:ext uri="{BB962C8B-B14F-4D97-AF65-F5344CB8AC3E}">
        <p14:creationId xmlns:p14="http://schemas.microsoft.com/office/powerpoint/2010/main" val="1001737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F7885-DE49-A9AA-71E7-148B4BE1DAF4}"/>
              </a:ext>
            </a:extLst>
          </p:cNvPr>
          <p:cNvSpPr>
            <a:spLocks noGrp="1"/>
          </p:cNvSpPr>
          <p:nvPr>
            <p:ph type="title"/>
          </p:nvPr>
        </p:nvSpPr>
        <p:spPr>
          <a:xfrm>
            <a:off x="1005840" y="492675"/>
            <a:ext cx="7323513" cy="844218"/>
          </a:xfrm>
          <a:noFill/>
          <a:ln/>
        </p:spPr>
        <p:txBody>
          <a:bodyPr wrap="none" lIns="0" tIns="0" rIns="0" bIns="0" rtlCol="0" anchor="t"/>
          <a:lstStyle/>
          <a:p>
            <a:pPr algn="l">
              <a:lnSpc>
                <a:spcPts val="3800"/>
              </a:lnSpc>
            </a:pPr>
            <a:r>
              <a:rPr lang="es-ES" sz="3600" dirty="0">
                <a:solidFill>
                  <a:srgbClr val="020202"/>
                </a:solidFill>
                <a:latin typeface="PT Serif" pitchFamily="34" charset="0"/>
              </a:rPr>
              <a:t>Sistema de calificación y ponderaciones</a:t>
            </a:r>
            <a:endParaRPr lang="es-CL" sz="3600" dirty="0">
              <a:solidFill>
                <a:srgbClr val="020202"/>
              </a:solidFill>
              <a:latin typeface="PT Serif" pitchFamily="34" charset="0"/>
            </a:endParaRPr>
          </a:p>
        </p:txBody>
      </p:sp>
      <p:sp>
        <p:nvSpPr>
          <p:cNvPr id="5" name="CuadroTexto 4">
            <a:extLst>
              <a:ext uri="{FF2B5EF4-FFF2-40B4-BE49-F238E27FC236}">
                <a16:creationId xmlns:a16="http://schemas.microsoft.com/office/drawing/2014/main" id="{E22A96DE-A00C-9CCD-DF94-08B17523B4CC}"/>
              </a:ext>
            </a:extLst>
          </p:cNvPr>
          <p:cNvSpPr txBox="1"/>
          <p:nvPr/>
        </p:nvSpPr>
        <p:spPr>
          <a:xfrm>
            <a:off x="1005840" y="1830335"/>
            <a:ext cx="5841837" cy="682238"/>
          </a:xfrm>
          <a:prstGeom prst="rect">
            <a:avLst/>
          </a:prstGeom>
          <a:noFill/>
          <a:ln/>
        </p:spPr>
        <p:txBody>
          <a:bodyPr wrap="square" lIns="0" tIns="0" rIns="0" bIns="0" rtlCol="0" anchor="t"/>
          <a:lstStyle>
            <a:defPPr>
              <a:defRPr lang="es-CL"/>
            </a:defPPr>
            <a:lvl1pPr indent="0">
              <a:lnSpc>
                <a:spcPts val="2250"/>
              </a:lnSpc>
              <a:buNone/>
              <a:defRPr>
                <a:solidFill>
                  <a:srgbClr val="020202"/>
                </a:solidFill>
                <a:latin typeface="PT Serif" pitchFamily="34" charset="0"/>
                <a:ea typeface="PT Serif" pitchFamily="34" charset="-122"/>
                <a:cs typeface="PT Serif" pitchFamily="34" charset="-120"/>
              </a:defRPr>
            </a:lvl1pPr>
          </a:lstStyle>
          <a:p>
            <a:r>
              <a:rPr lang="es-ES" b="1" dirty="0"/>
              <a:t>a) Verificación del cumplimiento de compromisos académicos (CCA).</a:t>
            </a:r>
            <a:endParaRPr lang="es-CL" b="1" dirty="0"/>
          </a:p>
        </p:txBody>
      </p:sp>
      <p:sp>
        <p:nvSpPr>
          <p:cNvPr id="7" name="CuadroTexto 6">
            <a:extLst>
              <a:ext uri="{FF2B5EF4-FFF2-40B4-BE49-F238E27FC236}">
                <a16:creationId xmlns:a16="http://schemas.microsoft.com/office/drawing/2014/main" id="{E00C3E47-C560-22FA-4F0B-0E269BCD5E96}"/>
              </a:ext>
            </a:extLst>
          </p:cNvPr>
          <p:cNvSpPr txBox="1"/>
          <p:nvPr/>
        </p:nvSpPr>
        <p:spPr>
          <a:xfrm>
            <a:off x="936498" y="2737364"/>
            <a:ext cx="6498139" cy="1902059"/>
          </a:xfrm>
          <a:prstGeom prst="rect">
            <a:avLst/>
          </a:prstGeom>
          <a:noFill/>
        </p:spPr>
        <p:txBody>
          <a:bodyPr wrap="square">
            <a:spAutoFit/>
          </a:bodyPr>
          <a:lstStyle/>
          <a:p>
            <a:pPr>
              <a:buNone/>
            </a:pPr>
            <a:r>
              <a:rPr lang="es-ES" sz="1680" dirty="0">
                <a:latin typeface="DM Sans" pitchFamily="2" charset="0"/>
              </a:rPr>
              <a:t>Verifica el grado de cumplimiento de compromisos establecidos en los distintos ámbitos académicos</a:t>
            </a:r>
          </a:p>
          <a:p>
            <a:pPr>
              <a:buNone/>
            </a:pPr>
            <a:endParaRPr lang="es-ES" sz="1680" dirty="0">
              <a:latin typeface="DM Sans" pitchFamily="2" charset="0"/>
            </a:endParaRPr>
          </a:p>
          <a:p>
            <a:pPr>
              <a:buNone/>
            </a:pPr>
            <a:r>
              <a:rPr lang="es-ES" sz="1680" dirty="0">
                <a:latin typeface="DM Sans" pitchFamily="2" charset="0"/>
              </a:rPr>
              <a:t>Verificación objetiva a partir de evidencias: actividades, productos, responsabilidades.</a:t>
            </a:r>
          </a:p>
          <a:p>
            <a:pPr>
              <a:buNone/>
            </a:pPr>
            <a:endParaRPr lang="es-ES" sz="1680" dirty="0">
              <a:latin typeface="DM Sans" pitchFamily="2" charset="0"/>
            </a:endParaRPr>
          </a:p>
          <a:p>
            <a:pPr>
              <a:buNone/>
            </a:pPr>
            <a:r>
              <a:rPr lang="es-ES" sz="1680" dirty="0">
                <a:latin typeface="DM Sans" pitchFamily="2" charset="0"/>
              </a:rPr>
              <a:t>Sin juicios cualitativos sobre excelencia o impacto</a:t>
            </a:r>
          </a:p>
        </p:txBody>
      </p:sp>
      <p:pic>
        <p:nvPicPr>
          <p:cNvPr id="9" name="Imagen 8" descr="Tabla&#10;&#10;El contenido generado por IA puede ser incorrecto.">
            <a:extLst>
              <a:ext uri="{FF2B5EF4-FFF2-40B4-BE49-F238E27FC236}">
                <a16:creationId xmlns:a16="http://schemas.microsoft.com/office/drawing/2014/main" id="{AB07C3F9-378D-7CB3-6E26-5B9143E00C87}"/>
              </a:ext>
            </a:extLst>
          </p:cNvPr>
          <p:cNvPicPr>
            <a:picLocks noChangeAspect="1"/>
          </p:cNvPicPr>
          <p:nvPr/>
        </p:nvPicPr>
        <p:blipFill>
          <a:blip r:embed="rId2"/>
          <a:stretch>
            <a:fillRect/>
          </a:stretch>
        </p:blipFill>
        <p:spPr>
          <a:xfrm>
            <a:off x="967392" y="4992312"/>
            <a:ext cx="6119158" cy="2936492"/>
          </a:xfrm>
          <a:prstGeom prst="rect">
            <a:avLst/>
          </a:prstGeom>
        </p:spPr>
      </p:pic>
      <p:sp>
        <p:nvSpPr>
          <p:cNvPr id="11" name="CuadroTexto 10">
            <a:extLst>
              <a:ext uri="{FF2B5EF4-FFF2-40B4-BE49-F238E27FC236}">
                <a16:creationId xmlns:a16="http://schemas.microsoft.com/office/drawing/2014/main" id="{451B81CA-1933-FC4C-74C7-9314996FAB99}"/>
              </a:ext>
            </a:extLst>
          </p:cNvPr>
          <p:cNvSpPr txBox="1"/>
          <p:nvPr/>
        </p:nvSpPr>
        <p:spPr>
          <a:xfrm>
            <a:off x="7782724" y="1830334"/>
            <a:ext cx="6847676" cy="757130"/>
          </a:xfrm>
          <a:prstGeom prst="rect">
            <a:avLst/>
          </a:prstGeom>
          <a:noFill/>
          <a:ln/>
        </p:spPr>
        <p:txBody>
          <a:bodyPr wrap="square" lIns="0" tIns="0" rIns="0" bIns="0" rtlCol="0" anchor="t"/>
          <a:lstStyle>
            <a:defPPr>
              <a:defRPr lang="es-CL"/>
            </a:defPPr>
            <a:lvl1pPr indent="0">
              <a:lnSpc>
                <a:spcPts val="2250"/>
              </a:lnSpc>
              <a:buNone/>
              <a:defRPr b="1">
                <a:solidFill>
                  <a:srgbClr val="020202"/>
                </a:solidFill>
                <a:latin typeface="PT Serif" pitchFamily="34" charset="0"/>
                <a:ea typeface="PT Serif" pitchFamily="34" charset="-122"/>
                <a:cs typeface="PT Serif" pitchFamily="34" charset="-120"/>
              </a:defRPr>
            </a:lvl1pPr>
          </a:lstStyle>
          <a:p>
            <a:r>
              <a:rPr lang="es-ES" dirty="0"/>
              <a:t>b) Evaluación cualitativa del desempeño académico según jerarquía (DAJ).</a:t>
            </a:r>
            <a:endParaRPr lang="es-CL" dirty="0"/>
          </a:p>
        </p:txBody>
      </p:sp>
      <p:sp>
        <p:nvSpPr>
          <p:cNvPr id="13" name="CuadroTexto 12">
            <a:extLst>
              <a:ext uri="{FF2B5EF4-FFF2-40B4-BE49-F238E27FC236}">
                <a16:creationId xmlns:a16="http://schemas.microsoft.com/office/drawing/2014/main" id="{D40E7C8F-50F8-1BD0-008E-87FF7B9EEB2A}"/>
              </a:ext>
            </a:extLst>
          </p:cNvPr>
          <p:cNvSpPr txBox="1"/>
          <p:nvPr/>
        </p:nvSpPr>
        <p:spPr>
          <a:xfrm>
            <a:off x="7782724" y="2731969"/>
            <a:ext cx="6707567" cy="2677656"/>
          </a:xfrm>
          <a:prstGeom prst="rect">
            <a:avLst/>
          </a:prstGeom>
          <a:noFill/>
        </p:spPr>
        <p:txBody>
          <a:bodyPr wrap="square">
            <a:spAutoFit/>
          </a:bodyPr>
          <a:lstStyle>
            <a:defPPr>
              <a:defRPr lang="es-CL"/>
            </a:defPPr>
            <a:lvl1pPr>
              <a:buNone/>
              <a:defRPr sz="1680">
                <a:latin typeface="DM Sans" pitchFamily="2" charset="0"/>
              </a:defRPr>
            </a:lvl1pPr>
          </a:lstStyle>
          <a:p>
            <a:r>
              <a:rPr lang="es-ES" dirty="0"/>
              <a:t>Juicio evaluativo mediante rúbricas holísticas, diferenciadas por áreas y jerarquías.</a:t>
            </a:r>
          </a:p>
          <a:p>
            <a:endParaRPr lang="es-ES" dirty="0"/>
          </a:p>
          <a:p>
            <a:r>
              <a:rPr lang="es-ES" dirty="0"/>
              <a:t>Este componente determina en qué medida las actividades realizadas y las evidencias presentadas son coherentes con las funciones, responsabilidades y expectativas institucionales definidas para cada jerarquía académica. </a:t>
            </a:r>
          </a:p>
          <a:p>
            <a:endParaRPr lang="es-ES" dirty="0"/>
          </a:p>
          <a:p>
            <a:r>
              <a:rPr lang="es-ES" dirty="0"/>
              <a:t>Se verifica si el desempeño evidenciado es coherente con el perfil esperado para la jerarquía del académico, en términos del Decreto N°26:</a:t>
            </a:r>
          </a:p>
        </p:txBody>
      </p:sp>
      <p:sp>
        <p:nvSpPr>
          <p:cNvPr id="16" name="Shape 8">
            <a:extLst>
              <a:ext uri="{FF2B5EF4-FFF2-40B4-BE49-F238E27FC236}">
                <a16:creationId xmlns:a16="http://schemas.microsoft.com/office/drawing/2014/main" id="{1FD2E5C2-347C-147B-CA77-5905AA66AA92}"/>
              </a:ext>
            </a:extLst>
          </p:cNvPr>
          <p:cNvSpPr/>
          <p:nvPr/>
        </p:nvSpPr>
        <p:spPr>
          <a:xfrm>
            <a:off x="7940613" y="5952097"/>
            <a:ext cx="3044378" cy="643938"/>
          </a:xfrm>
          <a:prstGeom prst="roundRect">
            <a:avLst>
              <a:gd name="adj" fmla="val 4121"/>
            </a:avLst>
          </a:prstGeom>
          <a:solidFill>
            <a:srgbClr val="F2EEEE"/>
          </a:solidFill>
          <a:ln/>
        </p:spPr>
        <p:txBody>
          <a:bodyPr/>
          <a:lstStyle/>
          <a:p>
            <a:endParaRPr lang="es-CL" sz="2160"/>
          </a:p>
        </p:txBody>
      </p:sp>
      <p:sp>
        <p:nvSpPr>
          <p:cNvPr id="17" name="Text 9">
            <a:extLst>
              <a:ext uri="{FF2B5EF4-FFF2-40B4-BE49-F238E27FC236}">
                <a16:creationId xmlns:a16="http://schemas.microsoft.com/office/drawing/2014/main" id="{60D99F99-CE1B-A636-AC86-2C168AA51A1F}"/>
              </a:ext>
            </a:extLst>
          </p:cNvPr>
          <p:cNvSpPr/>
          <p:nvPr/>
        </p:nvSpPr>
        <p:spPr>
          <a:xfrm>
            <a:off x="8157924" y="6128975"/>
            <a:ext cx="2609755" cy="290179"/>
          </a:xfrm>
          <a:prstGeom prst="rect">
            <a:avLst/>
          </a:prstGeom>
          <a:noFill/>
          <a:ln/>
        </p:spPr>
        <p:txBody>
          <a:bodyPr wrap="none" lIns="0" tIns="0" rIns="0" bIns="0" rtlCol="0" anchor="t"/>
          <a:lstStyle/>
          <a:p>
            <a:pPr>
              <a:lnSpc>
                <a:spcPts val="2280"/>
              </a:lnSpc>
            </a:pPr>
            <a:r>
              <a:rPr lang="en-US" dirty="0">
                <a:solidFill>
                  <a:srgbClr val="383838"/>
                </a:solidFill>
                <a:latin typeface="PT Serif" pitchFamily="34" charset="0"/>
                <a:ea typeface="PT Serif" pitchFamily="34" charset="-122"/>
                <a:cs typeface="PT Serif" pitchFamily="34" charset="-120"/>
              </a:rPr>
              <a:t>Responsabilidad asumida</a:t>
            </a:r>
            <a:endParaRPr lang="en-US" dirty="0"/>
          </a:p>
        </p:txBody>
      </p:sp>
      <p:sp>
        <p:nvSpPr>
          <p:cNvPr id="18" name="Shape 10">
            <a:extLst>
              <a:ext uri="{FF2B5EF4-FFF2-40B4-BE49-F238E27FC236}">
                <a16:creationId xmlns:a16="http://schemas.microsoft.com/office/drawing/2014/main" id="{A8FC03CC-28E9-486B-504B-64781FBB9C1D}"/>
              </a:ext>
            </a:extLst>
          </p:cNvPr>
          <p:cNvSpPr/>
          <p:nvPr/>
        </p:nvSpPr>
        <p:spPr>
          <a:xfrm>
            <a:off x="11202303" y="5952095"/>
            <a:ext cx="3044378" cy="643938"/>
          </a:xfrm>
          <a:prstGeom prst="roundRect">
            <a:avLst>
              <a:gd name="adj" fmla="val 4121"/>
            </a:avLst>
          </a:prstGeom>
          <a:solidFill>
            <a:srgbClr val="F2EEEE"/>
          </a:solidFill>
          <a:ln/>
        </p:spPr>
        <p:txBody>
          <a:bodyPr/>
          <a:lstStyle/>
          <a:p>
            <a:endParaRPr lang="es-CL" sz="2160"/>
          </a:p>
        </p:txBody>
      </p:sp>
      <p:sp>
        <p:nvSpPr>
          <p:cNvPr id="19" name="Text 11">
            <a:extLst>
              <a:ext uri="{FF2B5EF4-FFF2-40B4-BE49-F238E27FC236}">
                <a16:creationId xmlns:a16="http://schemas.microsoft.com/office/drawing/2014/main" id="{85FC6FAE-3069-DF1E-B302-6285EA214DD3}"/>
              </a:ext>
            </a:extLst>
          </p:cNvPr>
          <p:cNvSpPr/>
          <p:nvPr/>
        </p:nvSpPr>
        <p:spPr>
          <a:xfrm>
            <a:off x="11319757" y="6078135"/>
            <a:ext cx="2867501" cy="290179"/>
          </a:xfrm>
          <a:prstGeom prst="rect">
            <a:avLst/>
          </a:prstGeom>
          <a:noFill/>
          <a:ln/>
        </p:spPr>
        <p:txBody>
          <a:bodyPr wrap="none" lIns="0" tIns="0" rIns="0" bIns="0" rtlCol="0" anchor="t"/>
          <a:lstStyle/>
          <a:p>
            <a:pPr>
              <a:lnSpc>
                <a:spcPts val="2280"/>
              </a:lnSpc>
            </a:pPr>
            <a:r>
              <a:rPr lang="en-US" dirty="0">
                <a:solidFill>
                  <a:srgbClr val="383838"/>
                </a:solidFill>
                <a:latin typeface="PT Serif" pitchFamily="34" charset="0"/>
                <a:ea typeface="PT Serif" pitchFamily="34" charset="-122"/>
                <a:cs typeface="PT Serif" pitchFamily="34" charset="-120"/>
              </a:rPr>
              <a:t>Alcance e impacto esperado</a:t>
            </a:r>
            <a:endParaRPr lang="en-US" dirty="0"/>
          </a:p>
        </p:txBody>
      </p:sp>
      <p:sp>
        <p:nvSpPr>
          <p:cNvPr id="20" name="Shape 12">
            <a:extLst>
              <a:ext uri="{FF2B5EF4-FFF2-40B4-BE49-F238E27FC236}">
                <a16:creationId xmlns:a16="http://schemas.microsoft.com/office/drawing/2014/main" id="{FBC5436D-6D2F-4E2C-51FE-E3052EEF9F36}"/>
              </a:ext>
            </a:extLst>
          </p:cNvPr>
          <p:cNvSpPr/>
          <p:nvPr/>
        </p:nvSpPr>
        <p:spPr>
          <a:xfrm>
            <a:off x="7940613" y="6804703"/>
            <a:ext cx="3025046" cy="643938"/>
          </a:xfrm>
          <a:prstGeom prst="roundRect">
            <a:avLst>
              <a:gd name="adj" fmla="val 4121"/>
            </a:avLst>
          </a:prstGeom>
          <a:solidFill>
            <a:srgbClr val="F2EEEE"/>
          </a:solidFill>
          <a:ln/>
        </p:spPr>
        <p:txBody>
          <a:bodyPr/>
          <a:lstStyle/>
          <a:p>
            <a:endParaRPr lang="es-CL" sz="2160"/>
          </a:p>
        </p:txBody>
      </p:sp>
      <p:sp>
        <p:nvSpPr>
          <p:cNvPr id="21" name="Text 13">
            <a:extLst>
              <a:ext uri="{FF2B5EF4-FFF2-40B4-BE49-F238E27FC236}">
                <a16:creationId xmlns:a16="http://schemas.microsoft.com/office/drawing/2014/main" id="{24DAB983-7BC6-426C-605E-0B01FE6EAFBC}"/>
              </a:ext>
            </a:extLst>
          </p:cNvPr>
          <p:cNvSpPr/>
          <p:nvPr/>
        </p:nvSpPr>
        <p:spPr>
          <a:xfrm>
            <a:off x="8291941" y="6981581"/>
            <a:ext cx="2341721" cy="290179"/>
          </a:xfrm>
          <a:prstGeom prst="rect">
            <a:avLst/>
          </a:prstGeom>
          <a:noFill/>
          <a:ln/>
        </p:spPr>
        <p:txBody>
          <a:bodyPr wrap="none" lIns="0" tIns="0" rIns="0" bIns="0" rtlCol="0" anchor="t"/>
          <a:lstStyle/>
          <a:p>
            <a:pPr>
              <a:lnSpc>
                <a:spcPts val="2280"/>
              </a:lnSpc>
            </a:pPr>
            <a:r>
              <a:rPr lang="en-US" dirty="0">
                <a:solidFill>
                  <a:srgbClr val="383838"/>
                </a:solidFill>
                <a:latin typeface="PT Serif" pitchFamily="34" charset="0"/>
                <a:ea typeface="PT Serif" pitchFamily="34" charset="-122"/>
                <a:cs typeface="PT Serif" pitchFamily="34" charset="-120"/>
              </a:rPr>
              <a:t>Autonomía y liderazgo</a:t>
            </a:r>
            <a:endParaRPr lang="en-US" dirty="0"/>
          </a:p>
        </p:txBody>
      </p:sp>
      <p:sp>
        <p:nvSpPr>
          <p:cNvPr id="22" name="Shape 14">
            <a:extLst>
              <a:ext uri="{FF2B5EF4-FFF2-40B4-BE49-F238E27FC236}">
                <a16:creationId xmlns:a16="http://schemas.microsoft.com/office/drawing/2014/main" id="{22E029B2-716A-B4DB-B49B-822A917FD973}"/>
              </a:ext>
            </a:extLst>
          </p:cNvPr>
          <p:cNvSpPr/>
          <p:nvPr/>
        </p:nvSpPr>
        <p:spPr>
          <a:xfrm>
            <a:off x="11231146" y="6804701"/>
            <a:ext cx="3015534" cy="643938"/>
          </a:xfrm>
          <a:prstGeom prst="roundRect">
            <a:avLst>
              <a:gd name="adj" fmla="val 4121"/>
            </a:avLst>
          </a:prstGeom>
          <a:solidFill>
            <a:srgbClr val="F2EEEE"/>
          </a:solidFill>
          <a:ln/>
        </p:spPr>
        <p:txBody>
          <a:bodyPr/>
          <a:lstStyle/>
          <a:p>
            <a:endParaRPr lang="es-CL" sz="2160"/>
          </a:p>
        </p:txBody>
      </p:sp>
      <p:sp>
        <p:nvSpPr>
          <p:cNvPr id="23" name="Text 15">
            <a:extLst>
              <a:ext uri="{FF2B5EF4-FFF2-40B4-BE49-F238E27FC236}">
                <a16:creationId xmlns:a16="http://schemas.microsoft.com/office/drawing/2014/main" id="{11B517CB-0935-8BAE-A675-2E79BCAF4108}"/>
              </a:ext>
            </a:extLst>
          </p:cNvPr>
          <p:cNvSpPr/>
          <p:nvPr/>
        </p:nvSpPr>
        <p:spPr>
          <a:xfrm>
            <a:off x="11480920" y="6981580"/>
            <a:ext cx="2545175" cy="290179"/>
          </a:xfrm>
          <a:prstGeom prst="rect">
            <a:avLst/>
          </a:prstGeom>
          <a:noFill/>
          <a:ln/>
        </p:spPr>
        <p:txBody>
          <a:bodyPr wrap="none" lIns="0" tIns="0" rIns="0" bIns="0" rtlCol="0" anchor="t"/>
          <a:lstStyle/>
          <a:p>
            <a:pPr>
              <a:lnSpc>
                <a:spcPts val="2280"/>
              </a:lnSpc>
            </a:pPr>
            <a:r>
              <a:rPr lang="en-US" dirty="0">
                <a:solidFill>
                  <a:srgbClr val="383838"/>
                </a:solidFill>
                <a:latin typeface="PT Serif" pitchFamily="34" charset="0"/>
                <a:ea typeface="PT Serif" pitchFamily="34" charset="-122"/>
                <a:cs typeface="PT Serif" pitchFamily="34" charset="-120"/>
              </a:rPr>
              <a:t>Contribuciones por nivel</a:t>
            </a:r>
            <a:endParaRPr lang="en-US" dirty="0"/>
          </a:p>
        </p:txBody>
      </p:sp>
    </p:spTree>
    <p:extLst>
      <p:ext uri="{BB962C8B-B14F-4D97-AF65-F5344CB8AC3E}">
        <p14:creationId xmlns:p14="http://schemas.microsoft.com/office/powerpoint/2010/main" val="8304442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9B07431-B3FF-96E5-C574-42DF8631EF89}"/>
            </a:ext>
          </a:extLst>
        </p:cNvPr>
        <p:cNvGrpSpPr/>
        <p:nvPr/>
      </p:nvGrpSpPr>
      <p:grpSpPr>
        <a:xfrm>
          <a:off x="0" y="0"/>
          <a:ext cx="0" cy="0"/>
          <a:chOff x="0" y="0"/>
          <a:chExt cx="0" cy="0"/>
        </a:xfrm>
      </p:grpSpPr>
      <p:pic>
        <p:nvPicPr>
          <p:cNvPr id="84" name="Google Shape;84;p13" descr="image.png">
            <a:extLst>
              <a:ext uri="{FF2B5EF4-FFF2-40B4-BE49-F238E27FC236}">
                <a16:creationId xmlns:a16="http://schemas.microsoft.com/office/drawing/2014/main" id="{7117602F-EB19-7339-F603-D3BC39C2EE09}"/>
              </a:ext>
            </a:extLst>
          </p:cNvPr>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85" name="Google Shape;85;p13">
            <a:extLst>
              <a:ext uri="{FF2B5EF4-FFF2-40B4-BE49-F238E27FC236}">
                <a16:creationId xmlns:a16="http://schemas.microsoft.com/office/drawing/2014/main" id="{9BFCD6D8-6FD0-D0F7-B6B9-57ED38B22000}"/>
              </a:ext>
            </a:extLst>
          </p:cNvPr>
          <p:cNvSpPr txBox="1"/>
          <p:nvPr/>
        </p:nvSpPr>
        <p:spPr>
          <a:xfrm>
            <a:off x="685801" y="1694140"/>
            <a:ext cx="10801350" cy="1950021"/>
          </a:xfrm>
          <a:prstGeom prst="rect">
            <a:avLst/>
          </a:prstGeom>
          <a:noFill/>
          <a:ln>
            <a:noFill/>
          </a:ln>
        </p:spPr>
        <p:txBody>
          <a:bodyPr spcFirstLastPara="1" wrap="square" lIns="0" tIns="0" rIns="0" bIns="0" anchor="t" anchorCtr="0">
            <a:spAutoFit/>
          </a:bodyPr>
          <a:lstStyle/>
          <a:p>
            <a:pPr>
              <a:lnSpc>
                <a:spcPct val="110000"/>
              </a:lnSpc>
            </a:pPr>
            <a:r>
              <a:rPr lang="es-ES" sz="5760" dirty="0">
                <a:solidFill>
                  <a:schemeClr val="tx1">
                    <a:lumMod val="75000"/>
                    <a:lumOff val="25000"/>
                  </a:schemeClr>
                </a:solidFill>
                <a:latin typeface="Merriweather Black"/>
                <a:ea typeface="Merriweather Black"/>
                <a:cs typeface="Merriweather Black"/>
                <a:sym typeface="Merriweather Black"/>
              </a:rPr>
              <a:t>Ejemplos de buenas prácticas</a:t>
            </a:r>
          </a:p>
        </p:txBody>
      </p:sp>
      <p:sp>
        <p:nvSpPr>
          <p:cNvPr id="86" name="Google Shape;86;p13">
            <a:extLst>
              <a:ext uri="{FF2B5EF4-FFF2-40B4-BE49-F238E27FC236}">
                <a16:creationId xmlns:a16="http://schemas.microsoft.com/office/drawing/2014/main" id="{9587FCBA-1BD5-5460-BC71-03D496283884}"/>
              </a:ext>
            </a:extLst>
          </p:cNvPr>
          <p:cNvSpPr txBox="1"/>
          <p:nvPr/>
        </p:nvSpPr>
        <p:spPr>
          <a:xfrm>
            <a:off x="685800" y="3807384"/>
            <a:ext cx="10287000" cy="1240981"/>
          </a:xfrm>
          <a:prstGeom prst="rect">
            <a:avLst/>
          </a:prstGeom>
          <a:noFill/>
          <a:ln>
            <a:noFill/>
          </a:ln>
        </p:spPr>
        <p:txBody>
          <a:bodyPr spcFirstLastPara="1" wrap="square" lIns="0" tIns="0" rIns="0" bIns="0" anchor="t" anchorCtr="0">
            <a:spAutoFit/>
          </a:bodyPr>
          <a:lstStyle/>
          <a:p>
            <a:pPr>
              <a:lnSpc>
                <a:spcPct val="159952"/>
              </a:lnSpc>
            </a:pPr>
            <a:r>
              <a:rPr lang="es-ES" sz="2520" b="1" dirty="0">
                <a:solidFill>
                  <a:schemeClr val="accent1">
                    <a:lumMod val="75000"/>
                  </a:schemeClr>
                </a:solidFill>
                <a:latin typeface="Lato"/>
                <a:ea typeface="Lato"/>
                <a:cs typeface="Lato"/>
                <a:sym typeface="Lato"/>
              </a:rPr>
              <a:t>Casos de la Universidad de Kansas y el Fondo Nacional para la Investigación en Nueva Zelanda (PBRF)</a:t>
            </a:r>
          </a:p>
        </p:txBody>
      </p:sp>
      <p:sp>
        <p:nvSpPr>
          <p:cNvPr id="87" name="Google Shape;87;p13">
            <a:extLst>
              <a:ext uri="{FF2B5EF4-FFF2-40B4-BE49-F238E27FC236}">
                <a16:creationId xmlns:a16="http://schemas.microsoft.com/office/drawing/2014/main" id="{51918234-F61E-7641-FA1B-76874B14B8F6}"/>
              </a:ext>
            </a:extLst>
          </p:cNvPr>
          <p:cNvSpPr/>
          <p:nvPr/>
        </p:nvSpPr>
        <p:spPr>
          <a:xfrm>
            <a:off x="685800" y="5282802"/>
            <a:ext cx="1143000" cy="45720"/>
          </a:xfrm>
          <a:prstGeom prst="rect">
            <a:avLst/>
          </a:prstGeom>
          <a:solidFill>
            <a:srgbClr val="EA5B0C"/>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88" name="Google Shape;88;p13">
            <a:extLst>
              <a:ext uri="{FF2B5EF4-FFF2-40B4-BE49-F238E27FC236}">
                <a16:creationId xmlns:a16="http://schemas.microsoft.com/office/drawing/2014/main" id="{9665D06C-7A44-7E97-9280-31C9FC592285}"/>
              </a:ext>
            </a:extLst>
          </p:cNvPr>
          <p:cNvSpPr txBox="1"/>
          <p:nvPr/>
        </p:nvSpPr>
        <p:spPr>
          <a:xfrm>
            <a:off x="685800" y="5671423"/>
            <a:ext cx="10287000" cy="299184"/>
          </a:xfrm>
          <a:prstGeom prst="rect">
            <a:avLst/>
          </a:prstGeom>
          <a:noFill/>
          <a:ln>
            <a:noFill/>
          </a:ln>
        </p:spPr>
        <p:txBody>
          <a:bodyPr spcFirstLastPara="1" wrap="square" lIns="0" tIns="0" rIns="0" bIns="0" anchor="t" anchorCtr="0">
            <a:spAutoFit/>
          </a:bodyPr>
          <a:lstStyle/>
          <a:p>
            <a:pPr>
              <a:lnSpc>
                <a:spcPct val="120000"/>
              </a:lnSpc>
            </a:pPr>
            <a:r>
              <a:rPr lang="en-US" sz="1620" dirty="0">
                <a:solidFill>
                  <a:srgbClr val="64748B"/>
                </a:solidFill>
                <a:latin typeface="Lato"/>
                <a:ea typeface="Lato"/>
                <a:cs typeface="Lato"/>
                <a:sym typeface="Lato"/>
              </a:rPr>
              <a:t> </a:t>
            </a:r>
            <a:r>
              <a:rPr lang="en-US" sz="1620" dirty="0" err="1">
                <a:solidFill>
                  <a:srgbClr val="64748B"/>
                </a:solidFill>
                <a:latin typeface="Lato"/>
                <a:ea typeface="Lato"/>
                <a:cs typeface="Lato"/>
                <a:sym typeface="Lato"/>
              </a:rPr>
              <a:t>Enero</a:t>
            </a:r>
            <a:r>
              <a:rPr lang="en-US" sz="1620" dirty="0">
                <a:solidFill>
                  <a:srgbClr val="64748B"/>
                </a:solidFill>
                <a:latin typeface="Lato"/>
                <a:ea typeface="Lato"/>
                <a:cs typeface="Lato"/>
                <a:sym typeface="Lato"/>
              </a:rPr>
              <a:t> 2026</a:t>
            </a:r>
            <a:endParaRPr sz="2160" dirty="0"/>
          </a:p>
        </p:txBody>
      </p:sp>
    </p:spTree>
    <p:extLst>
      <p:ext uri="{BB962C8B-B14F-4D97-AF65-F5344CB8AC3E}">
        <p14:creationId xmlns:p14="http://schemas.microsoft.com/office/powerpoint/2010/main" val="2217254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2171700" y="1698606"/>
            <a:ext cx="10287000" cy="4832389"/>
          </a:xfrm>
          <a:prstGeom prst="rect">
            <a:avLst/>
          </a:prstGeom>
          <a:noFill/>
          <a:ln>
            <a:noFill/>
          </a:ln>
        </p:spPr>
      </p:pic>
      <p:sp>
        <p:nvSpPr>
          <p:cNvPr id="86" name="Google Shape;86;p13"/>
          <p:cNvSpPr txBox="1"/>
          <p:nvPr/>
        </p:nvSpPr>
        <p:spPr>
          <a:xfrm>
            <a:off x="2634615" y="2384405"/>
            <a:ext cx="9361170" cy="1994392"/>
          </a:xfrm>
          <a:prstGeom prst="rect">
            <a:avLst/>
          </a:prstGeom>
          <a:noFill/>
          <a:ln>
            <a:noFill/>
          </a:ln>
        </p:spPr>
        <p:txBody>
          <a:bodyPr spcFirstLastPara="1" wrap="square" lIns="0" tIns="0" rIns="0" bIns="0" anchor="t" anchorCtr="0">
            <a:spAutoFit/>
          </a:bodyPr>
          <a:lstStyle/>
          <a:p>
            <a:pPr algn="ctr"/>
            <a:r>
              <a:rPr lang="en-US" sz="6480" b="1">
                <a:solidFill>
                  <a:srgbClr val="F3F0DF"/>
                </a:solidFill>
                <a:latin typeface="Merriweather"/>
                <a:ea typeface="Merriweather"/>
                <a:cs typeface="Merriweather"/>
                <a:sym typeface="Merriweather"/>
              </a:rPr>
              <a:t>Estándares de Efectividad Docente</a:t>
            </a:r>
            <a:endParaRPr sz="2160"/>
          </a:p>
        </p:txBody>
      </p:sp>
      <p:sp>
        <p:nvSpPr>
          <p:cNvPr id="87" name="Google Shape;87;p13"/>
          <p:cNvSpPr txBox="1"/>
          <p:nvPr/>
        </p:nvSpPr>
        <p:spPr>
          <a:xfrm>
            <a:off x="2857500" y="4693266"/>
            <a:ext cx="8915400" cy="1063625"/>
          </a:xfrm>
          <a:prstGeom prst="rect">
            <a:avLst/>
          </a:prstGeom>
          <a:noFill/>
          <a:ln>
            <a:noFill/>
          </a:ln>
        </p:spPr>
        <p:txBody>
          <a:bodyPr spcFirstLastPara="1" wrap="square" lIns="0" tIns="0" rIns="0" bIns="0" anchor="t" anchorCtr="0">
            <a:spAutoFit/>
          </a:bodyPr>
          <a:lstStyle/>
          <a:p>
            <a:pPr algn="ctr">
              <a:lnSpc>
                <a:spcPct val="159944"/>
              </a:lnSpc>
            </a:pPr>
            <a:r>
              <a:rPr lang="en-US" sz="2160">
                <a:solidFill>
                  <a:srgbClr val="F3F0DF"/>
                </a:solidFill>
                <a:latin typeface="DM Sans"/>
                <a:ea typeface="DM Sans"/>
                <a:cs typeface="DM Sans"/>
                <a:sym typeface="DM Sans"/>
              </a:rPr>
              <a:t>Un marco integral para la evaluación y mejora de la enseñanza</a:t>
            </a:r>
            <a:br>
              <a:rPr lang="en-US" sz="2160">
                <a:solidFill>
                  <a:schemeClr val="dk1"/>
                </a:solidFill>
                <a:latin typeface="Calibri"/>
                <a:ea typeface="Calibri"/>
                <a:cs typeface="Calibri"/>
                <a:sym typeface="Calibri"/>
              </a:rPr>
            </a:br>
            <a:r>
              <a:rPr lang="en-US" sz="2160">
                <a:solidFill>
                  <a:srgbClr val="F3F0DF"/>
                </a:solidFill>
                <a:latin typeface="DM Sans"/>
                <a:ea typeface="DM Sans"/>
                <a:cs typeface="DM Sans"/>
                <a:sym typeface="DM Sans"/>
              </a:rPr>
              <a:t> University of Kansas - Center for Teaching Excellence</a:t>
            </a:r>
            <a:endParaRPr sz="216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685801" y="2897505"/>
            <a:ext cx="6343650" cy="380619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7600951" y="2897505"/>
            <a:ext cx="6343650" cy="3806190"/>
          </a:xfrm>
          <a:prstGeom prst="rect">
            <a:avLst/>
          </a:prstGeom>
          <a:noFill/>
          <a:ln>
            <a:noFill/>
          </a:ln>
        </p:spPr>
      </p:pic>
      <p:sp>
        <p:nvSpPr>
          <p:cNvPr id="95" name="Google Shape;95;p14"/>
          <p:cNvSpPr txBox="1"/>
          <p:nvPr/>
        </p:nvSpPr>
        <p:spPr>
          <a:xfrm>
            <a:off x="1154431" y="3366134"/>
            <a:ext cx="5676709" cy="387798"/>
          </a:xfrm>
          <a:prstGeom prst="rect">
            <a:avLst/>
          </a:prstGeom>
          <a:noFill/>
          <a:ln>
            <a:noFill/>
          </a:ln>
        </p:spPr>
        <p:txBody>
          <a:bodyPr spcFirstLastPara="1" wrap="square" lIns="0" tIns="0" rIns="0" bIns="0" anchor="t" anchorCtr="0">
            <a:spAutoFit/>
          </a:bodyPr>
          <a:lstStyle/>
          <a:p>
            <a:r>
              <a:rPr lang="en-US" sz="2520" b="1">
                <a:solidFill>
                  <a:srgbClr val="005088"/>
                </a:solidFill>
                <a:latin typeface="Merriweather"/>
                <a:ea typeface="Merriweather"/>
                <a:cs typeface="Merriweather"/>
                <a:sym typeface="Merriweather"/>
              </a:rPr>
              <a:t>¿Qué es?</a:t>
            </a:r>
            <a:endParaRPr sz="2160"/>
          </a:p>
        </p:txBody>
      </p:sp>
      <p:sp>
        <p:nvSpPr>
          <p:cNvPr id="96" name="Google Shape;96;p14"/>
          <p:cNvSpPr txBox="1"/>
          <p:nvPr/>
        </p:nvSpPr>
        <p:spPr>
          <a:xfrm>
            <a:off x="1154431" y="4177664"/>
            <a:ext cx="5406390" cy="2215991"/>
          </a:xfrm>
          <a:prstGeom prst="rect">
            <a:avLst/>
          </a:prstGeom>
          <a:noFill/>
          <a:ln>
            <a:noFill/>
          </a:ln>
        </p:spPr>
        <p:txBody>
          <a:bodyPr spcFirstLastPara="1" wrap="square" lIns="0" tIns="0" rIns="0" bIns="0" anchor="t" anchorCtr="0">
            <a:spAutoFit/>
          </a:bodyPr>
          <a:lstStyle/>
          <a:p>
            <a:pPr>
              <a:lnSpc>
                <a:spcPct val="160000"/>
              </a:lnSpc>
            </a:pPr>
            <a:r>
              <a:rPr lang="en-US">
                <a:solidFill>
                  <a:srgbClr val="334155"/>
                </a:solidFill>
                <a:latin typeface="DM Sans"/>
                <a:ea typeface="DM Sans"/>
                <a:cs typeface="DM Sans"/>
                <a:sym typeface="DM Sans"/>
              </a:rPr>
              <a:t>Es una rúbrica multidimensional desarrollada para apoyar mejores métodos de revisión, documentación y evaluación de la enseñanza. Busca capturar la labor docente en su totalidad, más allá de una sola métrica.</a:t>
            </a:r>
            <a:endParaRPr sz="2160"/>
          </a:p>
        </p:txBody>
      </p:sp>
      <p:sp>
        <p:nvSpPr>
          <p:cNvPr id="97" name="Google Shape;97;p14"/>
          <p:cNvSpPr txBox="1"/>
          <p:nvPr/>
        </p:nvSpPr>
        <p:spPr>
          <a:xfrm>
            <a:off x="8069581" y="3366134"/>
            <a:ext cx="5676709" cy="387798"/>
          </a:xfrm>
          <a:prstGeom prst="rect">
            <a:avLst/>
          </a:prstGeom>
          <a:noFill/>
          <a:ln>
            <a:noFill/>
          </a:ln>
        </p:spPr>
        <p:txBody>
          <a:bodyPr spcFirstLastPara="1" wrap="square" lIns="0" tIns="0" rIns="0" bIns="0" anchor="t" anchorCtr="0">
            <a:spAutoFit/>
          </a:bodyPr>
          <a:lstStyle/>
          <a:p>
            <a:r>
              <a:rPr lang="en-US" sz="2520" b="1">
                <a:solidFill>
                  <a:srgbClr val="005088"/>
                </a:solidFill>
                <a:latin typeface="Merriweather"/>
                <a:ea typeface="Merriweather"/>
                <a:cs typeface="Merriweather"/>
                <a:sym typeface="Merriweather"/>
              </a:rPr>
              <a:t>Flexibilidad</a:t>
            </a:r>
            <a:endParaRPr sz="2160"/>
          </a:p>
        </p:txBody>
      </p:sp>
      <p:sp>
        <p:nvSpPr>
          <p:cNvPr id="98" name="Google Shape;98;p14"/>
          <p:cNvSpPr txBox="1"/>
          <p:nvPr/>
        </p:nvSpPr>
        <p:spPr>
          <a:xfrm>
            <a:off x="8069581" y="4177664"/>
            <a:ext cx="5406390" cy="2215991"/>
          </a:xfrm>
          <a:prstGeom prst="rect">
            <a:avLst/>
          </a:prstGeom>
          <a:noFill/>
          <a:ln>
            <a:noFill/>
          </a:ln>
        </p:spPr>
        <p:txBody>
          <a:bodyPr spcFirstLastPara="1" wrap="square" lIns="0" tIns="0" rIns="0" bIns="0" anchor="t" anchorCtr="0">
            <a:spAutoFit/>
          </a:bodyPr>
          <a:lstStyle/>
          <a:p>
            <a:pPr>
              <a:lnSpc>
                <a:spcPct val="160000"/>
              </a:lnSpc>
            </a:pPr>
            <a:r>
              <a:rPr lang="en-US">
                <a:solidFill>
                  <a:srgbClr val="334155"/>
                </a:solidFill>
                <a:latin typeface="DM Sans"/>
                <a:ea typeface="DM Sans"/>
                <a:cs typeface="DM Sans"/>
                <a:sym typeface="DM Sans"/>
              </a:rPr>
              <a:t>El marco incluye preguntas guía, expectativas definidas y fuentes de evidencia. Se anima a los departamentos a adaptar la rúbrica para ajustarse a las expectativas disciplinarias y ponderar las áreas más significativas.</a:t>
            </a:r>
            <a:endParaRPr sz="2160"/>
          </a:p>
        </p:txBody>
      </p:sp>
      <p:sp>
        <p:nvSpPr>
          <p:cNvPr id="99" name="Google Shape;99;p14"/>
          <p:cNvSpPr txBox="1"/>
          <p:nvPr/>
        </p:nvSpPr>
        <p:spPr>
          <a:xfrm>
            <a:off x="685800" y="685801"/>
            <a:ext cx="13921740" cy="664797"/>
          </a:xfrm>
          <a:prstGeom prst="rect">
            <a:avLst/>
          </a:prstGeom>
          <a:noFill/>
          <a:ln>
            <a:noFill/>
          </a:ln>
        </p:spPr>
        <p:txBody>
          <a:bodyPr spcFirstLastPara="1" wrap="square" lIns="0" tIns="0" rIns="0" bIns="0" anchor="t" anchorCtr="0">
            <a:spAutoFit/>
          </a:bodyPr>
          <a:lstStyle/>
          <a:p>
            <a:r>
              <a:rPr lang="en-US" sz="4320" b="1">
                <a:solidFill>
                  <a:srgbClr val="005088"/>
                </a:solidFill>
                <a:latin typeface="Merriweather"/>
                <a:ea typeface="Merriweather"/>
                <a:cs typeface="Merriweather"/>
                <a:sym typeface="Merriweather"/>
              </a:rPr>
              <a:t>Visión General del Marco</a:t>
            </a:r>
            <a:endParaRPr sz="216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8"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50" name="Google Shape;150;p18" descr="image.png"/>
          <p:cNvPicPr preferRelativeResize="0"/>
          <p:nvPr/>
        </p:nvPicPr>
        <p:blipFill rotWithShape="1">
          <a:blip r:embed="rId4">
            <a:alphaModFix/>
          </a:blip>
          <a:srcRect/>
          <a:stretch/>
        </p:blipFill>
        <p:spPr>
          <a:xfrm>
            <a:off x="7600951" y="5945921"/>
            <a:ext cx="6343650" cy="1115496"/>
          </a:xfrm>
          <a:prstGeom prst="rect">
            <a:avLst/>
          </a:prstGeom>
          <a:noFill/>
          <a:ln>
            <a:noFill/>
          </a:ln>
        </p:spPr>
      </p:pic>
      <p:sp>
        <p:nvSpPr>
          <p:cNvPr id="151" name="Google Shape;151;p18"/>
          <p:cNvSpPr/>
          <p:nvPr/>
        </p:nvSpPr>
        <p:spPr>
          <a:xfrm>
            <a:off x="685801" y="2743200"/>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52" name="Google Shape;152;p18"/>
          <p:cNvSpPr txBox="1"/>
          <p:nvPr/>
        </p:nvSpPr>
        <p:spPr>
          <a:xfrm>
            <a:off x="1543051" y="2944511"/>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1. Metas, Contenido y Alineación</a:t>
            </a:r>
            <a:endParaRPr sz="2160"/>
          </a:p>
        </p:txBody>
      </p:sp>
      <p:sp>
        <p:nvSpPr>
          <p:cNvPr id="153" name="Google Shape;153;p18"/>
          <p:cNvSpPr/>
          <p:nvPr/>
        </p:nvSpPr>
        <p:spPr>
          <a:xfrm>
            <a:off x="685801" y="3817620"/>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54" name="Google Shape;154;p18"/>
          <p:cNvSpPr txBox="1"/>
          <p:nvPr/>
        </p:nvSpPr>
        <p:spPr>
          <a:xfrm>
            <a:off x="1543051" y="4018931"/>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2. Prácticas de Enseñanza</a:t>
            </a:r>
            <a:endParaRPr sz="2160"/>
          </a:p>
        </p:txBody>
      </p:sp>
      <p:sp>
        <p:nvSpPr>
          <p:cNvPr id="155" name="Google Shape;155;p18"/>
          <p:cNvSpPr/>
          <p:nvPr/>
        </p:nvSpPr>
        <p:spPr>
          <a:xfrm>
            <a:off x="685801" y="4892040"/>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56" name="Google Shape;156;p18"/>
          <p:cNvSpPr txBox="1"/>
          <p:nvPr/>
        </p:nvSpPr>
        <p:spPr>
          <a:xfrm>
            <a:off x="1543051" y="5093351"/>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3. Clima de la Clase</a:t>
            </a:r>
            <a:endParaRPr sz="2160"/>
          </a:p>
        </p:txBody>
      </p:sp>
      <p:sp>
        <p:nvSpPr>
          <p:cNvPr id="157" name="Google Shape;157;p18"/>
          <p:cNvSpPr/>
          <p:nvPr/>
        </p:nvSpPr>
        <p:spPr>
          <a:xfrm>
            <a:off x="685801" y="5966460"/>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58" name="Google Shape;158;p18"/>
          <p:cNvSpPr txBox="1"/>
          <p:nvPr/>
        </p:nvSpPr>
        <p:spPr>
          <a:xfrm>
            <a:off x="1543051" y="6167771"/>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4. Logro de Resultados de Aprendizaje</a:t>
            </a:r>
            <a:endParaRPr sz="2160"/>
          </a:p>
        </p:txBody>
      </p:sp>
      <p:sp>
        <p:nvSpPr>
          <p:cNvPr id="159" name="Google Shape;159;p18"/>
          <p:cNvSpPr/>
          <p:nvPr/>
        </p:nvSpPr>
        <p:spPr>
          <a:xfrm>
            <a:off x="7600951" y="2722661"/>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0" name="Google Shape;160;p18"/>
          <p:cNvSpPr txBox="1"/>
          <p:nvPr/>
        </p:nvSpPr>
        <p:spPr>
          <a:xfrm>
            <a:off x="8458201" y="2923972"/>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5. Reflexión y Crecimiento Iterativo</a:t>
            </a:r>
            <a:endParaRPr sz="2160"/>
          </a:p>
        </p:txBody>
      </p:sp>
      <p:sp>
        <p:nvSpPr>
          <p:cNvPr id="161" name="Google Shape;161;p18"/>
          <p:cNvSpPr/>
          <p:nvPr/>
        </p:nvSpPr>
        <p:spPr>
          <a:xfrm>
            <a:off x="7600951" y="3797081"/>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2" name="Google Shape;162;p18"/>
          <p:cNvSpPr txBox="1"/>
          <p:nvPr/>
        </p:nvSpPr>
        <p:spPr>
          <a:xfrm>
            <a:off x="8458201" y="3998392"/>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6. Mentoría y Asesoramiento</a:t>
            </a:r>
            <a:endParaRPr sz="2160"/>
          </a:p>
        </p:txBody>
      </p:sp>
      <p:sp>
        <p:nvSpPr>
          <p:cNvPr id="163" name="Google Shape;163;p18"/>
          <p:cNvSpPr/>
          <p:nvPr/>
        </p:nvSpPr>
        <p:spPr>
          <a:xfrm>
            <a:off x="7600951" y="4871501"/>
            <a:ext cx="6343650" cy="845820"/>
          </a:xfrm>
          <a:prstGeom prst="roundRect">
            <a:avLst>
              <a:gd name="adj" fmla="val 10810"/>
            </a:avLst>
          </a:prstGeom>
          <a:solidFill>
            <a:srgbClr val="FFFFFF"/>
          </a:solidFill>
          <a:ln w="9525" cap="flat" cmpd="sng">
            <a:solidFill>
              <a:srgbClr val="E2E8F0"/>
            </a:solidFill>
            <a:prstDash val="solid"/>
            <a:round/>
            <a:headEnd type="none" w="sm" len="sm"/>
            <a:tailEnd type="none" w="sm" len="sm"/>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4" name="Google Shape;164;p18"/>
          <p:cNvSpPr txBox="1"/>
          <p:nvPr/>
        </p:nvSpPr>
        <p:spPr>
          <a:xfrm>
            <a:off x="8458201" y="5072812"/>
            <a:ext cx="520065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334155"/>
                </a:solidFill>
                <a:latin typeface="DM Sans"/>
                <a:ea typeface="DM Sans"/>
                <a:cs typeface="DM Sans"/>
                <a:sym typeface="DM Sans"/>
              </a:rPr>
              <a:t>7. Involucramiento en la Comunidad</a:t>
            </a:r>
            <a:endParaRPr sz="2160"/>
          </a:p>
        </p:txBody>
      </p:sp>
      <p:sp>
        <p:nvSpPr>
          <p:cNvPr id="165" name="Google Shape;165;p18"/>
          <p:cNvSpPr txBox="1"/>
          <p:nvPr/>
        </p:nvSpPr>
        <p:spPr>
          <a:xfrm>
            <a:off x="7886700" y="6174521"/>
            <a:ext cx="5829300" cy="797782"/>
          </a:xfrm>
          <a:prstGeom prst="rect">
            <a:avLst/>
          </a:prstGeom>
          <a:noFill/>
          <a:ln>
            <a:noFill/>
          </a:ln>
        </p:spPr>
        <p:txBody>
          <a:bodyPr spcFirstLastPara="1" wrap="square" lIns="320040" tIns="0" rIns="0" bIns="0" anchor="t" anchorCtr="0">
            <a:spAutoFit/>
          </a:bodyPr>
          <a:lstStyle/>
          <a:p>
            <a:pPr>
              <a:lnSpc>
                <a:spcPct val="160000"/>
              </a:lnSpc>
            </a:pPr>
            <a:r>
              <a:rPr lang="en-US" sz="1620">
                <a:solidFill>
                  <a:srgbClr val="005088"/>
                </a:solidFill>
                <a:latin typeface="DM Sans"/>
                <a:ea typeface="DM Sans"/>
                <a:cs typeface="DM Sans"/>
                <a:sym typeface="DM Sans"/>
              </a:rPr>
              <a:t>Estas dimensiones están diseñadas para capturar la enseñanza en su totalidad.</a:t>
            </a:r>
            <a:endParaRPr sz="2160"/>
          </a:p>
        </p:txBody>
      </p:sp>
      <p:sp>
        <p:nvSpPr>
          <p:cNvPr id="166" name="Google Shape;166;p18"/>
          <p:cNvSpPr/>
          <p:nvPr/>
        </p:nvSpPr>
        <p:spPr>
          <a:xfrm>
            <a:off x="685801" y="357759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7" name="Google Shape;167;p18"/>
          <p:cNvSpPr/>
          <p:nvPr/>
        </p:nvSpPr>
        <p:spPr>
          <a:xfrm>
            <a:off x="685801" y="465201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8" name="Google Shape;168;p18"/>
          <p:cNvSpPr/>
          <p:nvPr/>
        </p:nvSpPr>
        <p:spPr>
          <a:xfrm>
            <a:off x="685801" y="572643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69" name="Google Shape;169;p18"/>
          <p:cNvSpPr/>
          <p:nvPr/>
        </p:nvSpPr>
        <p:spPr>
          <a:xfrm>
            <a:off x="685801" y="680085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70" name="Google Shape;170;p18"/>
          <p:cNvSpPr/>
          <p:nvPr/>
        </p:nvSpPr>
        <p:spPr>
          <a:xfrm>
            <a:off x="7600951" y="355705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71" name="Google Shape;171;p18"/>
          <p:cNvSpPr/>
          <p:nvPr/>
        </p:nvSpPr>
        <p:spPr>
          <a:xfrm>
            <a:off x="7600951" y="463147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72" name="Google Shape;172;p18"/>
          <p:cNvSpPr/>
          <p:nvPr/>
        </p:nvSpPr>
        <p:spPr>
          <a:xfrm>
            <a:off x="7600951" y="5705891"/>
            <a:ext cx="634365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pic>
        <p:nvPicPr>
          <p:cNvPr id="173" name="Google Shape;173;p18" descr="image.png"/>
          <p:cNvPicPr preferRelativeResize="0"/>
          <p:nvPr/>
        </p:nvPicPr>
        <p:blipFill rotWithShape="1">
          <a:blip r:embed="rId5">
            <a:alphaModFix/>
          </a:blip>
          <a:srcRect/>
          <a:stretch/>
        </p:blipFill>
        <p:spPr>
          <a:xfrm>
            <a:off x="7886700" y="6231671"/>
            <a:ext cx="205740" cy="205740"/>
          </a:xfrm>
          <a:prstGeom prst="rect">
            <a:avLst/>
          </a:prstGeom>
          <a:noFill/>
          <a:ln>
            <a:noFill/>
          </a:ln>
        </p:spPr>
      </p:pic>
      <p:pic>
        <p:nvPicPr>
          <p:cNvPr id="174" name="Google Shape;174;p18" descr="image.png"/>
          <p:cNvPicPr preferRelativeResize="0"/>
          <p:nvPr/>
        </p:nvPicPr>
        <p:blipFill rotWithShape="1">
          <a:blip r:embed="rId6">
            <a:alphaModFix/>
          </a:blip>
          <a:srcRect/>
          <a:stretch/>
        </p:blipFill>
        <p:spPr>
          <a:xfrm>
            <a:off x="982980" y="3017520"/>
            <a:ext cx="274320" cy="297180"/>
          </a:xfrm>
          <a:prstGeom prst="rect">
            <a:avLst/>
          </a:prstGeom>
          <a:noFill/>
          <a:ln>
            <a:noFill/>
          </a:ln>
        </p:spPr>
      </p:pic>
      <p:pic>
        <p:nvPicPr>
          <p:cNvPr id="175" name="Google Shape;175;p18" descr="image.png"/>
          <p:cNvPicPr preferRelativeResize="0"/>
          <p:nvPr/>
        </p:nvPicPr>
        <p:blipFill rotWithShape="1">
          <a:blip r:embed="rId7">
            <a:alphaModFix/>
          </a:blip>
          <a:srcRect/>
          <a:stretch/>
        </p:blipFill>
        <p:spPr>
          <a:xfrm>
            <a:off x="982980" y="4091940"/>
            <a:ext cx="342900" cy="297180"/>
          </a:xfrm>
          <a:prstGeom prst="rect">
            <a:avLst/>
          </a:prstGeom>
          <a:noFill/>
          <a:ln>
            <a:noFill/>
          </a:ln>
        </p:spPr>
      </p:pic>
      <p:pic>
        <p:nvPicPr>
          <p:cNvPr id="176" name="Google Shape;176;p18" descr="image.png"/>
          <p:cNvPicPr preferRelativeResize="0"/>
          <p:nvPr/>
        </p:nvPicPr>
        <p:blipFill rotWithShape="1">
          <a:blip r:embed="rId8">
            <a:alphaModFix/>
          </a:blip>
          <a:srcRect/>
          <a:stretch/>
        </p:blipFill>
        <p:spPr>
          <a:xfrm>
            <a:off x="982980" y="5166360"/>
            <a:ext cx="274320" cy="297180"/>
          </a:xfrm>
          <a:prstGeom prst="rect">
            <a:avLst/>
          </a:prstGeom>
          <a:noFill/>
          <a:ln>
            <a:noFill/>
          </a:ln>
        </p:spPr>
      </p:pic>
      <p:pic>
        <p:nvPicPr>
          <p:cNvPr id="177" name="Google Shape;177;p18" descr="image.png"/>
          <p:cNvPicPr preferRelativeResize="0"/>
          <p:nvPr/>
        </p:nvPicPr>
        <p:blipFill rotWithShape="1">
          <a:blip r:embed="rId9">
            <a:alphaModFix/>
          </a:blip>
          <a:srcRect/>
          <a:stretch/>
        </p:blipFill>
        <p:spPr>
          <a:xfrm>
            <a:off x="982980" y="6240780"/>
            <a:ext cx="342900" cy="297180"/>
          </a:xfrm>
          <a:prstGeom prst="rect">
            <a:avLst/>
          </a:prstGeom>
          <a:noFill/>
          <a:ln>
            <a:noFill/>
          </a:ln>
        </p:spPr>
      </p:pic>
      <p:pic>
        <p:nvPicPr>
          <p:cNvPr id="178" name="Google Shape;178;p18" descr="image.png"/>
          <p:cNvPicPr preferRelativeResize="0"/>
          <p:nvPr/>
        </p:nvPicPr>
        <p:blipFill rotWithShape="1">
          <a:blip r:embed="rId10">
            <a:alphaModFix/>
          </a:blip>
          <a:srcRect/>
          <a:stretch/>
        </p:blipFill>
        <p:spPr>
          <a:xfrm>
            <a:off x="7898130" y="2996981"/>
            <a:ext cx="274320" cy="297180"/>
          </a:xfrm>
          <a:prstGeom prst="rect">
            <a:avLst/>
          </a:prstGeom>
          <a:noFill/>
          <a:ln>
            <a:noFill/>
          </a:ln>
        </p:spPr>
      </p:pic>
      <p:pic>
        <p:nvPicPr>
          <p:cNvPr id="179" name="Google Shape;179;p18" descr="image.png"/>
          <p:cNvPicPr preferRelativeResize="0"/>
          <p:nvPr/>
        </p:nvPicPr>
        <p:blipFill rotWithShape="1">
          <a:blip r:embed="rId11">
            <a:alphaModFix/>
          </a:blip>
          <a:srcRect/>
          <a:stretch/>
        </p:blipFill>
        <p:spPr>
          <a:xfrm>
            <a:off x="7898130" y="4071401"/>
            <a:ext cx="342900" cy="297180"/>
          </a:xfrm>
          <a:prstGeom prst="rect">
            <a:avLst/>
          </a:prstGeom>
          <a:noFill/>
          <a:ln>
            <a:noFill/>
          </a:ln>
        </p:spPr>
      </p:pic>
      <p:pic>
        <p:nvPicPr>
          <p:cNvPr id="180" name="Google Shape;180;p18" descr="image.png"/>
          <p:cNvPicPr preferRelativeResize="0"/>
          <p:nvPr/>
        </p:nvPicPr>
        <p:blipFill rotWithShape="1">
          <a:blip r:embed="rId12">
            <a:alphaModFix/>
          </a:blip>
          <a:srcRect/>
          <a:stretch/>
        </p:blipFill>
        <p:spPr>
          <a:xfrm>
            <a:off x="7898131" y="5145821"/>
            <a:ext cx="308610" cy="297180"/>
          </a:xfrm>
          <a:prstGeom prst="rect">
            <a:avLst/>
          </a:prstGeom>
          <a:noFill/>
          <a:ln>
            <a:noFill/>
          </a:ln>
        </p:spPr>
      </p:pic>
      <p:sp>
        <p:nvSpPr>
          <p:cNvPr id="181" name="Google Shape;181;p18"/>
          <p:cNvSpPr txBox="1"/>
          <p:nvPr/>
        </p:nvSpPr>
        <p:spPr>
          <a:xfrm>
            <a:off x="685800" y="685801"/>
            <a:ext cx="13921740" cy="664797"/>
          </a:xfrm>
          <a:prstGeom prst="rect">
            <a:avLst/>
          </a:prstGeom>
          <a:noFill/>
          <a:ln>
            <a:noFill/>
          </a:ln>
        </p:spPr>
        <p:txBody>
          <a:bodyPr spcFirstLastPara="1" wrap="square" lIns="0" tIns="0" rIns="0" bIns="0" anchor="t" anchorCtr="0">
            <a:spAutoFit/>
          </a:bodyPr>
          <a:lstStyle/>
          <a:p>
            <a:r>
              <a:rPr lang="en-US" sz="4320" b="1">
                <a:solidFill>
                  <a:srgbClr val="005088"/>
                </a:solidFill>
                <a:latin typeface="Merriweather"/>
                <a:ea typeface="Merriweather"/>
                <a:cs typeface="Merriweather"/>
                <a:sym typeface="Merriweather"/>
              </a:rPr>
              <a:t>Resumen de las 7 Dimensiones</a:t>
            </a:r>
            <a:endParaRPr sz="216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25" descr="image.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293" name="Google Shape;293;p25"/>
          <p:cNvSpPr/>
          <p:nvPr/>
        </p:nvSpPr>
        <p:spPr>
          <a:xfrm>
            <a:off x="685800" y="2817495"/>
            <a:ext cx="13258800" cy="396621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graphicFrame>
        <p:nvGraphicFramePr>
          <p:cNvPr id="294" name="Google Shape;294;p25"/>
          <p:cNvGraphicFramePr/>
          <p:nvPr/>
        </p:nvGraphicFramePr>
        <p:xfrm>
          <a:off x="685800" y="2817495"/>
          <a:ext cx="13258800" cy="3966150"/>
        </p:xfrm>
        <a:graphic>
          <a:graphicData uri="http://schemas.openxmlformats.org/drawingml/2006/table">
            <a:tbl>
              <a:tblPr firstRow="1" bandRow="1">
                <a:noFill/>
              </a:tblPr>
              <a:tblGrid>
                <a:gridCol w="4419480">
                  <a:extLst>
                    <a:ext uri="{9D8B030D-6E8A-4147-A177-3AD203B41FA5}">
                      <a16:colId xmlns:a16="http://schemas.microsoft.com/office/drawing/2014/main" val="20000"/>
                    </a:ext>
                  </a:extLst>
                </a:gridCol>
                <a:gridCol w="4419480">
                  <a:extLst>
                    <a:ext uri="{9D8B030D-6E8A-4147-A177-3AD203B41FA5}">
                      <a16:colId xmlns:a16="http://schemas.microsoft.com/office/drawing/2014/main" val="20001"/>
                    </a:ext>
                  </a:extLst>
                </a:gridCol>
                <a:gridCol w="4419840">
                  <a:extLst>
                    <a:ext uri="{9D8B030D-6E8A-4147-A177-3AD203B41FA5}">
                      <a16:colId xmlns:a16="http://schemas.microsoft.com/office/drawing/2014/main" val="20002"/>
                    </a:ext>
                  </a:extLst>
                </a:gridCol>
              </a:tblGrid>
              <a:tr h="793230">
                <a:tc>
                  <a:txBody>
                    <a:bodyPr/>
                    <a:lstStyle/>
                    <a:p>
                      <a:pPr marL="0" marR="0" lvl="0" indent="0" algn="l" rtl="0">
                        <a:spcBef>
                          <a:spcPts val="0"/>
                        </a:spcBef>
                        <a:spcAft>
                          <a:spcPts val="0"/>
                        </a:spcAft>
                        <a:buNone/>
                      </a:pPr>
                      <a:r>
                        <a:rPr lang="en-US" sz="1800" b="0" i="0" u="none" strike="noStrike" cap="none">
                          <a:solidFill>
                            <a:srgbClr val="FFFFFF"/>
                          </a:solidFill>
                          <a:latin typeface="DM Sans Medium"/>
                          <a:ea typeface="DM Sans Medium"/>
                          <a:cs typeface="DM Sans Medium"/>
                          <a:sym typeface="DM Sans Medium"/>
                        </a:rPr>
                        <a:t>Instructor (Portafolio)</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1800" b="0" i="0" u="none" strike="noStrike" cap="none">
                          <a:solidFill>
                            <a:srgbClr val="FFFFFF"/>
                          </a:solidFill>
                          <a:latin typeface="DM Sans Medium"/>
                          <a:ea typeface="DM Sans Medium"/>
                          <a:cs typeface="DM Sans Medium"/>
                          <a:sym typeface="DM Sans Medium"/>
                        </a:rPr>
                        <a:t>Pares (Observación)</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tc>
                  <a:txBody>
                    <a:bodyPr/>
                    <a:lstStyle/>
                    <a:p>
                      <a:pPr marL="0" marR="0" lvl="0" indent="0" algn="l" rtl="0">
                        <a:spcBef>
                          <a:spcPts val="0"/>
                        </a:spcBef>
                        <a:spcAft>
                          <a:spcPts val="0"/>
                        </a:spcAft>
                        <a:buNone/>
                      </a:pPr>
                      <a:r>
                        <a:rPr lang="en-US" sz="1800" b="0" i="0" u="none" strike="noStrike" cap="none">
                          <a:solidFill>
                            <a:srgbClr val="FFFFFF"/>
                          </a:solidFill>
                          <a:latin typeface="DM Sans Medium"/>
                          <a:ea typeface="DM Sans Medium"/>
                          <a:cs typeface="DM Sans Medium"/>
                          <a:sym typeface="DM Sans Medium"/>
                        </a:rPr>
                        <a:t>Estudiantes (Feedback)</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5088"/>
                    </a:solidFill>
                  </a:tcPr>
                </a:tc>
                <a:extLst>
                  <a:ext uri="{0D108BD9-81ED-4DB2-BD59-A6C34878D82A}">
                    <a16:rowId xmlns:a16="http://schemas.microsoft.com/office/drawing/2014/main" val="10000"/>
                  </a:ext>
                </a:extLst>
              </a:tr>
              <a:tr h="793230">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Sílabos y materiales</a:t>
                      </a:r>
                      <a:endParaRPr sz="2200"/>
                    </a:p>
                  </a:txBody>
                  <a:tcPr marL="40005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Revisión de materiales</a:t>
                      </a:r>
                      <a:endParaRPr sz="2200"/>
                    </a:p>
                  </a:txBody>
                  <a:tcPr marL="49149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Encuestas de enseñanza</a:t>
                      </a:r>
                      <a:endParaRPr sz="2200"/>
                    </a:p>
                  </a:txBody>
                  <a:tcPr marL="51435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1"/>
                  </a:ext>
                </a:extLst>
              </a:tr>
              <a:tr h="793230">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Narrativa del instructor</a:t>
                      </a:r>
                      <a:endParaRPr sz="2200"/>
                    </a:p>
                  </a:txBody>
                  <a:tcPr marL="457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Protocolos de observación</a:t>
                      </a:r>
                      <a:endParaRPr sz="2200"/>
                    </a:p>
                  </a:txBody>
                  <a:tcPr marL="40005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Autoevaluación de aprendizaje</a:t>
                      </a:r>
                      <a:endParaRPr sz="2200"/>
                    </a:p>
                  </a:txBody>
                  <a:tcPr marL="49149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2"/>
                  </a:ext>
                </a:extLst>
              </a:tr>
              <a:tr h="793230">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Muestras de trabajo estudiantil</a:t>
                      </a:r>
                      <a:endParaRPr sz="2200"/>
                    </a:p>
                  </a:txBody>
                  <a:tcPr marL="49149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Análisis de evaluaciones</a:t>
                      </a:r>
                      <a:endParaRPr sz="2200"/>
                    </a:p>
                  </a:txBody>
                  <a:tcPr marL="457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Cartas de asesorados</a:t>
                      </a:r>
                      <a:endParaRPr sz="2200"/>
                    </a:p>
                  </a:txBody>
                  <a:tcPr marL="457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3"/>
                  </a:ext>
                </a:extLst>
              </a:tr>
              <a:tr h="793230">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Reflexiones sobre cambios</a:t>
                      </a:r>
                      <a:endParaRPr sz="2200"/>
                    </a:p>
                  </a:txBody>
                  <a:tcPr marL="40005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Revisión colaborativa</a:t>
                      </a:r>
                      <a:endParaRPr sz="2200"/>
                    </a:p>
                  </a:txBody>
                  <a:tcPr marL="51435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Retroalimentación informal</a:t>
                      </a:r>
                      <a:endParaRPr sz="2200"/>
                    </a:p>
                  </a:txBody>
                  <a:tcPr marL="457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p:sp>
        <p:nvSpPr>
          <p:cNvPr id="295" name="Google Shape;295;p25"/>
          <p:cNvSpPr/>
          <p:nvPr/>
        </p:nvSpPr>
        <p:spPr>
          <a:xfrm>
            <a:off x="685800" y="441198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96" name="Google Shape;296;p25"/>
          <p:cNvSpPr/>
          <p:nvPr/>
        </p:nvSpPr>
        <p:spPr>
          <a:xfrm>
            <a:off x="5105280" y="441198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97" name="Google Shape;297;p25"/>
          <p:cNvSpPr/>
          <p:nvPr/>
        </p:nvSpPr>
        <p:spPr>
          <a:xfrm>
            <a:off x="9524761" y="4411981"/>
            <a:ext cx="4419838"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98" name="Google Shape;298;p25"/>
          <p:cNvSpPr/>
          <p:nvPr/>
        </p:nvSpPr>
        <p:spPr>
          <a:xfrm>
            <a:off x="685800" y="520065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99" name="Google Shape;299;p25"/>
          <p:cNvSpPr/>
          <p:nvPr/>
        </p:nvSpPr>
        <p:spPr>
          <a:xfrm>
            <a:off x="5105280" y="520065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300" name="Google Shape;300;p25"/>
          <p:cNvSpPr/>
          <p:nvPr/>
        </p:nvSpPr>
        <p:spPr>
          <a:xfrm>
            <a:off x="9524761" y="5200651"/>
            <a:ext cx="4419838"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301" name="Google Shape;301;p25"/>
          <p:cNvSpPr/>
          <p:nvPr/>
        </p:nvSpPr>
        <p:spPr>
          <a:xfrm>
            <a:off x="685800" y="598932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302" name="Google Shape;302;p25"/>
          <p:cNvSpPr/>
          <p:nvPr/>
        </p:nvSpPr>
        <p:spPr>
          <a:xfrm>
            <a:off x="5105280" y="5989321"/>
            <a:ext cx="4419480"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303" name="Google Shape;303;p25"/>
          <p:cNvSpPr/>
          <p:nvPr/>
        </p:nvSpPr>
        <p:spPr>
          <a:xfrm>
            <a:off x="9524761" y="5989321"/>
            <a:ext cx="4419838" cy="1143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pic>
        <p:nvPicPr>
          <p:cNvPr id="304" name="Google Shape;304;p25" descr="image.png"/>
          <p:cNvPicPr preferRelativeResize="0"/>
          <p:nvPr/>
        </p:nvPicPr>
        <p:blipFill rotWithShape="1">
          <a:blip r:embed="rId4">
            <a:alphaModFix/>
          </a:blip>
          <a:srcRect/>
          <a:stretch/>
        </p:blipFill>
        <p:spPr>
          <a:xfrm>
            <a:off x="914400" y="4703444"/>
            <a:ext cx="228600" cy="228600"/>
          </a:xfrm>
          <a:prstGeom prst="rect">
            <a:avLst/>
          </a:prstGeom>
          <a:noFill/>
          <a:ln>
            <a:noFill/>
          </a:ln>
        </p:spPr>
      </p:pic>
      <p:pic>
        <p:nvPicPr>
          <p:cNvPr id="305" name="Google Shape;305;p25" descr="image.png"/>
          <p:cNvPicPr preferRelativeResize="0"/>
          <p:nvPr/>
        </p:nvPicPr>
        <p:blipFill rotWithShape="1">
          <a:blip r:embed="rId5">
            <a:alphaModFix/>
          </a:blip>
          <a:srcRect/>
          <a:stretch/>
        </p:blipFill>
        <p:spPr>
          <a:xfrm>
            <a:off x="9753361" y="5492114"/>
            <a:ext cx="228600" cy="228600"/>
          </a:xfrm>
          <a:prstGeom prst="rect">
            <a:avLst/>
          </a:prstGeom>
          <a:noFill/>
          <a:ln>
            <a:noFill/>
          </a:ln>
        </p:spPr>
      </p:pic>
      <p:pic>
        <p:nvPicPr>
          <p:cNvPr id="306" name="Google Shape;306;p25" descr="image.png"/>
          <p:cNvPicPr preferRelativeResize="0"/>
          <p:nvPr/>
        </p:nvPicPr>
        <p:blipFill rotWithShape="1">
          <a:blip r:embed="rId6">
            <a:alphaModFix/>
          </a:blip>
          <a:srcRect/>
          <a:stretch/>
        </p:blipFill>
        <p:spPr>
          <a:xfrm>
            <a:off x="9753361" y="6280784"/>
            <a:ext cx="228600" cy="228600"/>
          </a:xfrm>
          <a:prstGeom prst="rect">
            <a:avLst/>
          </a:prstGeom>
          <a:noFill/>
          <a:ln>
            <a:noFill/>
          </a:ln>
        </p:spPr>
      </p:pic>
      <p:pic>
        <p:nvPicPr>
          <p:cNvPr id="307" name="Google Shape;307;p25" descr="image.png"/>
          <p:cNvPicPr preferRelativeResize="0"/>
          <p:nvPr/>
        </p:nvPicPr>
        <p:blipFill rotWithShape="1">
          <a:blip r:embed="rId7">
            <a:alphaModFix/>
          </a:blip>
          <a:srcRect/>
          <a:stretch/>
        </p:blipFill>
        <p:spPr>
          <a:xfrm>
            <a:off x="9753362" y="3914774"/>
            <a:ext cx="285750" cy="228600"/>
          </a:xfrm>
          <a:prstGeom prst="rect">
            <a:avLst/>
          </a:prstGeom>
          <a:noFill/>
          <a:ln>
            <a:noFill/>
          </a:ln>
        </p:spPr>
      </p:pic>
      <p:pic>
        <p:nvPicPr>
          <p:cNvPr id="308" name="Google Shape;308;p25" descr="image.png"/>
          <p:cNvPicPr preferRelativeResize="0"/>
          <p:nvPr/>
        </p:nvPicPr>
        <p:blipFill rotWithShape="1">
          <a:blip r:embed="rId8">
            <a:alphaModFix/>
          </a:blip>
          <a:srcRect/>
          <a:stretch/>
        </p:blipFill>
        <p:spPr>
          <a:xfrm>
            <a:off x="5333880" y="5492114"/>
            <a:ext cx="228600" cy="228600"/>
          </a:xfrm>
          <a:prstGeom prst="rect">
            <a:avLst/>
          </a:prstGeom>
          <a:noFill/>
          <a:ln>
            <a:noFill/>
          </a:ln>
        </p:spPr>
      </p:pic>
      <p:pic>
        <p:nvPicPr>
          <p:cNvPr id="309" name="Google Shape;309;p25" descr="image.png"/>
          <p:cNvPicPr preferRelativeResize="0"/>
          <p:nvPr/>
        </p:nvPicPr>
        <p:blipFill rotWithShape="1">
          <a:blip r:embed="rId9">
            <a:alphaModFix/>
          </a:blip>
          <a:srcRect/>
          <a:stretch/>
        </p:blipFill>
        <p:spPr>
          <a:xfrm>
            <a:off x="5333881" y="4703444"/>
            <a:ext cx="171450" cy="228600"/>
          </a:xfrm>
          <a:prstGeom prst="rect">
            <a:avLst/>
          </a:prstGeom>
          <a:noFill/>
          <a:ln>
            <a:noFill/>
          </a:ln>
        </p:spPr>
      </p:pic>
      <p:pic>
        <p:nvPicPr>
          <p:cNvPr id="310" name="Google Shape;310;p25" descr="image.png"/>
          <p:cNvPicPr preferRelativeResize="0"/>
          <p:nvPr/>
        </p:nvPicPr>
        <p:blipFill rotWithShape="1">
          <a:blip r:embed="rId10">
            <a:alphaModFix/>
          </a:blip>
          <a:srcRect/>
          <a:stretch/>
        </p:blipFill>
        <p:spPr>
          <a:xfrm>
            <a:off x="9753362" y="4703444"/>
            <a:ext cx="262890" cy="228600"/>
          </a:xfrm>
          <a:prstGeom prst="rect">
            <a:avLst/>
          </a:prstGeom>
          <a:noFill/>
          <a:ln>
            <a:noFill/>
          </a:ln>
        </p:spPr>
      </p:pic>
      <p:pic>
        <p:nvPicPr>
          <p:cNvPr id="311" name="Google Shape;311;p25" descr="image.png"/>
          <p:cNvPicPr preferRelativeResize="0"/>
          <p:nvPr/>
        </p:nvPicPr>
        <p:blipFill rotWithShape="1">
          <a:blip r:embed="rId11">
            <a:alphaModFix/>
          </a:blip>
          <a:srcRect/>
          <a:stretch/>
        </p:blipFill>
        <p:spPr>
          <a:xfrm>
            <a:off x="914401" y="6280784"/>
            <a:ext cx="171450" cy="228600"/>
          </a:xfrm>
          <a:prstGeom prst="rect">
            <a:avLst/>
          </a:prstGeom>
          <a:noFill/>
          <a:ln>
            <a:noFill/>
          </a:ln>
        </p:spPr>
      </p:pic>
      <p:pic>
        <p:nvPicPr>
          <p:cNvPr id="312" name="Google Shape;312;p25" descr="image.png"/>
          <p:cNvPicPr preferRelativeResize="0"/>
          <p:nvPr/>
        </p:nvPicPr>
        <p:blipFill rotWithShape="1">
          <a:blip r:embed="rId12">
            <a:alphaModFix/>
          </a:blip>
          <a:srcRect/>
          <a:stretch/>
        </p:blipFill>
        <p:spPr>
          <a:xfrm>
            <a:off x="5333881" y="3914774"/>
            <a:ext cx="262890" cy="228600"/>
          </a:xfrm>
          <a:prstGeom prst="rect">
            <a:avLst/>
          </a:prstGeom>
          <a:noFill/>
          <a:ln>
            <a:noFill/>
          </a:ln>
        </p:spPr>
      </p:pic>
      <p:pic>
        <p:nvPicPr>
          <p:cNvPr id="313" name="Google Shape;313;p25" descr="image.png"/>
          <p:cNvPicPr preferRelativeResize="0"/>
          <p:nvPr/>
        </p:nvPicPr>
        <p:blipFill rotWithShape="1">
          <a:blip r:embed="rId13">
            <a:alphaModFix/>
          </a:blip>
          <a:srcRect/>
          <a:stretch/>
        </p:blipFill>
        <p:spPr>
          <a:xfrm>
            <a:off x="914401" y="5492114"/>
            <a:ext cx="262890" cy="228600"/>
          </a:xfrm>
          <a:prstGeom prst="rect">
            <a:avLst/>
          </a:prstGeom>
          <a:noFill/>
          <a:ln>
            <a:noFill/>
          </a:ln>
        </p:spPr>
      </p:pic>
      <p:pic>
        <p:nvPicPr>
          <p:cNvPr id="314" name="Google Shape;314;p25" descr="image.png"/>
          <p:cNvPicPr preferRelativeResize="0"/>
          <p:nvPr/>
        </p:nvPicPr>
        <p:blipFill rotWithShape="1">
          <a:blip r:embed="rId14">
            <a:alphaModFix/>
          </a:blip>
          <a:srcRect/>
          <a:stretch/>
        </p:blipFill>
        <p:spPr>
          <a:xfrm>
            <a:off x="5333881" y="6280784"/>
            <a:ext cx="285750" cy="228600"/>
          </a:xfrm>
          <a:prstGeom prst="rect">
            <a:avLst/>
          </a:prstGeom>
          <a:noFill/>
          <a:ln>
            <a:noFill/>
          </a:ln>
        </p:spPr>
      </p:pic>
      <p:pic>
        <p:nvPicPr>
          <p:cNvPr id="315" name="Google Shape;315;p25" descr="image.png"/>
          <p:cNvPicPr preferRelativeResize="0"/>
          <p:nvPr/>
        </p:nvPicPr>
        <p:blipFill rotWithShape="1">
          <a:blip r:embed="rId15">
            <a:alphaModFix/>
          </a:blip>
          <a:srcRect/>
          <a:stretch/>
        </p:blipFill>
        <p:spPr>
          <a:xfrm>
            <a:off x="914401" y="3914774"/>
            <a:ext cx="171450" cy="228600"/>
          </a:xfrm>
          <a:prstGeom prst="rect">
            <a:avLst/>
          </a:prstGeom>
          <a:noFill/>
          <a:ln>
            <a:noFill/>
          </a:ln>
        </p:spPr>
      </p:pic>
      <p:pic>
        <p:nvPicPr>
          <p:cNvPr id="316" name="Google Shape;316;p25" descr="image.png"/>
          <p:cNvPicPr preferRelativeResize="0"/>
          <p:nvPr/>
        </p:nvPicPr>
        <p:blipFill rotWithShape="1">
          <a:blip r:embed="rId15">
            <a:alphaModFix/>
          </a:blip>
          <a:srcRect/>
          <a:stretch/>
        </p:blipFill>
        <p:spPr>
          <a:xfrm>
            <a:off x="914401" y="3914774"/>
            <a:ext cx="171450" cy="228600"/>
          </a:xfrm>
          <a:prstGeom prst="rect">
            <a:avLst/>
          </a:prstGeom>
          <a:noFill/>
          <a:ln>
            <a:noFill/>
          </a:ln>
        </p:spPr>
      </p:pic>
      <p:pic>
        <p:nvPicPr>
          <p:cNvPr id="317" name="Google Shape;317;p25" descr="image.png"/>
          <p:cNvPicPr preferRelativeResize="0"/>
          <p:nvPr/>
        </p:nvPicPr>
        <p:blipFill rotWithShape="1">
          <a:blip r:embed="rId12">
            <a:alphaModFix/>
          </a:blip>
          <a:srcRect/>
          <a:stretch/>
        </p:blipFill>
        <p:spPr>
          <a:xfrm>
            <a:off x="5333881" y="3914774"/>
            <a:ext cx="262890" cy="228600"/>
          </a:xfrm>
          <a:prstGeom prst="rect">
            <a:avLst/>
          </a:prstGeom>
          <a:noFill/>
          <a:ln>
            <a:noFill/>
          </a:ln>
        </p:spPr>
      </p:pic>
      <p:pic>
        <p:nvPicPr>
          <p:cNvPr id="318" name="Google Shape;318;p25" descr="image.png"/>
          <p:cNvPicPr preferRelativeResize="0"/>
          <p:nvPr/>
        </p:nvPicPr>
        <p:blipFill rotWithShape="1">
          <a:blip r:embed="rId7">
            <a:alphaModFix/>
          </a:blip>
          <a:srcRect/>
          <a:stretch/>
        </p:blipFill>
        <p:spPr>
          <a:xfrm>
            <a:off x="9753362" y="3914774"/>
            <a:ext cx="285750" cy="228600"/>
          </a:xfrm>
          <a:prstGeom prst="rect">
            <a:avLst/>
          </a:prstGeom>
          <a:noFill/>
          <a:ln>
            <a:noFill/>
          </a:ln>
        </p:spPr>
      </p:pic>
      <p:pic>
        <p:nvPicPr>
          <p:cNvPr id="319" name="Google Shape;319;p25" descr="image.png"/>
          <p:cNvPicPr preferRelativeResize="0"/>
          <p:nvPr/>
        </p:nvPicPr>
        <p:blipFill rotWithShape="1">
          <a:blip r:embed="rId4">
            <a:alphaModFix/>
          </a:blip>
          <a:srcRect/>
          <a:stretch/>
        </p:blipFill>
        <p:spPr>
          <a:xfrm>
            <a:off x="914400" y="4703444"/>
            <a:ext cx="228600" cy="228600"/>
          </a:xfrm>
          <a:prstGeom prst="rect">
            <a:avLst/>
          </a:prstGeom>
          <a:noFill/>
          <a:ln>
            <a:noFill/>
          </a:ln>
        </p:spPr>
      </p:pic>
      <p:pic>
        <p:nvPicPr>
          <p:cNvPr id="320" name="Google Shape;320;p25" descr="image.png"/>
          <p:cNvPicPr preferRelativeResize="0"/>
          <p:nvPr/>
        </p:nvPicPr>
        <p:blipFill rotWithShape="1">
          <a:blip r:embed="rId9">
            <a:alphaModFix/>
          </a:blip>
          <a:srcRect/>
          <a:stretch/>
        </p:blipFill>
        <p:spPr>
          <a:xfrm>
            <a:off x="5333881" y="4703444"/>
            <a:ext cx="171450" cy="228600"/>
          </a:xfrm>
          <a:prstGeom prst="rect">
            <a:avLst/>
          </a:prstGeom>
          <a:noFill/>
          <a:ln>
            <a:noFill/>
          </a:ln>
        </p:spPr>
      </p:pic>
      <p:pic>
        <p:nvPicPr>
          <p:cNvPr id="321" name="Google Shape;321;p25" descr="image.png"/>
          <p:cNvPicPr preferRelativeResize="0"/>
          <p:nvPr/>
        </p:nvPicPr>
        <p:blipFill rotWithShape="1">
          <a:blip r:embed="rId10">
            <a:alphaModFix/>
          </a:blip>
          <a:srcRect/>
          <a:stretch/>
        </p:blipFill>
        <p:spPr>
          <a:xfrm>
            <a:off x="9753362" y="4703444"/>
            <a:ext cx="262890" cy="228600"/>
          </a:xfrm>
          <a:prstGeom prst="rect">
            <a:avLst/>
          </a:prstGeom>
          <a:noFill/>
          <a:ln>
            <a:noFill/>
          </a:ln>
        </p:spPr>
      </p:pic>
      <p:pic>
        <p:nvPicPr>
          <p:cNvPr id="322" name="Google Shape;322;p25" descr="image.png"/>
          <p:cNvPicPr preferRelativeResize="0"/>
          <p:nvPr/>
        </p:nvPicPr>
        <p:blipFill rotWithShape="1">
          <a:blip r:embed="rId13">
            <a:alphaModFix/>
          </a:blip>
          <a:srcRect/>
          <a:stretch/>
        </p:blipFill>
        <p:spPr>
          <a:xfrm>
            <a:off x="914401" y="5492114"/>
            <a:ext cx="262890" cy="228600"/>
          </a:xfrm>
          <a:prstGeom prst="rect">
            <a:avLst/>
          </a:prstGeom>
          <a:noFill/>
          <a:ln>
            <a:noFill/>
          </a:ln>
        </p:spPr>
      </p:pic>
      <p:pic>
        <p:nvPicPr>
          <p:cNvPr id="323" name="Google Shape;323;p25" descr="image.png"/>
          <p:cNvPicPr preferRelativeResize="0"/>
          <p:nvPr/>
        </p:nvPicPr>
        <p:blipFill rotWithShape="1">
          <a:blip r:embed="rId8">
            <a:alphaModFix/>
          </a:blip>
          <a:srcRect/>
          <a:stretch/>
        </p:blipFill>
        <p:spPr>
          <a:xfrm>
            <a:off x="5333880" y="5492114"/>
            <a:ext cx="228600" cy="228600"/>
          </a:xfrm>
          <a:prstGeom prst="rect">
            <a:avLst/>
          </a:prstGeom>
          <a:noFill/>
          <a:ln>
            <a:noFill/>
          </a:ln>
        </p:spPr>
      </p:pic>
      <p:pic>
        <p:nvPicPr>
          <p:cNvPr id="324" name="Google Shape;324;p25" descr="image.png"/>
          <p:cNvPicPr preferRelativeResize="0"/>
          <p:nvPr/>
        </p:nvPicPr>
        <p:blipFill rotWithShape="1">
          <a:blip r:embed="rId5">
            <a:alphaModFix/>
          </a:blip>
          <a:srcRect/>
          <a:stretch/>
        </p:blipFill>
        <p:spPr>
          <a:xfrm>
            <a:off x="9753361" y="5492114"/>
            <a:ext cx="228600" cy="228600"/>
          </a:xfrm>
          <a:prstGeom prst="rect">
            <a:avLst/>
          </a:prstGeom>
          <a:noFill/>
          <a:ln>
            <a:noFill/>
          </a:ln>
        </p:spPr>
      </p:pic>
      <p:pic>
        <p:nvPicPr>
          <p:cNvPr id="325" name="Google Shape;325;p25" descr="image.png"/>
          <p:cNvPicPr preferRelativeResize="0"/>
          <p:nvPr/>
        </p:nvPicPr>
        <p:blipFill rotWithShape="1">
          <a:blip r:embed="rId11">
            <a:alphaModFix/>
          </a:blip>
          <a:srcRect/>
          <a:stretch/>
        </p:blipFill>
        <p:spPr>
          <a:xfrm>
            <a:off x="914401" y="6280784"/>
            <a:ext cx="171450" cy="228600"/>
          </a:xfrm>
          <a:prstGeom prst="rect">
            <a:avLst/>
          </a:prstGeom>
          <a:noFill/>
          <a:ln>
            <a:noFill/>
          </a:ln>
        </p:spPr>
      </p:pic>
      <p:pic>
        <p:nvPicPr>
          <p:cNvPr id="326" name="Google Shape;326;p25" descr="image.png"/>
          <p:cNvPicPr preferRelativeResize="0"/>
          <p:nvPr/>
        </p:nvPicPr>
        <p:blipFill rotWithShape="1">
          <a:blip r:embed="rId14">
            <a:alphaModFix/>
          </a:blip>
          <a:srcRect/>
          <a:stretch/>
        </p:blipFill>
        <p:spPr>
          <a:xfrm>
            <a:off x="5333881" y="6280784"/>
            <a:ext cx="285750" cy="228600"/>
          </a:xfrm>
          <a:prstGeom prst="rect">
            <a:avLst/>
          </a:prstGeom>
          <a:noFill/>
          <a:ln>
            <a:noFill/>
          </a:ln>
        </p:spPr>
      </p:pic>
      <p:pic>
        <p:nvPicPr>
          <p:cNvPr id="327" name="Google Shape;327;p25" descr="image.png"/>
          <p:cNvPicPr preferRelativeResize="0"/>
          <p:nvPr/>
        </p:nvPicPr>
        <p:blipFill rotWithShape="1">
          <a:blip r:embed="rId6">
            <a:alphaModFix/>
          </a:blip>
          <a:srcRect/>
          <a:stretch/>
        </p:blipFill>
        <p:spPr>
          <a:xfrm>
            <a:off x="9753361" y="6280784"/>
            <a:ext cx="228600" cy="228600"/>
          </a:xfrm>
          <a:prstGeom prst="rect">
            <a:avLst/>
          </a:prstGeom>
          <a:noFill/>
          <a:ln>
            <a:noFill/>
          </a:ln>
        </p:spPr>
      </p:pic>
      <p:sp>
        <p:nvSpPr>
          <p:cNvPr id="328" name="Google Shape;328;p25"/>
          <p:cNvSpPr txBox="1"/>
          <p:nvPr/>
        </p:nvSpPr>
        <p:spPr>
          <a:xfrm>
            <a:off x="685800" y="685801"/>
            <a:ext cx="13921740" cy="664797"/>
          </a:xfrm>
          <a:prstGeom prst="rect">
            <a:avLst/>
          </a:prstGeom>
          <a:noFill/>
          <a:ln>
            <a:noFill/>
          </a:ln>
        </p:spPr>
        <p:txBody>
          <a:bodyPr spcFirstLastPara="1" wrap="square" lIns="0" tIns="0" rIns="0" bIns="0" anchor="t" anchorCtr="0">
            <a:spAutoFit/>
          </a:bodyPr>
          <a:lstStyle/>
          <a:p>
            <a:r>
              <a:rPr lang="en-US" sz="4320" b="1">
                <a:solidFill>
                  <a:srgbClr val="005088"/>
                </a:solidFill>
                <a:latin typeface="Merriweather"/>
                <a:ea typeface="Merriweather"/>
                <a:cs typeface="Merriweather"/>
                <a:sym typeface="Merriweather"/>
              </a:rPr>
              <a:t>Fuentes de Evidencia Sugeridas</a:t>
            </a:r>
            <a:endParaRPr sz="216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345B-9818-3A08-0A91-17278B3A4DAB}"/>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490F3840-8641-5206-FF86-C141B9E8CC6A}"/>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2" name="Tabla 1">
            <a:extLst>
              <a:ext uri="{FF2B5EF4-FFF2-40B4-BE49-F238E27FC236}">
                <a16:creationId xmlns:a16="http://schemas.microsoft.com/office/drawing/2014/main" id="{31591CB0-78AA-B8DF-37B1-A516D25C0253}"/>
              </a:ext>
            </a:extLst>
          </p:cNvPr>
          <p:cNvGraphicFramePr>
            <a:graphicFrameLocks noGrp="1"/>
          </p:cNvGraphicFramePr>
          <p:nvPr>
            <p:extLst>
              <p:ext uri="{D42A27DB-BD31-4B8C-83A1-F6EECF244321}">
                <p14:modId xmlns:p14="http://schemas.microsoft.com/office/powerpoint/2010/main" val="2298835048"/>
              </p:ext>
            </p:extLst>
          </p:nvPr>
        </p:nvGraphicFramePr>
        <p:xfrm>
          <a:off x="0" y="0"/>
          <a:ext cx="14630400" cy="8237723"/>
        </p:xfrm>
        <a:graphic>
          <a:graphicData uri="http://schemas.openxmlformats.org/drawingml/2006/table">
            <a:tbl>
              <a:tblPr firstRow="1" firstCol="1" bandRow="1">
                <a:tableStyleId>{5C22544A-7EE6-4342-B048-85BDC9FD1C3A}</a:tableStyleId>
              </a:tblPr>
              <a:tblGrid>
                <a:gridCol w="2354497">
                  <a:extLst>
                    <a:ext uri="{9D8B030D-6E8A-4147-A177-3AD203B41FA5}">
                      <a16:colId xmlns:a16="http://schemas.microsoft.com/office/drawing/2014/main" val="2805311059"/>
                    </a:ext>
                  </a:extLst>
                </a:gridCol>
                <a:gridCol w="3964366">
                  <a:extLst>
                    <a:ext uri="{9D8B030D-6E8A-4147-A177-3AD203B41FA5}">
                      <a16:colId xmlns:a16="http://schemas.microsoft.com/office/drawing/2014/main" val="3583085896"/>
                    </a:ext>
                  </a:extLst>
                </a:gridCol>
                <a:gridCol w="3398028">
                  <a:extLst>
                    <a:ext uri="{9D8B030D-6E8A-4147-A177-3AD203B41FA5}">
                      <a16:colId xmlns:a16="http://schemas.microsoft.com/office/drawing/2014/main" val="1775604808"/>
                    </a:ext>
                  </a:extLst>
                </a:gridCol>
                <a:gridCol w="4913509">
                  <a:extLst>
                    <a:ext uri="{9D8B030D-6E8A-4147-A177-3AD203B41FA5}">
                      <a16:colId xmlns:a16="http://schemas.microsoft.com/office/drawing/2014/main" val="3869692197"/>
                    </a:ext>
                  </a:extLst>
                </a:gridCol>
              </a:tblGrid>
              <a:tr h="282633">
                <a:tc>
                  <a:txBody>
                    <a:bodyPr/>
                    <a:lstStyle/>
                    <a:p>
                      <a:pPr marL="457200" algn="l">
                        <a:lnSpc>
                          <a:spcPct val="107000"/>
                        </a:lnSpc>
                        <a:spcAft>
                          <a:spcPts val="800"/>
                        </a:spcAft>
                        <a:buNone/>
                      </a:pPr>
                      <a:r>
                        <a:rPr lang="en-US" sz="1000" dirty="0">
                          <a:effectLst/>
                        </a:rPr>
                        <a:t>(revised June 2024)</a:t>
                      </a:r>
                      <a:endParaRPr lang="es-CL" sz="10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algn="ctr">
                        <a:lnSpc>
                          <a:spcPct val="107000"/>
                        </a:lnSpc>
                        <a:spcAft>
                          <a:spcPts val="800"/>
                        </a:spcAft>
                        <a:buNone/>
                      </a:pPr>
                      <a:r>
                        <a:rPr lang="en-US" sz="1200" dirty="0">
                          <a:effectLst/>
                        </a:rPr>
                        <a:t>Developing</a:t>
                      </a:r>
                      <a:endParaRPr lang="es-CL" sz="12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tc>
                  <a:txBody>
                    <a:bodyPr/>
                    <a:lstStyle/>
                    <a:p>
                      <a:pPr marL="457200" algn="ctr">
                        <a:lnSpc>
                          <a:spcPct val="107000"/>
                        </a:lnSpc>
                        <a:spcAft>
                          <a:spcPts val="800"/>
                        </a:spcAft>
                        <a:buNone/>
                      </a:pPr>
                      <a:r>
                        <a:rPr lang="en-US" sz="1200" dirty="0">
                          <a:effectLst/>
                        </a:rPr>
                        <a:t>Proficient</a:t>
                      </a:r>
                      <a:endParaRPr lang="es-CL" sz="12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tc>
                  <a:txBody>
                    <a:bodyPr/>
                    <a:lstStyle/>
                    <a:p>
                      <a:pPr algn="ctr">
                        <a:lnSpc>
                          <a:spcPct val="107000"/>
                        </a:lnSpc>
                        <a:spcAft>
                          <a:spcPts val="800"/>
                        </a:spcAft>
                        <a:buNone/>
                      </a:pPr>
                      <a:r>
                        <a:rPr lang="en-US" sz="1200" dirty="0">
                          <a:effectLst/>
                        </a:rPr>
                        <a:t>Expert</a:t>
                      </a:r>
                      <a:endParaRPr lang="es-CL" sz="12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extLst>
                  <a:ext uri="{0D108BD9-81ED-4DB2-BD59-A6C34878D82A}">
                    <a16:rowId xmlns:a16="http://schemas.microsoft.com/office/drawing/2014/main" val="2487060139"/>
                  </a:ext>
                </a:extLst>
              </a:tr>
              <a:tr h="1316191">
                <a:tc>
                  <a:txBody>
                    <a:bodyPr/>
                    <a:lstStyle/>
                    <a:p>
                      <a:pPr marL="457200" algn="l">
                        <a:lnSpc>
                          <a:spcPct val="107000"/>
                        </a:lnSpc>
                        <a:buNone/>
                      </a:pPr>
                      <a:r>
                        <a:rPr lang="en-US" sz="1000" dirty="0">
                          <a:effectLst/>
                        </a:rPr>
                        <a:t>Goals, content, and alignment  </a:t>
                      </a:r>
                      <a:endParaRPr lang="es-CL" sz="1000" dirty="0">
                        <a:effectLst/>
                      </a:endParaRPr>
                    </a:p>
                    <a:p>
                      <a:pPr marL="457200" algn="l">
                        <a:lnSpc>
                          <a:spcPct val="107000"/>
                        </a:lnSpc>
                        <a:buNone/>
                      </a:pPr>
                      <a:r>
                        <a:rPr lang="en-US" sz="1000" dirty="0">
                          <a:effectLst/>
                        </a:rPr>
                        <a:t>What are students expected to learn? Are course goals appropriate? Is content aligned with the curriculum? Does content represent multiple perspectives? </a:t>
                      </a:r>
                      <a:endParaRPr lang="es-CL" sz="10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 goals are not articulated, or are unclear, inappropriate or marginally related to curriculum</a:t>
                      </a:r>
                      <a:endParaRPr lang="es-CL" sz="1000">
                        <a:effectLst/>
                      </a:endParaRPr>
                    </a:p>
                    <a:p>
                      <a:pPr marL="342900" lvl="0" indent="-342900" algn="l">
                        <a:lnSpc>
                          <a:spcPct val="107000"/>
                        </a:lnSpc>
                        <a:buFont typeface="Symbol" panose="05050102010706020507" pitchFamily="18" charset="2"/>
                        <a:buChar char=""/>
                      </a:pPr>
                      <a:r>
                        <a:rPr lang="en-US" sz="1000">
                          <a:effectLst/>
                        </a:rPr>
                        <a:t>Content and materials are outdated or unsuitable for students in the course</a:t>
                      </a:r>
                      <a:endParaRPr lang="es-CL" sz="1000">
                        <a:effectLst/>
                      </a:endParaRPr>
                    </a:p>
                    <a:p>
                      <a:pPr marL="342900" lvl="0" indent="-342900" algn="l">
                        <a:lnSpc>
                          <a:spcPct val="107000"/>
                        </a:lnSpc>
                        <a:buFont typeface="Symbol" panose="05050102010706020507" pitchFamily="18" charset="2"/>
                        <a:buChar char=""/>
                      </a:pPr>
                      <a:r>
                        <a:rPr lang="en-US" sz="1000">
                          <a:effectLst/>
                        </a:rPr>
                        <a:t>Range of topics is too narrow or too broad </a:t>
                      </a:r>
                      <a:endParaRPr lang="es-CL" sz="1000">
                        <a:effectLst/>
                      </a:endParaRPr>
                    </a:p>
                    <a:p>
                      <a:pPr marL="342900" lvl="0" indent="-342900" algn="l">
                        <a:lnSpc>
                          <a:spcPct val="107000"/>
                        </a:lnSpc>
                        <a:buFont typeface="Symbol" panose="05050102010706020507" pitchFamily="18" charset="2"/>
                        <a:buChar char=""/>
                      </a:pPr>
                      <a:r>
                        <a:rPr lang="en-US" sz="1000">
                          <a:effectLst/>
                        </a:rPr>
                        <a:t>Content is not clearly aligned with curriculum or institutional expectations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 goals are articulated and appropriate for curriculum </a:t>
                      </a:r>
                      <a:endParaRPr lang="es-CL" sz="1000">
                        <a:effectLst/>
                      </a:endParaRPr>
                    </a:p>
                    <a:p>
                      <a:pPr marL="342900" lvl="0" indent="-342900" algn="l">
                        <a:lnSpc>
                          <a:spcPct val="107000"/>
                        </a:lnSpc>
                        <a:buFont typeface="Symbol" panose="05050102010706020507" pitchFamily="18" charset="2"/>
                        <a:buChar char=""/>
                      </a:pPr>
                      <a:r>
                        <a:rPr lang="en-US" sz="1000">
                          <a:effectLst/>
                        </a:rPr>
                        <a:t>Content is current and appropriate for topic, students, and curriculum</a:t>
                      </a:r>
                      <a:endParaRPr lang="es-CL" sz="1000">
                        <a:effectLst/>
                      </a:endParaRPr>
                    </a:p>
                    <a:p>
                      <a:pPr marL="342900" lvl="0" indent="-342900" algn="l">
                        <a:lnSpc>
                          <a:spcPct val="107000"/>
                        </a:lnSpc>
                        <a:buFont typeface="Symbol" panose="05050102010706020507" pitchFamily="18" charset="2"/>
                        <a:buChar char=""/>
                      </a:pPr>
                      <a:r>
                        <a:rPr lang="en-US" sz="1000">
                          <a:effectLst/>
                        </a:rPr>
                        <a:t>Course topics have appropriate range</a:t>
                      </a:r>
                      <a:endParaRPr lang="es-CL" sz="1000">
                        <a:effectLst/>
                      </a:endParaRPr>
                    </a:p>
                    <a:p>
                      <a:pPr marL="342900" lvl="0" indent="-342900" algn="l">
                        <a:lnSpc>
                          <a:spcPct val="107000"/>
                        </a:lnSpc>
                        <a:buFont typeface="Symbol" panose="05050102010706020507" pitchFamily="18" charset="2"/>
                        <a:buChar char=""/>
                      </a:pPr>
                      <a:r>
                        <a:rPr lang="en-US" sz="1000">
                          <a:effectLst/>
                        </a:rPr>
                        <a:t>Standard, intellectually sound materials</a:t>
                      </a:r>
                      <a:endParaRPr lang="es-CL" sz="1000">
                        <a:effectLst/>
                      </a:endParaRPr>
                    </a:p>
                    <a:p>
                      <a:pPr marL="342900" lvl="0" indent="-342900" algn="l">
                        <a:lnSpc>
                          <a:spcPct val="107000"/>
                        </a:lnSpc>
                        <a:buFont typeface="Symbol" panose="05050102010706020507" pitchFamily="18" charset="2"/>
                        <a:buChar char=""/>
                      </a:pPr>
                      <a:r>
                        <a:rPr lang="en-US" sz="1000">
                          <a:effectLst/>
                        </a:rPr>
                        <a:t>Course materials reflect multiple viewpoints in the field</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 goals are well-articulated, high quality, relevant to all students, and clearly connected to program or curricular goals</a:t>
                      </a:r>
                      <a:endParaRPr lang="es-CL" sz="1000">
                        <a:effectLst/>
                      </a:endParaRPr>
                    </a:p>
                    <a:p>
                      <a:pPr marL="342900" lvl="0" indent="-342900" algn="l">
                        <a:lnSpc>
                          <a:spcPct val="107000"/>
                        </a:lnSpc>
                        <a:buFont typeface="Symbol" panose="05050102010706020507" pitchFamily="18" charset="2"/>
                        <a:buChar char=""/>
                      </a:pPr>
                      <a:r>
                        <a:rPr lang="en-US" sz="1000">
                          <a:effectLst/>
                        </a:rPr>
                        <a:t>Content is challenging and innovative or related to current issues and developments in field</a:t>
                      </a:r>
                      <a:endParaRPr lang="es-CL" sz="1000">
                        <a:effectLst/>
                      </a:endParaRPr>
                    </a:p>
                    <a:p>
                      <a:pPr marL="342900" lvl="0" indent="-342900" algn="l">
                        <a:lnSpc>
                          <a:spcPct val="107000"/>
                        </a:lnSpc>
                        <a:buFont typeface="Symbol" panose="05050102010706020507" pitchFamily="18" charset="2"/>
                        <a:buChar char=""/>
                      </a:pPr>
                      <a:r>
                        <a:rPr lang="en-US" sz="1000">
                          <a:effectLst/>
                        </a:rPr>
                        <a:t>Topics are well-integrated and of appropriate range and depth </a:t>
                      </a:r>
                      <a:endParaRPr lang="es-CL" sz="1000">
                        <a:effectLst/>
                      </a:endParaRPr>
                    </a:p>
                    <a:p>
                      <a:pPr marL="342900" lvl="0" indent="-342900" algn="l">
                        <a:lnSpc>
                          <a:spcPct val="107000"/>
                        </a:lnSpc>
                        <a:buFont typeface="Symbol" panose="05050102010706020507" pitchFamily="18" charset="2"/>
                        <a:buChar char=""/>
                      </a:pPr>
                      <a:r>
                        <a:rPr lang="en-US" sz="1000">
                          <a:effectLst/>
                        </a:rPr>
                        <a:t>High-quality materials, well-aligned with course goals </a:t>
                      </a:r>
                      <a:endParaRPr lang="es-CL" sz="1000">
                        <a:effectLst/>
                      </a:endParaRPr>
                    </a:p>
                    <a:p>
                      <a:pPr marL="342900" lvl="0" indent="-342900" algn="l">
                        <a:lnSpc>
                          <a:spcPct val="107000"/>
                        </a:lnSpc>
                        <a:spcAft>
                          <a:spcPts val="800"/>
                        </a:spcAft>
                        <a:buFont typeface="Symbol" panose="05050102010706020507" pitchFamily="18" charset="2"/>
                        <a:buChar char=""/>
                      </a:pPr>
                      <a:r>
                        <a:rPr lang="en-US" sz="1000">
                          <a:effectLst/>
                        </a:rPr>
                        <a:t>Course materials reflect multiple perspectives in the field and promote meaningful reflection on them</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2139200911"/>
                  </a:ext>
                </a:extLst>
              </a:tr>
              <a:tr h="1345266">
                <a:tc>
                  <a:txBody>
                    <a:bodyPr/>
                    <a:lstStyle/>
                    <a:p>
                      <a:pPr marL="457200" algn="l">
                        <a:lnSpc>
                          <a:spcPct val="107000"/>
                        </a:lnSpc>
                        <a:buNone/>
                      </a:pPr>
                      <a:r>
                        <a:rPr lang="en-US" sz="1000">
                          <a:effectLst/>
                        </a:rPr>
                        <a:t>Teaching practices</a:t>
                      </a:r>
                      <a:endParaRPr lang="es-CL" sz="1000">
                        <a:effectLst/>
                      </a:endParaRPr>
                    </a:p>
                    <a:p>
                      <a:pPr marL="457200" algn="l">
                        <a:lnSpc>
                          <a:spcPct val="107000"/>
                        </a:lnSpc>
                        <a:buNone/>
                      </a:pPr>
                      <a:r>
                        <a:rPr lang="en-US" sz="1000">
                          <a:effectLst/>
                        </a:rPr>
                        <a:t>How is in-class and out-of-class time used? What assignments, assessments, and learning activities are implemented to help students learn? Are students engaged in the learning process?  </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Courses are not sufficiently planned or organized</a:t>
                      </a:r>
                      <a:endParaRPr lang="es-CL" sz="1000">
                        <a:effectLst/>
                      </a:endParaRPr>
                    </a:p>
                    <a:p>
                      <a:pPr marL="342900" lvl="0" indent="-342900" algn="l">
                        <a:lnSpc>
                          <a:spcPct val="107000"/>
                        </a:lnSpc>
                        <a:buFont typeface="Symbol" panose="05050102010706020507" pitchFamily="18" charset="2"/>
                        <a:buChar char=""/>
                      </a:pPr>
                      <a:r>
                        <a:rPr lang="en-US" sz="1000">
                          <a:effectLst/>
                        </a:rPr>
                        <a:t>Practices are not well-executed and show little development over time </a:t>
                      </a:r>
                      <a:endParaRPr lang="es-CL" sz="1000">
                        <a:effectLst/>
                      </a:endParaRPr>
                    </a:p>
                    <a:p>
                      <a:pPr marL="342900" lvl="0" indent="-342900" algn="l">
                        <a:lnSpc>
                          <a:spcPct val="107000"/>
                        </a:lnSpc>
                        <a:buFont typeface="Symbol" panose="05050102010706020507" pitchFamily="18" charset="2"/>
                        <a:buChar char=""/>
                      </a:pPr>
                      <a:r>
                        <a:rPr lang="en-US" sz="1000">
                          <a:effectLst/>
                        </a:rPr>
                        <a:t>Students lack opportunities to practice critical skills embedded in course goals</a:t>
                      </a:r>
                      <a:endParaRPr lang="es-CL" sz="1000">
                        <a:effectLst/>
                      </a:endParaRPr>
                    </a:p>
                    <a:p>
                      <a:pPr marL="342900" lvl="0" indent="-342900" algn="l">
                        <a:lnSpc>
                          <a:spcPct val="107000"/>
                        </a:lnSpc>
                        <a:buFont typeface="Symbol" panose="05050102010706020507" pitchFamily="18" charset="2"/>
                        <a:buChar char=""/>
                      </a:pPr>
                      <a:r>
                        <a:rPr lang="en-US" sz="1000">
                          <a:effectLst/>
                        </a:rPr>
                        <a:t>Student engagement is generally low</a:t>
                      </a:r>
                      <a:endParaRPr lang="es-CL" sz="1000">
                        <a:effectLst/>
                      </a:endParaRPr>
                    </a:p>
                    <a:p>
                      <a:pPr marL="342900" lvl="0" indent="-342900" algn="l">
                        <a:lnSpc>
                          <a:spcPct val="107000"/>
                        </a:lnSpc>
                        <a:buFont typeface="Symbol" panose="05050102010706020507" pitchFamily="18" charset="2"/>
                        <a:buChar char=""/>
                      </a:pPr>
                      <a:r>
                        <a:rPr lang="en-US" sz="1000">
                          <a:effectLst/>
                        </a:rPr>
                        <a:t>Assessments and assignments are at inappropriate difficulty level or not well-aligned with course goals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Courses are well-planned and organized</a:t>
                      </a:r>
                      <a:endParaRPr lang="es-CL" sz="1000">
                        <a:effectLst/>
                      </a:endParaRPr>
                    </a:p>
                    <a:p>
                      <a:pPr marL="342900" lvl="0" indent="-342900" algn="l">
                        <a:lnSpc>
                          <a:spcPct val="107000"/>
                        </a:lnSpc>
                        <a:buFont typeface="Symbol" panose="05050102010706020507" pitchFamily="18" charset="2"/>
                        <a:buChar char=""/>
                      </a:pPr>
                      <a:r>
                        <a:rPr lang="en-US" sz="1000">
                          <a:effectLst/>
                        </a:rPr>
                        <a:t>Standard course practices; follows conventions of discipline and institution</a:t>
                      </a:r>
                      <a:endParaRPr lang="es-CL" sz="1000">
                        <a:effectLst/>
                      </a:endParaRPr>
                    </a:p>
                    <a:p>
                      <a:pPr marL="342900" lvl="0" indent="-342900" algn="l">
                        <a:lnSpc>
                          <a:spcPct val="107000"/>
                        </a:lnSpc>
                        <a:buFont typeface="Symbol" panose="05050102010706020507" pitchFamily="18" charset="2"/>
                        <a:buChar char=""/>
                      </a:pPr>
                      <a:r>
                        <a:rPr lang="en-US" sz="1000">
                          <a:effectLst/>
                        </a:rPr>
                        <a:t>There are opportunities for practice or feedback on skills or concepts embedded in course goals</a:t>
                      </a:r>
                      <a:endParaRPr lang="es-CL" sz="1000">
                        <a:effectLst/>
                      </a:endParaRPr>
                    </a:p>
                    <a:p>
                      <a:pPr marL="342900" lvl="0" indent="-342900" algn="l">
                        <a:lnSpc>
                          <a:spcPct val="107000"/>
                        </a:lnSpc>
                        <a:buFont typeface="Symbol" panose="05050102010706020507" pitchFamily="18" charset="2"/>
                        <a:buChar char=""/>
                      </a:pPr>
                      <a:r>
                        <a:rPr lang="en-US" sz="1000">
                          <a:effectLst/>
                        </a:rPr>
                        <a:t>Practices elicit student engagement </a:t>
                      </a:r>
                      <a:endParaRPr lang="es-CL" sz="1000">
                        <a:effectLst/>
                      </a:endParaRPr>
                    </a:p>
                    <a:p>
                      <a:pPr marL="342900" lvl="0" indent="-342900" algn="l">
                        <a:lnSpc>
                          <a:spcPct val="107000"/>
                        </a:lnSpc>
                        <a:buFont typeface="Symbol" panose="05050102010706020507" pitchFamily="18" charset="2"/>
                        <a:buChar char=""/>
                      </a:pPr>
                      <a:r>
                        <a:rPr lang="en-US" sz="1000">
                          <a:effectLst/>
                        </a:rPr>
                        <a:t>Assessments/assignments are appropriately challenging and tied to course goals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Courses are well-planned and integrated, and reflect commitment to providing meaningful assignments and assessments</a:t>
                      </a:r>
                      <a:endParaRPr lang="es-CL" sz="1000">
                        <a:effectLst/>
                      </a:endParaRPr>
                    </a:p>
                    <a:p>
                      <a:pPr marL="342900" lvl="0" indent="-342900" algn="l">
                        <a:lnSpc>
                          <a:spcPct val="107000"/>
                        </a:lnSpc>
                        <a:buFont typeface="Symbol" panose="05050102010706020507" pitchFamily="18" charset="2"/>
                        <a:buChar char=""/>
                      </a:pPr>
                      <a:r>
                        <a:rPr lang="en-US" sz="1000">
                          <a:effectLst/>
                        </a:rPr>
                        <a:t>Uses effective or innovative methods to support learning in all students</a:t>
                      </a:r>
                      <a:endParaRPr lang="es-CL" sz="1000">
                        <a:effectLst/>
                      </a:endParaRPr>
                    </a:p>
                    <a:p>
                      <a:pPr marL="342900" lvl="0" indent="-342900" algn="l">
                        <a:lnSpc>
                          <a:spcPct val="107000"/>
                        </a:lnSpc>
                        <a:buFont typeface="Symbol" panose="05050102010706020507" pitchFamily="18" charset="2"/>
                        <a:buChar char=""/>
                      </a:pPr>
                      <a:r>
                        <a:rPr lang="en-US" sz="1000">
                          <a:effectLst/>
                        </a:rPr>
                        <a:t>In- and out-of-class activities consistently provide opportunities for practice and feedback on important skills and concepts</a:t>
                      </a:r>
                      <a:endParaRPr lang="es-CL" sz="1000">
                        <a:effectLst/>
                      </a:endParaRPr>
                    </a:p>
                    <a:p>
                      <a:pPr marL="342900" lvl="0" indent="-342900" algn="l">
                        <a:lnSpc>
                          <a:spcPct val="107000"/>
                        </a:lnSpc>
                        <a:buFont typeface="Symbol" panose="05050102010706020507" pitchFamily="18" charset="2"/>
                        <a:buChar char=""/>
                      </a:pPr>
                      <a:r>
                        <a:rPr lang="en-US" sz="1000">
                          <a:effectLst/>
                        </a:rPr>
                        <a:t>Practices foster high levels of active engagement among students</a:t>
                      </a:r>
                      <a:endParaRPr lang="es-CL" sz="1000">
                        <a:effectLst/>
                      </a:endParaRPr>
                    </a:p>
                    <a:p>
                      <a:pPr marL="342900" lvl="0" indent="-342900" algn="l">
                        <a:lnSpc>
                          <a:spcPct val="107000"/>
                        </a:lnSpc>
                        <a:spcAft>
                          <a:spcPts val="800"/>
                        </a:spcAft>
                        <a:buFont typeface="Symbol" panose="05050102010706020507" pitchFamily="18" charset="2"/>
                        <a:buChar char=""/>
                      </a:pPr>
                      <a:r>
                        <a:rPr lang="en-US" sz="1000">
                          <a:effectLst/>
                        </a:rPr>
                        <a:t>Assessments and assignments are varied and allow students to demonstrate knowledge through multiple modalities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1491874081"/>
                  </a:ext>
                </a:extLst>
              </a:tr>
              <a:tr h="1120142">
                <a:tc>
                  <a:txBody>
                    <a:bodyPr/>
                    <a:lstStyle/>
                    <a:p>
                      <a:pPr marL="457200" algn="l">
                        <a:lnSpc>
                          <a:spcPct val="107000"/>
                        </a:lnSpc>
                        <a:buNone/>
                      </a:pPr>
                      <a:r>
                        <a:rPr lang="en-US" sz="1000">
                          <a:effectLst/>
                        </a:rPr>
                        <a:t>Class climate </a:t>
                      </a:r>
                      <a:endParaRPr lang="es-CL" sz="1000">
                        <a:effectLst/>
                      </a:endParaRPr>
                    </a:p>
                    <a:p>
                      <a:pPr marL="457200" algn="l">
                        <a:lnSpc>
                          <a:spcPct val="107000"/>
                        </a:lnSpc>
                        <a:buNone/>
                      </a:pPr>
                      <a:r>
                        <a:rPr lang="en-US" sz="1000">
                          <a:effectLst/>
                        </a:rPr>
                        <a:t>What sort of climate for learning does the instructor create? What are students’ views of their learning experience and how has this informed teaching?</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Class climate discourages student motivation or self-efficacy </a:t>
                      </a:r>
                      <a:endParaRPr lang="es-CL" sz="1000">
                        <a:effectLst/>
                      </a:endParaRPr>
                    </a:p>
                    <a:p>
                      <a:pPr marL="342900" lvl="0" indent="-342900" algn="l">
                        <a:lnSpc>
                          <a:spcPct val="107000"/>
                        </a:lnSpc>
                        <a:buFont typeface="Symbol" panose="05050102010706020507" pitchFamily="18" charset="2"/>
                        <a:buChar char=""/>
                      </a:pPr>
                      <a:r>
                        <a:rPr lang="en-US" sz="1000">
                          <a:effectLst/>
                        </a:rPr>
                        <a:t>Does not effectively create a respectful or welcoming learning environment</a:t>
                      </a:r>
                      <a:endParaRPr lang="es-CL" sz="1000">
                        <a:effectLst/>
                      </a:endParaRPr>
                    </a:p>
                    <a:p>
                      <a:pPr marL="342900" lvl="0" indent="-342900" algn="l">
                        <a:lnSpc>
                          <a:spcPct val="107000"/>
                        </a:lnSpc>
                        <a:buFont typeface="Symbol" panose="05050102010706020507" pitchFamily="18" charset="2"/>
                        <a:buChar char=""/>
                      </a:pPr>
                      <a:r>
                        <a:rPr lang="en-US" sz="1000">
                          <a:effectLst/>
                        </a:rPr>
                        <a:t>Consistently negative student reports of teacher accessibility or interaction skills</a:t>
                      </a:r>
                      <a:endParaRPr lang="es-CL" sz="1000">
                        <a:effectLst/>
                      </a:endParaRPr>
                    </a:p>
                    <a:p>
                      <a:pPr marL="342900" lvl="0" indent="-342900" algn="l">
                        <a:lnSpc>
                          <a:spcPct val="107000"/>
                        </a:lnSpc>
                        <a:buFont typeface="Symbol" panose="05050102010706020507" pitchFamily="18" charset="2"/>
                        <a:buChar char=""/>
                      </a:pPr>
                      <a:r>
                        <a:rPr lang="en-US" sz="1000">
                          <a:effectLst/>
                        </a:rPr>
                        <a:t>Little attempt to address concerns voiced by students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Class climate promotes student motivation </a:t>
                      </a:r>
                      <a:endParaRPr lang="es-CL" sz="1000">
                        <a:effectLst/>
                      </a:endParaRPr>
                    </a:p>
                    <a:p>
                      <a:pPr marL="342900" lvl="0" indent="-342900" algn="l">
                        <a:lnSpc>
                          <a:spcPct val="107000"/>
                        </a:lnSpc>
                        <a:buFont typeface="Symbol" panose="05050102010706020507" pitchFamily="18" charset="2"/>
                        <a:buChar char=""/>
                      </a:pPr>
                      <a:r>
                        <a:rPr lang="en-US" sz="1000">
                          <a:effectLst/>
                        </a:rPr>
                        <a:t>Fosters a respectful learning environment </a:t>
                      </a:r>
                      <a:endParaRPr lang="es-CL" sz="1000">
                        <a:effectLst/>
                      </a:endParaRPr>
                    </a:p>
                    <a:p>
                      <a:pPr marL="342900" lvl="0" indent="-342900" algn="l">
                        <a:lnSpc>
                          <a:spcPct val="107000"/>
                        </a:lnSpc>
                        <a:buFont typeface="Symbol" panose="05050102010706020507" pitchFamily="18" charset="2"/>
                        <a:buChar char=""/>
                      </a:pPr>
                      <a:r>
                        <a:rPr lang="en-US" sz="1000">
                          <a:effectLst/>
                        </a:rPr>
                        <a:t>No consistently negative student ratings of teacher accessibility or interaction skills</a:t>
                      </a:r>
                      <a:endParaRPr lang="es-CL" sz="1000">
                        <a:effectLst/>
                      </a:endParaRPr>
                    </a:p>
                    <a:p>
                      <a:pPr marL="342900" lvl="0" indent="-342900" algn="l">
                        <a:lnSpc>
                          <a:spcPct val="107000"/>
                        </a:lnSpc>
                        <a:buFont typeface="Symbol" panose="05050102010706020507" pitchFamily="18" charset="2"/>
                        <a:buChar char=""/>
                      </a:pPr>
                      <a:r>
                        <a:rPr lang="en-US" sz="1000">
                          <a:effectLst/>
                        </a:rPr>
                        <a:t>Instructor articulates some lessons learned through student feedback</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Climate promotes motivation, self-efficacy, ownership of learning </a:t>
                      </a:r>
                      <a:endParaRPr lang="es-CL" sz="1000">
                        <a:effectLst/>
                      </a:endParaRPr>
                    </a:p>
                    <a:p>
                      <a:pPr marL="342900" lvl="0" indent="-342900" algn="l">
                        <a:lnSpc>
                          <a:spcPct val="107000"/>
                        </a:lnSpc>
                        <a:buFont typeface="Symbol" panose="05050102010706020507" pitchFamily="18" charset="2"/>
                        <a:buChar char=""/>
                      </a:pPr>
                      <a:r>
                        <a:rPr lang="en-US" sz="1000">
                          <a:effectLst/>
                        </a:rPr>
                        <a:t>Instructor models welcoming language and behavior</a:t>
                      </a:r>
                      <a:endParaRPr lang="es-CL" sz="1000">
                        <a:effectLst/>
                      </a:endParaRPr>
                    </a:p>
                    <a:p>
                      <a:pPr marL="342900" lvl="0" indent="-342900" algn="l">
                        <a:lnSpc>
                          <a:spcPct val="107000"/>
                        </a:lnSpc>
                        <a:buFont typeface="Symbol" panose="05050102010706020507" pitchFamily="18" charset="2"/>
                        <a:buChar char=""/>
                      </a:pPr>
                      <a:r>
                        <a:rPr lang="en-US" sz="1000">
                          <a:effectLst/>
                        </a:rPr>
                        <a:t>Fosters a respectful and open learning environment that promotes student-student and student-teacher dialogue </a:t>
                      </a:r>
                      <a:endParaRPr lang="es-CL" sz="1000">
                        <a:effectLst/>
                      </a:endParaRPr>
                    </a:p>
                    <a:p>
                      <a:pPr marL="342900" lvl="0" indent="-342900" algn="l">
                        <a:lnSpc>
                          <a:spcPct val="107000"/>
                        </a:lnSpc>
                        <a:buFont typeface="Symbol" panose="05050102010706020507" pitchFamily="18" charset="2"/>
                        <a:buChar char=""/>
                      </a:pPr>
                      <a:r>
                        <a:rPr lang="en-US" sz="1000">
                          <a:effectLst/>
                        </a:rPr>
                        <a:t>Student feedback on teacher accessibility and interaction is generally positive </a:t>
                      </a:r>
                      <a:endParaRPr lang="es-CL" sz="1000">
                        <a:effectLst/>
                      </a:endParaRPr>
                    </a:p>
                    <a:p>
                      <a:pPr marL="342900" lvl="0" indent="-342900" algn="l">
                        <a:lnSpc>
                          <a:spcPct val="107000"/>
                        </a:lnSpc>
                        <a:spcAft>
                          <a:spcPts val="800"/>
                        </a:spcAft>
                        <a:buFont typeface="Symbol" panose="05050102010706020507" pitchFamily="18" charset="2"/>
                        <a:buChar char=""/>
                      </a:pPr>
                      <a:r>
                        <a:rPr lang="en-US" sz="1000">
                          <a:effectLst/>
                        </a:rPr>
                        <a:t>Instructor seeks and is responsive to student feedback</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2199324129"/>
                  </a:ext>
                </a:extLst>
              </a:tr>
              <a:tr h="1232706">
                <a:tc>
                  <a:txBody>
                    <a:bodyPr/>
                    <a:lstStyle/>
                    <a:p>
                      <a:pPr marL="457200" algn="l">
                        <a:lnSpc>
                          <a:spcPct val="107000"/>
                        </a:lnSpc>
                        <a:buNone/>
                      </a:pPr>
                      <a:r>
                        <a:rPr lang="en-US" sz="1000">
                          <a:effectLst/>
                        </a:rPr>
                        <a:t>Achievement of learning outcomes</a:t>
                      </a:r>
                      <a:endParaRPr lang="es-CL" sz="1000">
                        <a:effectLst/>
                      </a:endParaRPr>
                    </a:p>
                    <a:p>
                      <a:pPr marL="457200" algn="l">
                        <a:lnSpc>
                          <a:spcPct val="107000"/>
                        </a:lnSpc>
                        <a:buNone/>
                      </a:pPr>
                      <a:r>
                        <a:rPr lang="en-US" sz="1000">
                          <a:effectLst/>
                        </a:rPr>
                        <a:t>What impact do courses have on learners? What is the evidence of student learning? Are there efforts to support achievement in all students?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Insufficient attention to student understanding; quality of learning is not described or analyzed with clear standards</a:t>
                      </a:r>
                      <a:endParaRPr lang="es-CL" sz="1000">
                        <a:effectLst/>
                      </a:endParaRPr>
                    </a:p>
                    <a:p>
                      <a:pPr marL="342900" lvl="0" indent="-342900" algn="l">
                        <a:lnSpc>
                          <a:spcPct val="107000"/>
                        </a:lnSpc>
                        <a:buFont typeface="Symbol" panose="05050102010706020507" pitchFamily="18" charset="2"/>
                        <a:buChar char=""/>
                      </a:pPr>
                      <a:r>
                        <a:rPr lang="en-US" sz="1000">
                          <a:effectLst/>
                        </a:rPr>
                        <a:t>Evidence of inadequate learning without clear attempts to improve</a:t>
                      </a:r>
                      <a:endParaRPr lang="es-CL" sz="1000">
                        <a:effectLst/>
                      </a:endParaRPr>
                    </a:p>
                    <a:p>
                      <a:pPr marL="342900" lvl="0" indent="-342900" algn="l">
                        <a:lnSpc>
                          <a:spcPct val="107000"/>
                        </a:lnSpc>
                        <a:buFont typeface="Symbol" panose="05050102010706020507" pitchFamily="18" charset="2"/>
                        <a:buChar char=""/>
                      </a:pPr>
                      <a:r>
                        <a:rPr lang="en-US" sz="1000">
                          <a:effectLst/>
                        </a:rPr>
                        <a:t>Quality of learning is insufficient to support success in other contexts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Standards for evaluating the quality of student understanding are clear and generally meet department expectations</a:t>
                      </a:r>
                      <a:endParaRPr lang="es-CL" sz="1000">
                        <a:effectLst/>
                      </a:endParaRPr>
                    </a:p>
                    <a:p>
                      <a:pPr marL="342900" lvl="0" indent="-342900" algn="l">
                        <a:lnSpc>
                          <a:spcPct val="107000"/>
                        </a:lnSpc>
                        <a:buFont typeface="Symbol" panose="05050102010706020507" pitchFamily="18" charset="2"/>
                        <a:buChar char=""/>
                      </a:pPr>
                      <a:r>
                        <a:rPr lang="en-US" sz="1000">
                          <a:effectLst/>
                        </a:rPr>
                        <a:t>Attends to student achievement through formal and informal assessments</a:t>
                      </a:r>
                      <a:endParaRPr lang="es-CL" sz="1000">
                        <a:effectLst/>
                      </a:endParaRPr>
                    </a:p>
                    <a:p>
                      <a:pPr marL="342900" lvl="0" indent="-342900" algn="l">
                        <a:lnSpc>
                          <a:spcPct val="107000"/>
                        </a:lnSpc>
                        <a:buFont typeface="Symbol" panose="05050102010706020507" pitchFamily="18" charset="2"/>
                        <a:buChar char=""/>
                      </a:pPr>
                      <a:r>
                        <a:rPr lang="en-US" sz="1000">
                          <a:effectLst/>
                        </a:rPr>
                        <a:t>Some use of student learning evidence to inform teaching</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Standards for evaluating understanding are clear and connected to program, curriculum, or professional expectations</a:t>
                      </a:r>
                      <a:endParaRPr lang="es-CL" sz="1000">
                        <a:effectLst/>
                      </a:endParaRPr>
                    </a:p>
                    <a:p>
                      <a:pPr marL="342900" lvl="0" indent="-342900" algn="l">
                        <a:lnSpc>
                          <a:spcPct val="107000"/>
                        </a:lnSpc>
                        <a:buFont typeface="Symbol" panose="05050102010706020507" pitchFamily="18" charset="2"/>
                        <a:buChar char=""/>
                      </a:pPr>
                      <a:r>
                        <a:rPr lang="en-US" sz="1000">
                          <a:effectLst/>
                        </a:rPr>
                        <a:t>Consistently attends to student learning, uses it to inform teaching</a:t>
                      </a:r>
                      <a:endParaRPr lang="es-CL" sz="1000">
                        <a:effectLst/>
                      </a:endParaRPr>
                    </a:p>
                    <a:p>
                      <a:pPr marL="342900" lvl="0" indent="-342900" algn="l">
                        <a:lnSpc>
                          <a:spcPct val="107000"/>
                        </a:lnSpc>
                        <a:buFont typeface="Symbol" panose="05050102010706020507" pitchFamily="18" charset="2"/>
                        <a:buChar char=""/>
                      </a:pPr>
                      <a:r>
                        <a:rPr lang="en-US" sz="1000">
                          <a:effectLst/>
                        </a:rPr>
                        <a:t>Efforts to support learning in all students through examination of student performance</a:t>
                      </a:r>
                      <a:endParaRPr lang="es-CL" sz="1000">
                        <a:effectLst/>
                      </a:endParaRPr>
                    </a:p>
                    <a:p>
                      <a:pPr marL="342900" lvl="0" indent="-342900" algn="l">
                        <a:lnSpc>
                          <a:spcPct val="107000"/>
                        </a:lnSpc>
                        <a:spcAft>
                          <a:spcPts val="800"/>
                        </a:spcAft>
                        <a:buFont typeface="Symbol" panose="05050102010706020507" pitchFamily="18" charset="2"/>
                        <a:buChar char=""/>
                      </a:pPr>
                      <a:r>
                        <a:rPr lang="en-US" sz="1000">
                          <a:effectLst/>
                        </a:rPr>
                        <a:t>Quality of learning supports success in other contexts (e.g., subsequent courses or relevant non-classroom venues)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346839673"/>
                  </a:ext>
                </a:extLst>
              </a:tr>
              <a:tr h="1007580">
                <a:tc>
                  <a:txBody>
                    <a:bodyPr/>
                    <a:lstStyle/>
                    <a:p>
                      <a:pPr marL="457200" algn="l">
                        <a:lnSpc>
                          <a:spcPct val="107000"/>
                        </a:lnSpc>
                        <a:buNone/>
                      </a:pPr>
                      <a:r>
                        <a:rPr lang="en-US" sz="1000">
                          <a:effectLst/>
                        </a:rPr>
                        <a:t>Reflection and iterative growth   </a:t>
                      </a:r>
                      <a:endParaRPr lang="es-CL" sz="1000">
                        <a:effectLst/>
                      </a:endParaRPr>
                    </a:p>
                    <a:p>
                      <a:pPr marL="457200" algn="l">
                        <a:lnSpc>
                          <a:spcPct val="107000"/>
                        </a:lnSpc>
                        <a:buNone/>
                      </a:pPr>
                      <a:r>
                        <a:rPr lang="en-US" sz="1000">
                          <a:effectLst/>
                        </a:rPr>
                        <a:t>How has the instructor’s teaching changed over time? How has this been informed by student learning evidence?</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Little or no indication of having reflected upon or learned from prior teaching, evidence of student learning, or peer or student feedback</a:t>
                      </a:r>
                      <a:endParaRPr lang="es-CL" sz="1000">
                        <a:effectLst/>
                      </a:endParaRPr>
                    </a:p>
                    <a:p>
                      <a:pPr marL="342900" lvl="0" indent="-342900" algn="l">
                        <a:lnSpc>
                          <a:spcPct val="107000"/>
                        </a:lnSpc>
                        <a:buFont typeface="Symbol" panose="05050102010706020507" pitchFamily="18" charset="2"/>
                        <a:buChar char=""/>
                      </a:pPr>
                      <a:r>
                        <a:rPr lang="en-US" sz="1000">
                          <a:effectLst/>
                        </a:rPr>
                        <a:t>Little or no indication of efforts to develop as a teacher despite evidence of need </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Continued competent teaching, possibly with minor reflection based on input from peers and/or students</a:t>
                      </a:r>
                      <a:endParaRPr lang="es-CL" sz="1000">
                        <a:effectLst/>
                      </a:endParaRPr>
                    </a:p>
                    <a:p>
                      <a:pPr marL="342900" lvl="0" indent="-342900" algn="l">
                        <a:lnSpc>
                          <a:spcPct val="107000"/>
                        </a:lnSpc>
                        <a:buFont typeface="Symbol" panose="05050102010706020507" pitchFamily="18" charset="2"/>
                        <a:buChar char=""/>
                      </a:pPr>
                      <a:r>
                        <a:rPr lang="en-US" sz="1000">
                          <a:effectLst/>
                        </a:rPr>
                        <a:t>Articulates some lessons learned or changes informed by prior teaching, student learning, or feedback</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Regularly adjusts teaching based on reflection on student learning and other feedback, within or across semesters</a:t>
                      </a:r>
                      <a:endParaRPr lang="es-CL" sz="1000">
                        <a:effectLst/>
                      </a:endParaRPr>
                    </a:p>
                    <a:p>
                      <a:pPr marL="342900" lvl="0" indent="-342900" algn="l">
                        <a:lnSpc>
                          <a:spcPct val="107000"/>
                        </a:lnSpc>
                        <a:buFont typeface="Symbol" panose="05050102010706020507" pitchFamily="18" charset="2"/>
                        <a:buChar char=""/>
                      </a:pPr>
                      <a:r>
                        <a:rPr lang="en-US" sz="1000">
                          <a:effectLst/>
                        </a:rPr>
                        <a:t>Examines student performance after adjustments </a:t>
                      </a:r>
                      <a:endParaRPr lang="es-CL" sz="1000">
                        <a:effectLst/>
                      </a:endParaRPr>
                    </a:p>
                    <a:p>
                      <a:pPr marL="342900" lvl="0" indent="-342900" algn="l">
                        <a:lnSpc>
                          <a:spcPct val="107000"/>
                        </a:lnSpc>
                        <a:spcAft>
                          <a:spcPts val="800"/>
                        </a:spcAft>
                        <a:buFont typeface="Symbol" panose="05050102010706020507" pitchFamily="18" charset="2"/>
                        <a:buChar char=""/>
                      </a:pPr>
                      <a:r>
                        <a:rPr lang="en-US" sz="1000">
                          <a:effectLst/>
                        </a:rPr>
                        <a:t>Reports improved student achievement of learning goals or other student outcomes based on past teaching modifications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3910213613"/>
                  </a:ext>
                </a:extLst>
              </a:tr>
              <a:tr h="782456">
                <a:tc>
                  <a:txBody>
                    <a:bodyPr/>
                    <a:lstStyle/>
                    <a:p>
                      <a:pPr marL="457200" algn="l">
                        <a:lnSpc>
                          <a:spcPct val="107000"/>
                        </a:lnSpc>
                        <a:buNone/>
                      </a:pPr>
                      <a:r>
                        <a:rPr lang="en-US" sz="1000">
                          <a:effectLst/>
                        </a:rPr>
                        <a:t>Mentoring &amp; advising</a:t>
                      </a:r>
                      <a:endParaRPr lang="es-CL" sz="1000">
                        <a:effectLst/>
                      </a:endParaRPr>
                    </a:p>
                    <a:p>
                      <a:pPr marL="457200" algn="l">
                        <a:lnSpc>
                          <a:spcPct val="107000"/>
                        </a:lnSpc>
                        <a:buNone/>
                      </a:pPr>
                      <a:r>
                        <a:rPr lang="en-US" sz="1000">
                          <a:effectLst/>
                        </a:rPr>
                        <a:t>How effectively has the instructor worked individually with UG or grad students?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No indication of effective advising or mentoring (but expected in department)</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Some evidence of effective advising and mentoring (define as appropriate for discipline)</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spcAft>
                          <a:spcPts val="800"/>
                        </a:spcAft>
                        <a:buFont typeface="Symbol" panose="05050102010706020507" pitchFamily="18" charset="2"/>
                        <a:buChar char=""/>
                      </a:pPr>
                      <a:r>
                        <a:rPr lang="en-US" sz="1000">
                          <a:effectLst/>
                        </a:rPr>
                        <a:t>Evidence of exceptional quality and time commitment to advising and mentoring (define as appropriate for discipline)</a:t>
                      </a:r>
                      <a:endParaRPr lang="es-CL" sz="1000">
                        <a:effectLst/>
                      </a:endParaRPr>
                    </a:p>
                    <a:p>
                      <a:pPr algn="l">
                        <a:lnSpc>
                          <a:spcPct val="107000"/>
                        </a:lnSpc>
                        <a:spcAft>
                          <a:spcPts val="800"/>
                        </a:spcAft>
                        <a:buNone/>
                      </a:pPr>
                      <a:r>
                        <a:rPr lang="en-US" sz="1000">
                          <a:effectLst/>
                        </a:rPr>
                        <a:t> </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518415663"/>
                  </a:ext>
                </a:extLst>
              </a:tr>
              <a:tr h="1150749">
                <a:tc>
                  <a:txBody>
                    <a:bodyPr/>
                    <a:lstStyle/>
                    <a:p>
                      <a:pPr marL="457200" algn="l">
                        <a:lnSpc>
                          <a:spcPct val="107000"/>
                        </a:lnSpc>
                        <a:buNone/>
                      </a:pPr>
                      <a:r>
                        <a:rPr lang="en-US" sz="1000">
                          <a:effectLst/>
                        </a:rPr>
                        <a:t>Involvement in teaching service, scholarship, or community</a:t>
                      </a:r>
                      <a:endParaRPr lang="es-CL" sz="1000">
                        <a:effectLst/>
                      </a:endParaRPr>
                    </a:p>
                    <a:p>
                      <a:pPr marL="457200" algn="l">
                        <a:lnSpc>
                          <a:spcPct val="107000"/>
                        </a:lnSpc>
                        <a:buNone/>
                      </a:pPr>
                      <a:r>
                        <a:rPr lang="en-US" sz="1000">
                          <a:effectLst/>
                        </a:rPr>
                        <a:t>How has the instructor contributed to the broader teaching community, both on and off campus?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Little or no evidence of positive contributions to teaching and learning culture in department or institution</a:t>
                      </a:r>
                      <a:endParaRPr lang="es-CL" sz="1000">
                        <a:effectLst/>
                      </a:endParaRPr>
                    </a:p>
                    <a:p>
                      <a:pPr marL="342900" lvl="0" indent="-342900" algn="l">
                        <a:lnSpc>
                          <a:spcPct val="107000"/>
                        </a:lnSpc>
                        <a:buFont typeface="Symbol" panose="05050102010706020507" pitchFamily="18" charset="2"/>
                        <a:buChar char=""/>
                      </a:pPr>
                      <a:r>
                        <a:rPr lang="en-US" sz="1000">
                          <a:effectLst/>
                        </a:rPr>
                        <a:t>Little or no interaction with teaching community   </a:t>
                      </a:r>
                      <a:endParaRPr lang="es-CL" sz="1000">
                        <a:effectLst/>
                      </a:endParaRPr>
                    </a:p>
                    <a:p>
                      <a:pPr marL="342900" lvl="0" indent="-342900" algn="l">
                        <a:lnSpc>
                          <a:spcPct val="107000"/>
                        </a:lnSpc>
                        <a:buFont typeface="Symbol" panose="05050102010706020507" pitchFamily="18" charset="2"/>
                        <a:buChar char=""/>
                      </a:pPr>
                      <a:r>
                        <a:rPr lang="en-US" sz="1000">
                          <a:effectLst/>
                        </a:rPr>
                        <a:t>Practices and results of teaching are not shared with others</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a:effectLst/>
                        </a:rPr>
                        <a:t>Some positive contributions to teaching and learning culture in department or institution </a:t>
                      </a:r>
                      <a:endParaRPr lang="es-CL" sz="1000">
                        <a:effectLst/>
                      </a:endParaRPr>
                    </a:p>
                    <a:p>
                      <a:pPr marL="342900" lvl="0" indent="-342900" algn="l">
                        <a:lnSpc>
                          <a:spcPct val="107000"/>
                        </a:lnSpc>
                        <a:buFont typeface="Symbol" panose="05050102010706020507" pitchFamily="18" charset="2"/>
                        <a:buChar char=""/>
                      </a:pPr>
                      <a:r>
                        <a:rPr lang="en-US" sz="1000">
                          <a:effectLst/>
                        </a:rPr>
                        <a:t>Some engagement with peers on teaching </a:t>
                      </a:r>
                      <a:endParaRPr lang="es-CL" sz="1000">
                        <a:effectLst/>
                      </a:endParaRPr>
                    </a:p>
                    <a:p>
                      <a:pPr marL="342900" lvl="0" indent="-342900" algn="l">
                        <a:lnSpc>
                          <a:spcPct val="107000"/>
                        </a:lnSpc>
                        <a:buFont typeface="Symbol" panose="05050102010706020507" pitchFamily="18" charset="2"/>
                        <a:buChar char=""/>
                      </a:pPr>
                      <a:r>
                        <a:rPr lang="en-US" sz="1000">
                          <a:effectLst/>
                        </a:rPr>
                        <a:t>Has shared teaching practices or results with others (e.g., presentation, workshop, essay) </a:t>
                      </a:r>
                      <a:endParaRPr lang="es-CL" sz="10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000" dirty="0">
                          <a:effectLst/>
                        </a:rPr>
                        <a:t>Consistently positive contributions to teaching and learning culture in department or institution (e.g., curriculum committees, program assessment, co-curricular activities)</a:t>
                      </a:r>
                      <a:endParaRPr lang="es-CL" sz="1000" dirty="0">
                        <a:effectLst/>
                      </a:endParaRPr>
                    </a:p>
                    <a:p>
                      <a:pPr marL="342900" lvl="0" indent="-342900" algn="l">
                        <a:lnSpc>
                          <a:spcPct val="107000"/>
                        </a:lnSpc>
                        <a:buFont typeface="Symbol" panose="05050102010706020507" pitchFamily="18" charset="2"/>
                        <a:buChar char=""/>
                      </a:pPr>
                      <a:r>
                        <a:rPr lang="en-US" sz="1000" dirty="0">
                          <a:effectLst/>
                        </a:rPr>
                        <a:t>Regular engagement with peers on teaching (e.g., teaching-related presentations or workshops, peer reviews of teaching)</a:t>
                      </a:r>
                      <a:endParaRPr lang="es-CL" sz="1000" dirty="0">
                        <a:effectLst/>
                      </a:endParaRPr>
                    </a:p>
                    <a:p>
                      <a:pPr marL="342900" lvl="0" indent="-342900" algn="l">
                        <a:lnSpc>
                          <a:spcPct val="107000"/>
                        </a:lnSpc>
                        <a:buFont typeface="Symbol" panose="05050102010706020507" pitchFamily="18" charset="2"/>
                        <a:buChar char=""/>
                      </a:pPr>
                      <a:r>
                        <a:rPr lang="en-US" sz="1000" dirty="0">
                          <a:effectLst/>
                        </a:rPr>
                        <a:t>Presentations or publications to share practices or results of teaching with multiple audiences</a:t>
                      </a:r>
                      <a:endParaRPr lang="es-CL" sz="1000" dirty="0">
                        <a:effectLst/>
                      </a:endParaRPr>
                    </a:p>
                    <a:p>
                      <a:pPr marL="342900" lvl="0" indent="-342900" algn="l">
                        <a:lnSpc>
                          <a:spcPct val="107000"/>
                        </a:lnSpc>
                        <a:spcAft>
                          <a:spcPts val="800"/>
                        </a:spcAft>
                        <a:buFont typeface="Symbol" panose="05050102010706020507" pitchFamily="18" charset="2"/>
                        <a:buChar char=""/>
                      </a:pPr>
                      <a:r>
                        <a:rPr lang="en-US" sz="1000" dirty="0">
                          <a:effectLst/>
                        </a:rPr>
                        <a:t>Scholarly publications or grant applications related to teaching</a:t>
                      </a:r>
                      <a:endParaRPr lang="es-CL" sz="10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3463184696"/>
                  </a:ext>
                </a:extLst>
              </a:tr>
            </a:tbl>
          </a:graphicData>
        </a:graphic>
      </p:graphicFrame>
    </p:spTree>
    <p:extLst>
      <p:ext uri="{BB962C8B-B14F-4D97-AF65-F5344CB8AC3E}">
        <p14:creationId xmlns:p14="http://schemas.microsoft.com/office/powerpoint/2010/main" val="34551730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94FF-7160-DCC5-D1C9-03D43CE90AEE}"/>
            </a:ext>
          </a:extLst>
        </p:cNvPr>
        <p:cNvGrpSpPr/>
        <p:nvPr/>
      </p:nvGrpSpPr>
      <p:grpSpPr>
        <a:xfrm>
          <a:off x="0" y="0"/>
          <a:ext cx="0" cy="0"/>
          <a:chOff x="0" y="0"/>
          <a:chExt cx="0" cy="0"/>
        </a:xfrm>
      </p:grpSpPr>
      <p:sp>
        <p:nvSpPr>
          <p:cNvPr id="6" name="Rectángulo 5">
            <a:extLst>
              <a:ext uri="{FF2B5EF4-FFF2-40B4-BE49-F238E27FC236}">
                <a16:creationId xmlns:a16="http://schemas.microsoft.com/office/drawing/2014/main" id="{774A590D-5182-B924-4FDC-C350B4660D43}"/>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graphicFrame>
        <p:nvGraphicFramePr>
          <p:cNvPr id="2" name="Tabla 1">
            <a:extLst>
              <a:ext uri="{FF2B5EF4-FFF2-40B4-BE49-F238E27FC236}">
                <a16:creationId xmlns:a16="http://schemas.microsoft.com/office/drawing/2014/main" id="{3929472F-AC53-ED88-0FDC-4CE6D8FC9782}"/>
              </a:ext>
            </a:extLst>
          </p:cNvPr>
          <p:cNvGraphicFramePr>
            <a:graphicFrameLocks noGrp="1"/>
          </p:cNvGraphicFramePr>
          <p:nvPr>
            <p:extLst>
              <p:ext uri="{D42A27DB-BD31-4B8C-83A1-F6EECF244321}">
                <p14:modId xmlns:p14="http://schemas.microsoft.com/office/powerpoint/2010/main" val="302701716"/>
              </p:ext>
            </p:extLst>
          </p:nvPr>
        </p:nvGraphicFramePr>
        <p:xfrm>
          <a:off x="0" y="0"/>
          <a:ext cx="14630400" cy="8229600"/>
        </p:xfrm>
        <a:graphic>
          <a:graphicData uri="http://schemas.openxmlformats.org/drawingml/2006/table">
            <a:tbl>
              <a:tblPr firstRow="1" firstCol="1" bandRow="1">
                <a:tableStyleId>{5C22544A-7EE6-4342-B048-85BDC9FD1C3A}</a:tableStyleId>
              </a:tblPr>
              <a:tblGrid>
                <a:gridCol w="2354497">
                  <a:extLst>
                    <a:ext uri="{9D8B030D-6E8A-4147-A177-3AD203B41FA5}">
                      <a16:colId xmlns:a16="http://schemas.microsoft.com/office/drawing/2014/main" val="2805311059"/>
                    </a:ext>
                  </a:extLst>
                </a:gridCol>
                <a:gridCol w="3964366">
                  <a:extLst>
                    <a:ext uri="{9D8B030D-6E8A-4147-A177-3AD203B41FA5}">
                      <a16:colId xmlns:a16="http://schemas.microsoft.com/office/drawing/2014/main" val="3583085896"/>
                    </a:ext>
                  </a:extLst>
                </a:gridCol>
                <a:gridCol w="3398028">
                  <a:extLst>
                    <a:ext uri="{9D8B030D-6E8A-4147-A177-3AD203B41FA5}">
                      <a16:colId xmlns:a16="http://schemas.microsoft.com/office/drawing/2014/main" val="1775604808"/>
                    </a:ext>
                  </a:extLst>
                </a:gridCol>
                <a:gridCol w="4913509">
                  <a:extLst>
                    <a:ext uri="{9D8B030D-6E8A-4147-A177-3AD203B41FA5}">
                      <a16:colId xmlns:a16="http://schemas.microsoft.com/office/drawing/2014/main" val="3869692197"/>
                    </a:ext>
                  </a:extLst>
                </a:gridCol>
              </a:tblGrid>
              <a:tr h="790043">
                <a:tc>
                  <a:txBody>
                    <a:bodyPr/>
                    <a:lstStyle/>
                    <a:p>
                      <a:pPr marL="457200" algn="l">
                        <a:lnSpc>
                          <a:spcPct val="107000"/>
                        </a:lnSpc>
                        <a:spcAft>
                          <a:spcPts val="800"/>
                        </a:spcAft>
                        <a:buNone/>
                      </a:pPr>
                      <a:r>
                        <a:rPr lang="es-CL" sz="1800" dirty="0" err="1">
                          <a:effectLst/>
                          <a:latin typeface="Calibri" panose="020F0502020204030204" pitchFamily="34" charset="0"/>
                          <a:ea typeface="Calibri" panose="020F0502020204030204" pitchFamily="34" charset="0"/>
                          <a:cs typeface="Arial" panose="020B0604020202020204" pitchFamily="34" charset="0"/>
                        </a:rPr>
                        <a:t>Dimensions</a:t>
                      </a:r>
                      <a:endParaRPr lang="es-CL" sz="18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tc>
                  <a:txBody>
                    <a:bodyPr/>
                    <a:lstStyle/>
                    <a:p>
                      <a:pPr algn="ctr">
                        <a:lnSpc>
                          <a:spcPct val="107000"/>
                        </a:lnSpc>
                        <a:spcAft>
                          <a:spcPts val="800"/>
                        </a:spcAft>
                        <a:buNone/>
                      </a:pPr>
                      <a:r>
                        <a:rPr lang="en-US" sz="1800" dirty="0">
                          <a:effectLst/>
                        </a:rPr>
                        <a:t>Developing</a:t>
                      </a:r>
                      <a:endParaRPr lang="es-CL" sz="18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tc>
                  <a:txBody>
                    <a:bodyPr/>
                    <a:lstStyle/>
                    <a:p>
                      <a:pPr marL="457200" algn="ctr">
                        <a:lnSpc>
                          <a:spcPct val="107000"/>
                        </a:lnSpc>
                        <a:spcAft>
                          <a:spcPts val="800"/>
                        </a:spcAft>
                        <a:buNone/>
                      </a:pPr>
                      <a:r>
                        <a:rPr lang="en-US" sz="1800" dirty="0">
                          <a:effectLst/>
                        </a:rPr>
                        <a:t>Proficient</a:t>
                      </a:r>
                      <a:endParaRPr lang="es-CL" sz="18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tc>
                  <a:txBody>
                    <a:bodyPr/>
                    <a:lstStyle/>
                    <a:p>
                      <a:pPr algn="ctr">
                        <a:lnSpc>
                          <a:spcPct val="107000"/>
                        </a:lnSpc>
                        <a:spcAft>
                          <a:spcPts val="800"/>
                        </a:spcAft>
                        <a:buNone/>
                      </a:pPr>
                      <a:r>
                        <a:rPr lang="en-US" sz="1800" dirty="0">
                          <a:effectLst/>
                        </a:rPr>
                        <a:t>Expert</a:t>
                      </a:r>
                      <a:endParaRPr lang="es-CL" sz="18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nchor="ctr"/>
                </a:tc>
                <a:extLst>
                  <a:ext uri="{0D108BD9-81ED-4DB2-BD59-A6C34878D82A}">
                    <a16:rowId xmlns:a16="http://schemas.microsoft.com/office/drawing/2014/main" val="2487060139"/>
                  </a:ext>
                </a:extLst>
              </a:tr>
              <a:tr h="3679142">
                <a:tc>
                  <a:txBody>
                    <a:bodyPr/>
                    <a:lstStyle/>
                    <a:p>
                      <a:pPr marL="457200" algn="l">
                        <a:lnSpc>
                          <a:spcPct val="107000"/>
                        </a:lnSpc>
                        <a:buNone/>
                      </a:pPr>
                      <a:r>
                        <a:rPr lang="en-US" sz="1600" dirty="0">
                          <a:effectLst/>
                        </a:rPr>
                        <a:t>Goals, content, and alignment  </a:t>
                      </a:r>
                      <a:endParaRPr lang="es-CL" sz="1600" dirty="0">
                        <a:effectLst/>
                      </a:endParaRPr>
                    </a:p>
                    <a:p>
                      <a:pPr marL="457200" algn="l">
                        <a:lnSpc>
                          <a:spcPct val="107000"/>
                        </a:lnSpc>
                        <a:buNone/>
                      </a:pPr>
                      <a:r>
                        <a:rPr lang="en-US" sz="1600" dirty="0">
                          <a:effectLst/>
                        </a:rPr>
                        <a:t>What are students expected to learn? Are course goals appropriate? Is content aligned with the curriculum? Does content represent multiple perspectives? </a:t>
                      </a:r>
                      <a:endParaRPr lang="es-CL" sz="16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dirty="0">
                          <a:effectLst/>
                        </a:rPr>
                        <a:t>Course goals are not articulated, or are unclear, inappropriate or marginally related to curriculum</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Content and materials are outdated or unsuitable for students in the course</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Range of topics is too narrow or too broad </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Content is not clearly aligned with curriculum or institutional expectations</a:t>
                      </a:r>
                      <a:endParaRPr lang="es-CL" sz="16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a:effectLst/>
                        </a:rPr>
                        <a:t>Course goals are articulated and appropriate for curriculum </a:t>
                      </a:r>
                      <a:endParaRPr lang="es-CL" sz="1600">
                        <a:effectLst/>
                      </a:endParaRPr>
                    </a:p>
                    <a:p>
                      <a:pPr marL="342900" lvl="0" indent="-342900" algn="l">
                        <a:lnSpc>
                          <a:spcPct val="107000"/>
                        </a:lnSpc>
                        <a:buFont typeface="Symbol" panose="05050102010706020507" pitchFamily="18" charset="2"/>
                        <a:buChar char=""/>
                      </a:pPr>
                      <a:r>
                        <a:rPr lang="en-US" sz="1600">
                          <a:effectLst/>
                        </a:rPr>
                        <a:t>Content is current and appropriate for topic, students, and curriculum</a:t>
                      </a:r>
                      <a:endParaRPr lang="es-CL" sz="1600">
                        <a:effectLst/>
                      </a:endParaRPr>
                    </a:p>
                    <a:p>
                      <a:pPr marL="342900" lvl="0" indent="-342900" algn="l">
                        <a:lnSpc>
                          <a:spcPct val="107000"/>
                        </a:lnSpc>
                        <a:buFont typeface="Symbol" panose="05050102010706020507" pitchFamily="18" charset="2"/>
                        <a:buChar char=""/>
                      </a:pPr>
                      <a:r>
                        <a:rPr lang="en-US" sz="1600">
                          <a:effectLst/>
                        </a:rPr>
                        <a:t>Course topics have appropriate range</a:t>
                      </a:r>
                      <a:endParaRPr lang="es-CL" sz="1600">
                        <a:effectLst/>
                      </a:endParaRPr>
                    </a:p>
                    <a:p>
                      <a:pPr marL="342900" lvl="0" indent="-342900" algn="l">
                        <a:lnSpc>
                          <a:spcPct val="107000"/>
                        </a:lnSpc>
                        <a:buFont typeface="Symbol" panose="05050102010706020507" pitchFamily="18" charset="2"/>
                        <a:buChar char=""/>
                      </a:pPr>
                      <a:r>
                        <a:rPr lang="en-US" sz="1600">
                          <a:effectLst/>
                        </a:rPr>
                        <a:t>Standard, intellectually sound materials</a:t>
                      </a:r>
                      <a:endParaRPr lang="es-CL" sz="1600">
                        <a:effectLst/>
                      </a:endParaRPr>
                    </a:p>
                    <a:p>
                      <a:pPr marL="342900" lvl="0" indent="-342900" algn="l">
                        <a:lnSpc>
                          <a:spcPct val="107000"/>
                        </a:lnSpc>
                        <a:buFont typeface="Symbol" panose="05050102010706020507" pitchFamily="18" charset="2"/>
                        <a:buChar char=""/>
                      </a:pPr>
                      <a:r>
                        <a:rPr lang="en-US" sz="1600">
                          <a:effectLst/>
                        </a:rPr>
                        <a:t>Course materials reflect multiple viewpoints in the field</a:t>
                      </a:r>
                      <a:endParaRPr lang="es-CL" sz="16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a:effectLst/>
                        </a:rPr>
                        <a:t>Course goals are well-articulated, high quality, relevant to all students, and clearly connected to program or curricular goals</a:t>
                      </a:r>
                      <a:endParaRPr lang="es-CL" sz="1600">
                        <a:effectLst/>
                      </a:endParaRPr>
                    </a:p>
                    <a:p>
                      <a:pPr marL="342900" lvl="0" indent="-342900" algn="l">
                        <a:lnSpc>
                          <a:spcPct val="107000"/>
                        </a:lnSpc>
                        <a:buFont typeface="Symbol" panose="05050102010706020507" pitchFamily="18" charset="2"/>
                        <a:buChar char=""/>
                      </a:pPr>
                      <a:r>
                        <a:rPr lang="en-US" sz="1600">
                          <a:effectLst/>
                        </a:rPr>
                        <a:t>Content is challenging and innovative or related to current issues and developments in field</a:t>
                      </a:r>
                      <a:endParaRPr lang="es-CL" sz="1600">
                        <a:effectLst/>
                      </a:endParaRPr>
                    </a:p>
                    <a:p>
                      <a:pPr marL="342900" lvl="0" indent="-342900" algn="l">
                        <a:lnSpc>
                          <a:spcPct val="107000"/>
                        </a:lnSpc>
                        <a:buFont typeface="Symbol" panose="05050102010706020507" pitchFamily="18" charset="2"/>
                        <a:buChar char=""/>
                      </a:pPr>
                      <a:r>
                        <a:rPr lang="en-US" sz="1600">
                          <a:effectLst/>
                        </a:rPr>
                        <a:t>Topics are well-integrated and of appropriate range and depth </a:t>
                      </a:r>
                      <a:endParaRPr lang="es-CL" sz="1600">
                        <a:effectLst/>
                      </a:endParaRPr>
                    </a:p>
                    <a:p>
                      <a:pPr marL="342900" lvl="0" indent="-342900" algn="l">
                        <a:lnSpc>
                          <a:spcPct val="107000"/>
                        </a:lnSpc>
                        <a:buFont typeface="Symbol" panose="05050102010706020507" pitchFamily="18" charset="2"/>
                        <a:buChar char=""/>
                      </a:pPr>
                      <a:r>
                        <a:rPr lang="en-US" sz="1600">
                          <a:effectLst/>
                        </a:rPr>
                        <a:t>High-quality materials, well-aligned with course goals </a:t>
                      </a:r>
                      <a:endParaRPr lang="es-CL" sz="1600">
                        <a:effectLst/>
                      </a:endParaRPr>
                    </a:p>
                    <a:p>
                      <a:pPr marL="342900" lvl="0" indent="-342900" algn="l">
                        <a:lnSpc>
                          <a:spcPct val="107000"/>
                        </a:lnSpc>
                        <a:spcAft>
                          <a:spcPts val="800"/>
                        </a:spcAft>
                        <a:buFont typeface="Symbol" panose="05050102010706020507" pitchFamily="18" charset="2"/>
                        <a:buChar char=""/>
                      </a:pPr>
                      <a:r>
                        <a:rPr lang="en-US" sz="1600">
                          <a:effectLst/>
                        </a:rPr>
                        <a:t>Course materials reflect multiple perspectives in the field and promote meaningful reflection on them</a:t>
                      </a:r>
                      <a:endParaRPr lang="es-CL" sz="16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2139200911"/>
                  </a:ext>
                </a:extLst>
              </a:tr>
              <a:tr h="3760415">
                <a:tc>
                  <a:txBody>
                    <a:bodyPr/>
                    <a:lstStyle/>
                    <a:p>
                      <a:pPr marL="457200" algn="l">
                        <a:lnSpc>
                          <a:spcPct val="107000"/>
                        </a:lnSpc>
                        <a:buNone/>
                      </a:pPr>
                      <a:r>
                        <a:rPr lang="en-US" sz="1600" dirty="0">
                          <a:effectLst/>
                        </a:rPr>
                        <a:t>Teaching practices</a:t>
                      </a:r>
                      <a:endParaRPr lang="es-CL" sz="1600" dirty="0">
                        <a:effectLst/>
                      </a:endParaRPr>
                    </a:p>
                    <a:p>
                      <a:pPr marL="457200" algn="l">
                        <a:lnSpc>
                          <a:spcPct val="107000"/>
                        </a:lnSpc>
                        <a:buNone/>
                      </a:pPr>
                      <a:r>
                        <a:rPr lang="en-US" sz="1600" dirty="0">
                          <a:effectLst/>
                        </a:rPr>
                        <a:t>How is in-class and out-of-class time used? What assignments, assessments, and learning activities are implemented to help students learn? Are students engaged in the learning process?  </a:t>
                      </a:r>
                      <a:endParaRPr lang="es-CL" sz="16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a:effectLst/>
                        </a:rPr>
                        <a:t>Courses are not sufficiently planned or organized</a:t>
                      </a:r>
                      <a:endParaRPr lang="es-CL" sz="1600">
                        <a:effectLst/>
                      </a:endParaRPr>
                    </a:p>
                    <a:p>
                      <a:pPr marL="342900" lvl="0" indent="-342900" algn="l">
                        <a:lnSpc>
                          <a:spcPct val="107000"/>
                        </a:lnSpc>
                        <a:buFont typeface="Symbol" panose="05050102010706020507" pitchFamily="18" charset="2"/>
                        <a:buChar char=""/>
                      </a:pPr>
                      <a:r>
                        <a:rPr lang="en-US" sz="1600">
                          <a:effectLst/>
                        </a:rPr>
                        <a:t>Practices are not well-executed and show little development over time </a:t>
                      </a:r>
                      <a:endParaRPr lang="es-CL" sz="1600">
                        <a:effectLst/>
                      </a:endParaRPr>
                    </a:p>
                    <a:p>
                      <a:pPr marL="342900" lvl="0" indent="-342900" algn="l">
                        <a:lnSpc>
                          <a:spcPct val="107000"/>
                        </a:lnSpc>
                        <a:buFont typeface="Symbol" panose="05050102010706020507" pitchFamily="18" charset="2"/>
                        <a:buChar char=""/>
                      </a:pPr>
                      <a:r>
                        <a:rPr lang="en-US" sz="1600">
                          <a:effectLst/>
                        </a:rPr>
                        <a:t>Students lack opportunities to practice critical skills embedded in course goals</a:t>
                      </a:r>
                      <a:endParaRPr lang="es-CL" sz="1600">
                        <a:effectLst/>
                      </a:endParaRPr>
                    </a:p>
                    <a:p>
                      <a:pPr marL="342900" lvl="0" indent="-342900" algn="l">
                        <a:lnSpc>
                          <a:spcPct val="107000"/>
                        </a:lnSpc>
                        <a:buFont typeface="Symbol" panose="05050102010706020507" pitchFamily="18" charset="2"/>
                        <a:buChar char=""/>
                      </a:pPr>
                      <a:r>
                        <a:rPr lang="en-US" sz="1600">
                          <a:effectLst/>
                        </a:rPr>
                        <a:t>Student engagement is generally low</a:t>
                      </a:r>
                      <a:endParaRPr lang="es-CL" sz="1600">
                        <a:effectLst/>
                      </a:endParaRPr>
                    </a:p>
                    <a:p>
                      <a:pPr marL="342900" lvl="0" indent="-342900" algn="l">
                        <a:lnSpc>
                          <a:spcPct val="107000"/>
                        </a:lnSpc>
                        <a:buFont typeface="Symbol" panose="05050102010706020507" pitchFamily="18" charset="2"/>
                        <a:buChar char=""/>
                      </a:pPr>
                      <a:r>
                        <a:rPr lang="en-US" sz="1600">
                          <a:effectLst/>
                        </a:rPr>
                        <a:t>Assessments and assignments are at inappropriate difficulty level or not well-aligned with course goals</a:t>
                      </a:r>
                      <a:endParaRPr lang="es-CL" sz="160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dirty="0">
                          <a:effectLst/>
                        </a:rPr>
                        <a:t>Courses are well-planned and organized</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Standard course practices; follows conventions of discipline and institution</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There are opportunities for practice or feedback on skills or concepts embedded in course goals</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Practices elicit student engagement </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Assessments/assignments are appropriately challenging and tied to course goals</a:t>
                      </a:r>
                      <a:endParaRPr lang="es-CL" sz="16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tc>
                  <a:txBody>
                    <a:bodyPr/>
                    <a:lstStyle/>
                    <a:p>
                      <a:pPr marL="342900" lvl="0" indent="-342900" algn="l">
                        <a:lnSpc>
                          <a:spcPct val="107000"/>
                        </a:lnSpc>
                        <a:buFont typeface="Symbol" panose="05050102010706020507" pitchFamily="18" charset="2"/>
                        <a:buChar char=""/>
                      </a:pPr>
                      <a:r>
                        <a:rPr lang="en-US" sz="1600" dirty="0">
                          <a:effectLst/>
                        </a:rPr>
                        <a:t>Courses are well-planned and integrated, and reflect commitment to providing meaningful assignments and assessments</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Uses effective or innovative methods to support learning in all students</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In- and out-of-class activities consistently provide opportunities for practice and feedback on important skills and concepts</a:t>
                      </a:r>
                      <a:endParaRPr lang="es-CL" sz="1600" dirty="0">
                        <a:effectLst/>
                      </a:endParaRPr>
                    </a:p>
                    <a:p>
                      <a:pPr marL="342900" lvl="0" indent="-342900" algn="l">
                        <a:lnSpc>
                          <a:spcPct val="107000"/>
                        </a:lnSpc>
                        <a:buFont typeface="Symbol" panose="05050102010706020507" pitchFamily="18" charset="2"/>
                        <a:buChar char=""/>
                      </a:pPr>
                      <a:r>
                        <a:rPr lang="en-US" sz="1600" dirty="0">
                          <a:effectLst/>
                        </a:rPr>
                        <a:t>Practices foster high levels of active engagement among students</a:t>
                      </a:r>
                      <a:endParaRPr lang="es-CL" sz="1600" dirty="0">
                        <a:effectLst/>
                      </a:endParaRPr>
                    </a:p>
                    <a:p>
                      <a:pPr marL="342900" lvl="0" indent="-342900" algn="l">
                        <a:lnSpc>
                          <a:spcPct val="107000"/>
                        </a:lnSpc>
                        <a:spcAft>
                          <a:spcPts val="800"/>
                        </a:spcAft>
                        <a:buFont typeface="Symbol" panose="05050102010706020507" pitchFamily="18" charset="2"/>
                        <a:buChar char=""/>
                      </a:pPr>
                      <a:r>
                        <a:rPr lang="en-US" sz="1600" dirty="0">
                          <a:effectLst/>
                        </a:rPr>
                        <a:t>Assessments and assignments are varied and allow students to demonstrate knowledge through multiple modalities</a:t>
                      </a:r>
                      <a:endParaRPr lang="es-CL" sz="1600" dirty="0">
                        <a:effectLst/>
                        <a:latin typeface="Calibri" panose="020F0502020204030204" pitchFamily="34" charset="0"/>
                        <a:ea typeface="Calibri" panose="020F0502020204030204" pitchFamily="34" charset="0"/>
                        <a:cs typeface="Arial" panose="020B0604020202020204" pitchFamily="34" charset="0"/>
                      </a:endParaRPr>
                    </a:p>
                  </a:txBody>
                  <a:tcPr marL="38815" marR="38815" marT="0" marB="0"/>
                </a:tc>
                <a:extLst>
                  <a:ext uri="{0D108BD9-81ED-4DB2-BD59-A6C34878D82A}">
                    <a16:rowId xmlns:a16="http://schemas.microsoft.com/office/drawing/2014/main" val="1491874081"/>
                  </a:ext>
                </a:extLst>
              </a:tr>
            </a:tbl>
          </a:graphicData>
        </a:graphic>
      </p:graphicFrame>
    </p:spTree>
    <p:extLst>
      <p:ext uri="{BB962C8B-B14F-4D97-AF65-F5344CB8AC3E}">
        <p14:creationId xmlns:p14="http://schemas.microsoft.com/office/powerpoint/2010/main" val="32845046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exto, Carta&#10;&#10;El contenido generado por IA puede ser incorrecto.">
            <a:extLst>
              <a:ext uri="{FF2B5EF4-FFF2-40B4-BE49-F238E27FC236}">
                <a16:creationId xmlns:a16="http://schemas.microsoft.com/office/drawing/2014/main" id="{12512B36-2905-2C52-C5B7-41DB8D64638F}"/>
              </a:ext>
            </a:extLst>
          </p:cNvPr>
          <p:cNvPicPr>
            <a:picLocks noChangeAspect="1"/>
          </p:cNvPicPr>
          <p:nvPr/>
        </p:nvPicPr>
        <p:blipFill>
          <a:blip r:embed="rId2"/>
          <a:stretch>
            <a:fillRect/>
          </a:stretch>
        </p:blipFill>
        <p:spPr>
          <a:xfrm>
            <a:off x="2626821" y="197038"/>
            <a:ext cx="8944495" cy="7835524"/>
          </a:xfrm>
          <a:prstGeom prst="rect">
            <a:avLst/>
          </a:prstGeom>
        </p:spPr>
      </p:pic>
      <p:sp>
        <p:nvSpPr>
          <p:cNvPr id="4" name="Rectángulo 3">
            <a:extLst>
              <a:ext uri="{FF2B5EF4-FFF2-40B4-BE49-F238E27FC236}">
                <a16:creationId xmlns:a16="http://schemas.microsoft.com/office/drawing/2014/main" id="{70A22753-F87A-3984-3F8C-638C615F748D}"/>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56195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Texto, Carta&#10;&#10;El contenido generado por IA puede ser incorrecto.">
            <a:extLst>
              <a:ext uri="{FF2B5EF4-FFF2-40B4-BE49-F238E27FC236}">
                <a16:creationId xmlns:a16="http://schemas.microsoft.com/office/drawing/2014/main" id="{EB2E85EA-A3CE-BB79-95C4-0C2008BA973E}"/>
              </a:ext>
            </a:extLst>
          </p:cNvPr>
          <p:cNvPicPr>
            <a:picLocks noChangeAspect="1"/>
          </p:cNvPicPr>
          <p:nvPr/>
        </p:nvPicPr>
        <p:blipFill>
          <a:blip r:embed="rId2"/>
          <a:stretch>
            <a:fillRect/>
          </a:stretch>
        </p:blipFill>
        <p:spPr>
          <a:xfrm>
            <a:off x="4089862" y="306553"/>
            <a:ext cx="6882938" cy="7616494"/>
          </a:xfrm>
          <a:prstGeom prst="rect">
            <a:avLst/>
          </a:prstGeom>
        </p:spPr>
      </p:pic>
      <p:sp>
        <p:nvSpPr>
          <p:cNvPr id="6" name="Rectángulo 5">
            <a:extLst>
              <a:ext uri="{FF2B5EF4-FFF2-40B4-BE49-F238E27FC236}">
                <a16:creationId xmlns:a16="http://schemas.microsoft.com/office/drawing/2014/main" id="{2C833DCB-BBD3-3EEA-061A-2314161D604B}"/>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955427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Texto, Aplicación, Correo electrónico&#10;&#10;El contenido generado por IA puede ser incorrecto.">
            <a:extLst>
              <a:ext uri="{FF2B5EF4-FFF2-40B4-BE49-F238E27FC236}">
                <a16:creationId xmlns:a16="http://schemas.microsoft.com/office/drawing/2014/main" id="{CDF749DB-44A8-A7A8-50C3-1E96C643DF95}"/>
              </a:ext>
            </a:extLst>
          </p:cNvPr>
          <p:cNvPicPr>
            <a:picLocks noChangeAspect="1"/>
          </p:cNvPicPr>
          <p:nvPr/>
        </p:nvPicPr>
        <p:blipFill>
          <a:blip r:embed="rId2"/>
          <a:stretch>
            <a:fillRect/>
          </a:stretch>
        </p:blipFill>
        <p:spPr>
          <a:xfrm>
            <a:off x="3042458" y="51335"/>
            <a:ext cx="8395855" cy="7984630"/>
          </a:xfrm>
          <a:prstGeom prst="rect">
            <a:avLst/>
          </a:prstGeom>
        </p:spPr>
      </p:pic>
      <p:sp>
        <p:nvSpPr>
          <p:cNvPr id="4" name="Rectángulo 3">
            <a:extLst>
              <a:ext uri="{FF2B5EF4-FFF2-40B4-BE49-F238E27FC236}">
                <a16:creationId xmlns:a16="http://schemas.microsoft.com/office/drawing/2014/main" id="{35DF8F4C-FC52-4ECB-074E-89C38B6D217E}"/>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984966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exto, Carta&#10;&#10;El contenido generado por IA puede ser incorrecto.">
            <a:extLst>
              <a:ext uri="{FF2B5EF4-FFF2-40B4-BE49-F238E27FC236}">
                <a16:creationId xmlns:a16="http://schemas.microsoft.com/office/drawing/2014/main" id="{01CD9710-F2D8-B5BC-5392-C380EBE71CFD}"/>
              </a:ext>
            </a:extLst>
          </p:cNvPr>
          <p:cNvPicPr>
            <a:picLocks noChangeAspect="1"/>
          </p:cNvPicPr>
          <p:nvPr/>
        </p:nvPicPr>
        <p:blipFill>
          <a:blip r:embed="rId2"/>
          <a:stretch>
            <a:fillRect/>
          </a:stretch>
        </p:blipFill>
        <p:spPr>
          <a:xfrm>
            <a:off x="3281339" y="134666"/>
            <a:ext cx="8223476" cy="7812302"/>
          </a:xfrm>
          <a:prstGeom prst="rect">
            <a:avLst/>
          </a:prstGeom>
        </p:spPr>
      </p:pic>
      <p:sp>
        <p:nvSpPr>
          <p:cNvPr id="4" name="Rectángulo 3">
            <a:extLst>
              <a:ext uri="{FF2B5EF4-FFF2-40B4-BE49-F238E27FC236}">
                <a16:creationId xmlns:a16="http://schemas.microsoft.com/office/drawing/2014/main" id="{1EF43A31-3BC7-3E37-D44F-4FE3124072F5}"/>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393742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abla&#10;&#10;El contenido generado por IA puede ser incorrecto.">
            <a:extLst>
              <a:ext uri="{FF2B5EF4-FFF2-40B4-BE49-F238E27FC236}">
                <a16:creationId xmlns:a16="http://schemas.microsoft.com/office/drawing/2014/main" id="{7B34F685-FE72-64A5-D376-93A667296EA4}"/>
              </a:ext>
            </a:extLst>
          </p:cNvPr>
          <p:cNvPicPr>
            <a:picLocks noChangeAspect="1"/>
          </p:cNvPicPr>
          <p:nvPr/>
        </p:nvPicPr>
        <p:blipFill>
          <a:blip r:embed="rId2"/>
          <a:stretch>
            <a:fillRect/>
          </a:stretch>
        </p:blipFill>
        <p:spPr>
          <a:xfrm>
            <a:off x="2953879" y="298988"/>
            <a:ext cx="8800317" cy="7564851"/>
          </a:xfrm>
          <a:prstGeom prst="rect">
            <a:avLst/>
          </a:prstGeom>
        </p:spPr>
      </p:pic>
      <p:sp>
        <p:nvSpPr>
          <p:cNvPr id="4" name="Rectángulo 3">
            <a:extLst>
              <a:ext uri="{FF2B5EF4-FFF2-40B4-BE49-F238E27FC236}">
                <a16:creationId xmlns:a16="http://schemas.microsoft.com/office/drawing/2014/main" id="{47AAEE0A-8CA8-5937-7745-D7F5C457A5B2}"/>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663336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de la pantalla de un celular con letras&#10;&#10;El contenido generado por IA puede ser incorrecto.">
            <a:extLst>
              <a:ext uri="{FF2B5EF4-FFF2-40B4-BE49-F238E27FC236}">
                <a16:creationId xmlns:a16="http://schemas.microsoft.com/office/drawing/2014/main" id="{7934FBF0-DA9B-5C93-9F16-8B35052AC62B}"/>
              </a:ext>
            </a:extLst>
          </p:cNvPr>
          <p:cNvPicPr>
            <a:picLocks noChangeAspect="1"/>
          </p:cNvPicPr>
          <p:nvPr/>
        </p:nvPicPr>
        <p:blipFill>
          <a:blip r:embed="rId2"/>
          <a:stretch>
            <a:fillRect/>
          </a:stretch>
        </p:blipFill>
        <p:spPr>
          <a:xfrm>
            <a:off x="3474721" y="221096"/>
            <a:ext cx="7514704" cy="7963592"/>
          </a:xfrm>
          <a:prstGeom prst="rect">
            <a:avLst/>
          </a:prstGeom>
        </p:spPr>
      </p:pic>
      <p:sp>
        <p:nvSpPr>
          <p:cNvPr id="4" name="Rectángulo 3">
            <a:extLst>
              <a:ext uri="{FF2B5EF4-FFF2-40B4-BE49-F238E27FC236}">
                <a16:creationId xmlns:a16="http://schemas.microsoft.com/office/drawing/2014/main" id="{5A10F80A-CD56-E09A-95C4-DA0F750362A4}"/>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5683944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exto&#10;&#10;El contenido generado por IA puede ser incorrecto.">
            <a:extLst>
              <a:ext uri="{FF2B5EF4-FFF2-40B4-BE49-F238E27FC236}">
                <a16:creationId xmlns:a16="http://schemas.microsoft.com/office/drawing/2014/main" id="{1641E9AD-1148-A52D-95D1-4A8566C70A0A}"/>
              </a:ext>
            </a:extLst>
          </p:cNvPr>
          <p:cNvPicPr>
            <a:picLocks noChangeAspect="1"/>
          </p:cNvPicPr>
          <p:nvPr/>
        </p:nvPicPr>
        <p:blipFill>
          <a:blip r:embed="rId2"/>
          <a:stretch>
            <a:fillRect/>
          </a:stretch>
        </p:blipFill>
        <p:spPr>
          <a:xfrm>
            <a:off x="3593252" y="282633"/>
            <a:ext cx="7364871" cy="7747462"/>
          </a:xfrm>
          <a:prstGeom prst="rect">
            <a:avLst/>
          </a:prstGeom>
        </p:spPr>
      </p:pic>
      <p:sp>
        <p:nvSpPr>
          <p:cNvPr id="4" name="Rectángulo 3">
            <a:extLst>
              <a:ext uri="{FF2B5EF4-FFF2-40B4-BE49-F238E27FC236}">
                <a16:creationId xmlns:a16="http://schemas.microsoft.com/office/drawing/2014/main" id="{32BA32E6-6A34-1679-AF05-695894B3EC96}"/>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533897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de la pantalla de un celular con letras&#10;&#10;El contenido generado por IA puede ser incorrecto.">
            <a:extLst>
              <a:ext uri="{FF2B5EF4-FFF2-40B4-BE49-F238E27FC236}">
                <a16:creationId xmlns:a16="http://schemas.microsoft.com/office/drawing/2014/main" id="{617B9C73-9E2A-DAF5-70EB-59A80057B3C4}"/>
              </a:ext>
            </a:extLst>
          </p:cNvPr>
          <p:cNvPicPr>
            <a:picLocks noChangeAspect="1"/>
          </p:cNvPicPr>
          <p:nvPr/>
        </p:nvPicPr>
        <p:blipFill>
          <a:blip r:embed="rId2"/>
          <a:stretch>
            <a:fillRect/>
          </a:stretch>
        </p:blipFill>
        <p:spPr>
          <a:xfrm>
            <a:off x="2327565" y="-2313"/>
            <a:ext cx="12302836" cy="8231913"/>
          </a:xfrm>
          <a:prstGeom prst="rect">
            <a:avLst/>
          </a:prstGeom>
        </p:spPr>
      </p:pic>
    </p:spTree>
    <p:extLst>
      <p:ext uri="{BB962C8B-B14F-4D97-AF65-F5344CB8AC3E}">
        <p14:creationId xmlns:p14="http://schemas.microsoft.com/office/powerpoint/2010/main" val="35735948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7658100" y="2839283"/>
            <a:ext cx="6400800" cy="4572000"/>
          </a:xfrm>
          <a:prstGeom prst="rect">
            <a:avLst/>
          </a:prstGeom>
          <a:noFill/>
          <a:ln>
            <a:noFill/>
          </a:ln>
        </p:spPr>
      </p:pic>
      <p:sp>
        <p:nvSpPr>
          <p:cNvPr id="95" name="Google Shape;95;p14"/>
          <p:cNvSpPr txBox="1"/>
          <p:nvPr/>
        </p:nvSpPr>
        <p:spPr>
          <a:xfrm>
            <a:off x="455121" y="3246315"/>
            <a:ext cx="6720840" cy="387798"/>
          </a:xfrm>
          <a:prstGeom prst="rect">
            <a:avLst/>
          </a:prstGeom>
          <a:noFill/>
          <a:ln>
            <a:noFill/>
          </a:ln>
        </p:spPr>
        <p:txBody>
          <a:bodyPr spcFirstLastPara="1" wrap="square" lIns="0" tIns="0" rIns="0" bIns="0" anchor="t" anchorCtr="0">
            <a:spAutoFit/>
          </a:bodyPr>
          <a:lstStyle/>
          <a:p>
            <a:r>
              <a:rPr lang="en-US" sz="2520" b="1" dirty="0" err="1">
                <a:solidFill>
                  <a:srgbClr val="002E5D"/>
                </a:solidFill>
                <a:latin typeface="Merriweather"/>
                <a:ea typeface="Merriweather"/>
                <a:cs typeface="Merriweather"/>
                <a:sym typeface="Merriweather"/>
              </a:rPr>
              <a:t>Propósito</a:t>
            </a:r>
            <a:r>
              <a:rPr lang="en-US" sz="2520" b="1" dirty="0">
                <a:solidFill>
                  <a:srgbClr val="002E5D"/>
                </a:solidFill>
                <a:latin typeface="Merriweather"/>
                <a:ea typeface="Merriweather"/>
                <a:cs typeface="Merriweather"/>
                <a:sym typeface="Merriweather"/>
              </a:rPr>
              <a:t> y </a:t>
            </a:r>
            <a:r>
              <a:rPr lang="en-US" sz="2520" b="1" dirty="0" err="1">
                <a:solidFill>
                  <a:srgbClr val="002E5D"/>
                </a:solidFill>
                <a:latin typeface="Merriweather"/>
                <a:ea typeface="Merriweather"/>
                <a:cs typeface="Merriweather"/>
                <a:sym typeface="Merriweather"/>
              </a:rPr>
              <a:t>Financiación</a:t>
            </a:r>
            <a:endParaRPr sz="2160" dirty="0"/>
          </a:p>
        </p:txBody>
      </p:sp>
      <p:sp>
        <p:nvSpPr>
          <p:cNvPr id="96" name="Google Shape;96;p14"/>
          <p:cNvSpPr txBox="1"/>
          <p:nvPr/>
        </p:nvSpPr>
        <p:spPr>
          <a:xfrm>
            <a:off x="455121" y="4188111"/>
            <a:ext cx="6400800" cy="1329595"/>
          </a:xfrm>
          <a:prstGeom prst="rect">
            <a:avLst/>
          </a:prstGeom>
          <a:noFill/>
          <a:ln>
            <a:noFill/>
          </a:ln>
        </p:spPr>
        <p:txBody>
          <a:bodyPr spcFirstLastPara="1" wrap="square" lIns="0" tIns="0" rIns="0" bIns="0" anchor="t" anchorCtr="0">
            <a:spAutoFit/>
          </a:bodyPr>
          <a:lstStyle/>
          <a:p>
            <a:pPr>
              <a:lnSpc>
                <a:spcPct val="160000"/>
              </a:lnSpc>
            </a:pPr>
            <a:r>
              <a:rPr lang="en-US" dirty="0">
                <a:solidFill>
                  <a:srgbClr val="334155"/>
                </a:solidFill>
                <a:latin typeface="DM Sans"/>
                <a:ea typeface="DM Sans"/>
                <a:cs typeface="DM Sans"/>
                <a:sym typeface="DM Sans"/>
              </a:rPr>
              <a:t>El Fondo de </a:t>
            </a:r>
            <a:r>
              <a:rPr lang="en-US" dirty="0" err="1">
                <a:solidFill>
                  <a:srgbClr val="334155"/>
                </a:solidFill>
                <a:latin typeface="DM Sans"/>
                <a:ea typeface="DM Sans"/>
                <a:cs typeface="DM Sans"/>
                <a:sym typeface="DM Sans"/>
              </a:rPr>
              <a:t>Investigación</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Basado</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en</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el</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Desempeño</a:t>
            </a:r>
            <a:r>
              <a:rPr lang="en-US" dirty="0">
                <a:solidFill>
                  <a:srgbClr val="334155"/>
                </a:solidFill>
                <a:latin typeface="DM Sans"/>
                <a:ea typeface="DM Sans"/>
                <a:cs typeface="DM Sans"/>
                <a:sym typeface="DM Sans"/>
              </a:rPr>
              <a:t> (PBRF) </a:t>
            </a:r>
            <a:r>
              <a:rPr lang="en-US" dirty="0" err="1">
                <a:solidFill>
                  <a:srgbClr val="334155"/>
                </a:solidFill>
                <a:latin typeface="DM Sans"/>
                <a:ea typeface="DM Sans"/>
                <a:cs typeface="DM Sans"/>
                <a:sym typeface="DM Sans"/>
              </a:rPr>
              <a:t>busca</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asegurar</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que</a:t>
            </a:r>
            <a:r>
              <a:rPr lang="en-US" dirty="0">
                <a:solidFill>
                  <a:srgbClr val="334155"/>
                </a:solidFill>
                <a:latin typeface="DM Sans"/>
                <a:ea typeface="DM Sans"/>
                <a:cs typeface="DM Sans"/>
                <a:sym typeface="DM Sans"/>
              </a:rPr>
              <a:t> la </a:t>
            </a:r>
            <a:r>
              <a:rPr lang="en-US" dirty="0" err="1">
                <a:solidFill>
                  <a:srgbClr val="334155"/>
                </a:solidFill>
                <a:latin typeface="DM Sans"/>
                <a:ea typeface="DM Sans"/>
                <a:cs typeface="DM Sans"/>
                <a:sym typeface="DM Sans"/>
              </a:rPr>
              <a:t>investigación</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excelente</a:t>
            </a:r>
            <a:r>
              <a:rPr lang="en-US" dirty="0">
                <a:solidFill>
                  <a:srgbClr val="334155"/>
                </a:solidFill>
                <a:latin typeface="DM Sans"/>
                <a:ea typeface="DM Sans"/>
                <a:cs typeface="DM Sans"/>
                <a:sym typeface="DM Sans"/>
              </a:rPr>
              <a:t> sea </a:t>
            </a:r>
            <a:r>
              <a:rPr lang="en-US" dirty="0" err="1">
                <a:solidFill>
                  <a:srgbClr val="334155"/>
                </a:solidFill>
                <a:latin typeface="DM Sans"/>
                <a:ea typeface="DM Sans"/>
                <a:cs typeface="DM Sans"/>
                <a:sym typeface="DM Sans"/>
              </a:rPr>
              <a:t>fomentada</a:t>
            </a:r>
            <a:r>
              <a:rPr lang="en-US" dirty="0">
                <a:solidFill>
                  <a:srgbClr val="334155"/>
                </a:solidFill>
                <a:latin typeface="DM Sans"/>
                <a:ea typeface="DM Sans"/>
                <a:cs typeface="DM Sans"/>
                <a:sym typeface="DM Sans"/>
              </a:rPr>
              <a:t> y </a:t>
            </a:r>
            <a:r>
              <a:rPr lang="en-US" dirty="0" err="1">
                <a:solidFill>
                  <a:srgbClr val="334155"/>
                </a:solidFill>
                <a:latin typeface="DM Sans"/>
                <a:ea typeface="DM Sans"/>
                <a:cs typeface="DM Sans"/>
                <a:sym typeface="DM Sans"/>
              </a:rPr>
              <a:t>recompensada</a:t>
            </a:r>
            <a:r>
              <a:rPr lang="en-US" dirty="0">
                <a:solidFill>
                  <a:srgbClr val="334155"/>
                </a:solidFill>
                <a:latin typeface="DM Sans"/>
                <a:ea typeface="DM Sans"/>
                <a:cs typeface="DM Sans"/>
                <a:sym typeface="DM Sans"/>
              </a:rPr>
              <a:t>.</a:t>
            </a:r>
            <a:endParaRPr sz="2160" dirty="0"/>
          </a:p>
        </p:txBody>
      </p:sp>
      <p:sp>
        <p:nvSpPr>
          <p:cNvPr id="99" name="Google Shape;99;p14"/>
          <p:cNvSpPr txBox="1"/>
          <p:nvPr/>
        </p:nvSpPr>
        <p:spPr>
          <a:xfrm>
            <a:off x="948691" y="5993963"/>
            <a:ext cx="80010" cy="332399"/>
          </a:xfrm>
          <a:prstGeom prst="rect">
            <a:avLst/>
          </a:prstGeom>
          <a:noFill/>
          <a:ln>
            <a:noFill/>
          </a:ln>
        </p:spPr>
        <p:txBody>
          <a:bodyPr spcFirstLastPara="1" wrap="square" lIns="0" tIns="0" rIns="0" bIns="0" anchor="t" anchorCtr="0">
            <a:spAutoFit/>
          </a:bodyPr>
          <a:lstStyle/>
          <a:p>
            <a:endParaRPr sz="2160" dirty="0"/>
          </a:p>
        </p:txBody>
      </p:sp>
      <p:sp>
        <p:nvSpPr>
          <p:cNvPr id="102" name="Google Shape;102;p14"/>
          <p:cNvSpPr txBox="1"/>
          <p:nvPr/>
        </p:nvSpPr>
        <p:spPr>
          <a:xfrm>
            <a:off x="455121" y="6008010"/>
            <a:ext cx="5943600" cy="886397"/>
          </a:xfrm>
          <a:prstGeom prst="rect">
            <a:avLst/>
          </a:prstGeom>
          <a:noFill/>
          <a:ln>
            <a:noFill/>
          </a:ln>
        </p:spPr>
        <p:txBody>
          <a:bodyPr spcFirstLastPara="1" wrap="square" lIns="80010" tIns="0" rIns="0" bIns="0" anchor="t" anchorCtr="0">
            <a:spAutoFit/>
          </a:bodyPr>
          <a:lstStyle/>
          <a:p>
            <a:pPr>
              <a:lnSpc>
                <a:spcPct val="160000"/>
              </a:lnSpc>
            </a:pPr>
            <a:r>
              <a:rPr lang="en-US" dirty="0" err="1">
                <a:solidFill>
                  <a:srgbClr val="334155"/>
                </a:solidFill>
                <a:latin typeface="DM Sans"/>
                <a:ea typeface="DM Sans"/>
                <a:cs typeface="DM Sans"/>
                <a:sym typeface="DM Sans"/>
              </a:rPr>
              <a:t>Evalúa</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el</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desempeño</a:t>
            </a:r>
            <a:r>
              <a:rPr lang="en-US" dirty="0">
                <a:solidFill>
                  <a:srgbClr val="334155"/>
                </a:solidFill>
                <a:latin typeface="DM Sans"/>
                <a:ea typeface="DM Sans"/>
                <a:cs typeface="DM Sans"/>
                <a:sym typeface="DM Sans"/>
              </a:rPr>
              <a:t> del personal de las </a:t>
            </a:r>
            <a:r>
              <a:rPr lang="en-US" dirty="0" err="1">
                <a:solidFill>
                  <a:srgbClr val="334155"/>
                </a:solidFill>
                <a:latin typeface="DM Sans"/>
                <a:ea typeface="DM Sans"/>
                <a:cs typeface="DM Sans"/>
                <a:sym typeface="DM Sans"/>
              </a:rPr>
              <a:t>organizaciones</a:t>
            </a:r>
            <a:r>
              <a:rPr lang="en-US" dirty="0">
                <a:solidFill>
                  <a:srgbClr val="334155"/>
                </a:solidFill>
                <a:latin typeface="DM Sans"/>
                <a:ea typeface="DM Sans"/>
                <a:cs typeface="DM Sans"/>
                <a:sym typeface="DM Sans"/>
              </a:rPr>
              <a:t> de </a:t>
            </a:r>
            <a:r>
              <a:rPr lang="en-US" dirty="0" err="1">
                <a:solidFill>
                  <a:srgbClr val="334155"/>
                </a:solidFill>
                <a:latin typeface="DM Sans"/>
                <a:ea typeface="DM Sans"/>
                <a:cs typeface="DM Sans"/>
                <a:sym typeface="DM Sans"/>
              </a:rPr>
              <a:t>educación</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terciaria</a:t>
            </a:r>
            <a:r>
              <a:rPr lang="en-US" dirty="0">
                <a:solidFill>
                  <a:srgbClr val="334155"/>
                </a:solidFill>
                <a:latin typeface="DM Sans"/>
                <a:ea typeface="DM Sans"/>
                <a:cs typeface="DM Sans"/>
                <a:sym typeface="DM Sans"/>
              </a:rPr>
              <a:t> (TEO).</a:t>
            </a:r>
            <a:endParaRPr sz="2160" dirty="0"/>
          </a:p>
        </p:txBody>
      </p:sp>
      <p:pic>
        <p:nvPicPr>
          <p:cNvPr id="103" name="Google Shape;103;p14" descr="image.png"/>
          <p:cNvPicPr preferRelativeResize="0"/>
          <p:nvPr/>
        </p:nvPicPr>
        <p:blipFill rotWithShape="1">
          <a:blip r:embed="rId4">
            <a:alphaModFix/>
          </a:blip>
          <a:srcRect/>
          <a:stretch/>
        </p:blipFill>
        <p:spPr>
          <a:xfrm>
            <a:off x="7658100" y="2839283"/>
            <a:ext cx="6400800" cy="4572000"/>
          </a:xfrm>
          <a:prstGeom prst="rect">
            <a:avLst/>
          </a:prstGeom>
          <a:noFill/>
          <a:ln>
            <a:noFill/>
          </a:ln>
        </p:spPr>
      </p:pic>
      <p:sp>
        <p:nvSpPr>
          <p:cNvPr id="104" name="Google Shape;104;p14"/>
          <p:cNvSpPr txBox="1"/>
          <p:nvPr/>
        </p:nvSpPr>
        <p:spPr>
          <a:xfrm>
            <a:off x="571500" y="1026735"/>
            <a:ext cx="14058900" cy="664797"/>
          </a:xfrm>
          <a:prstGeom prst="rect">
            <a:avLst/>
          </a:prstGeom>
          <a:noFill/>
          <a:ln>
            <a:noFill/>
          </a:ln>
        </p:spPr>
        <p:txBody>
          <a:bodyPr spcFirstLastPara="1" wrap="square" lIns="0" tIns="0" rIns="0" bIns="0" anchor="t" anchorCtr="0">
            <a:spAutoFit/>
          </a:bodyPr>
          <a:lstStyle/>
          <a:p>
            <a:r>
              <a:rPr lang="en-US" sz="4320" b="1">
                <a:solidFill>
                  <a:srgbClr val="002E5D"/>
                </a:solidFill>
                <a:latin typeface="Merriweather"/>
                <a:ea typeface="Merriweather"/>
                <a:cs typeface="Merriweather"/>
                <a:sym typeface="Merriweather"/>
              </a:rPr>
              <a:t>Visión General del PBRF</a:t>
            </a:r>
            <a:endParaRPr sz="2160"/>
          </a:p>
        </p:txBody>
      </p:sp>
      <p:sp>
        <p:nvSpPr>
          <p:cNvPr id="105" name="Google Shape;105;p14"/>
          <p:cNvSpPr/>
          <p:nvPr/>
        </p:nvSpPr>
        <p:spPr>
          <a:xfrm>
            <a:off x="571500" y="1883984"/>
            <a:ext cx="134874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828" y="0"/>
            <a:ext cx="14626743" cy="822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Imagen 2" descr="Texto">
            <a:extLst>
              <a:ext uri="{FF2B5EF4-FFF2-40B4-BE49-F238E27FC236}">
                <a16:creationId xmlns:a16="http://schemas.microsoft.com/office/drawing/2014/main" id="{E39FDC9E-782A-834A-4A25-3FFCD30C0E2E}"/>
              </a:ext>
            </a:extLst>
          </p:cNvPr>
          <p:cNvPicPr>
            <a:picLocks noChangeAspect="1"/>
          </p:cNvPicPr>
          <p:nvPr/>
        </p:nvPicPr>
        <p:blipFill>
          <a:blip r:embed="rId2"/>
          <a:srcRect r="3092" b="-1"/>
          <a:stretch>
            <a:fillRect/>
          </a:stretch>
        </p:blipFill>
        <p:spPr>
          <a:xfrm>
            <a:off x="20" y="1538"/>
            <a:ext cx="14630380" cy="8228062"/>
          </a:xfrm>
          <a:prstGeom prst="rect">
            <a:avLst/>
          </a:prstGeom>
        </p:spPr>
      </p:pic>
    </p:spTree>
    <p:extLst>
      <p:ext uri="{BB962C8B-B14F-4D97-AF65-F5344CB8AC3E}">
        <p14:creationId xmlns:p14="http://schemas.microsoft.com/office/powerpoint/2010/main" val="29628584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17"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47" name="Google Shape;147;p17" descr="image.png"/>
          <p:cNvPicPr preferRelativeResize="0"/>
          <p:nvPr/>
        </p:nvPicPr>
        <p:blipFill rotWithShape="1">
          <a:blip r:embed="rId4">
            <a:alphaModFix/>
          </a:blip>
          <a:srcRect/>
          <a:stretch/>
        </p:blipFill>
        <p:spPr>
          <a:xfrm>
            <a:off x="571498" y="3559622"/>
            <a:ext cx="6400800" cy="4293036"/>
          </a:xfrm>
          <a:prstGeom prst="rect">
            <a:avLst/>
          </a:prstGeom>
          <a:noFill/>
          <a:ln>
            <a:noFill/>
          </a:ln>
        </p:spPr>
      </p:pic>
      <p:pic>
        <p:nvPicPr>
          <p:cNvPr id="148" name="Google Shape;148;p17" descr="image.png"/>
          <p:cNvPicPr preferRelativeResize="0"/>
          <p:nvPr/>
        </p:nvPicPr>
        <p:blipFill rotWithShape="1">
          <a:blip r:embed="rId5">
            <a:alphaModFix/>
          </a:blip>
          <a:srcRect/>
          <a:stretch/>
        </p:blipFill>
        <p:spPr>
          <a:xfrm>
            <a:off x="7658102" y="3559622"/>
            <a:ext cx="6400800" cy="4293036"/>
          </a:xfrm>
          <a:prstGeom prst="rect">
            <a:avLst/>
          </a:prstGeom>
          <a:noFill/>
          <a:ln>
            <a:noFill/>
          </a:ln>
        </p:spPr>
      </p:pic>
      <p:sp>
        <p:nvSpPr>
          <p:cNvPr id="149" name="Google Shape;149;p17"/>
          <p:cNvSpPr txBox="1"/>
          <p:nvPr/>
        </p:nvSpPr>
        <p:spPr>
          <a:xfrm>
            <a:off x="1040129" y="4348292"/>
            <a:ext cx="5736716" cy="387798"/>
          </a:xfrm>
          <a:prstGeom prst="rect">
            <a:avLst/>
          </a:prstGeom>
          <a:noFill/>
          <a:ln>
            <a:noFill/>
          </a:ln>
        </p:spPr>
        <p:txBody>
          <a:bodyPr spcFirstLastPara="1" wrap="square" lIns="0" tIns="0" rIns="0" bIns="0" anchor="t" anchorCtr="0">
            <a:spAutoFit/>
          </a:bodyPr>
          <a:lstStyle/>
          <a:p>
            <a:r>
              <a:rPr lang="en-US" sz="2520" b="1" dirty="0" err="1">
                <a:solidFill>
                  <a:srgbClr val="002E5D"/>
                </a:solidFill>
                <a:latin typeface="Merriweather"/>
                <a:ea typeface="Merriweather"/>
                <a:cs typeface="Merriweather"/>
                <a:sym typeface="Merriweather"/>
              </a:rPr>
              <a:t>Componente</a:t>
            </a:r>
            <a:r>
              <a:rPr lang="en-US" sz="2520" b="1" dirty="0">
                <a:solidFill>
                  <a:srgbClr val="002E5D"/>
                </a:solidFill>
                <a:latin typeface="Merriweather"/>
                <a:ea typeface="Merriweather"/>
                <a:cs typeface="Merriweather"/>
                <a:sym typeface="Merriweather"/>
              </a:rPr>
              <a:t> ERE (70%)</a:t>
            </a:r>
            <a:endParaRPr sz="2160" dirty="0"/>
          </a:p>
        </p:txBody>
      </p:sp>
      <p:sp>
        <p:nvSpPr>
          <p:cNvPr id="150" name="Google Shape;150;p17"/>
          <p:cNvSpPr txBox="1"/>
          <p:nvPr/>
        </p:nvSpPr>
        <p:spPr>
          <a:xfrm>
            <a:off x="1040128" y="4988372"/>
            <a:ext cx="5463540" cy="443198"/>
          </a:xfrm>
          <a:prstGeom prst="rect">
            <a:avLst/>
          </a:prstGeom>
          <a:noFill/>
          <a:ln>
            <a:noFill/>
          </a:ln>
        </p:spPr>
        <p:txBody>
          <a:bodyPr spcFirstLastPara="1" wrap="square" lIns="0" tIns="0" rIns="0" bIns="0" anchor="t" anchorCtr="0">
            <a:spAutoFit/>
          </a:bodyPr>
          <a:lstStyle/>
          <a:p>
            <a:pPr>
              <a:lnSpc>
                <a:spcPct val="160000"/>
              </a:lnSpc>
            </a:pPr>
            <a:r>
              <a:rPr lang="en-US" b="1" dirty="0" err="1">
                <a:solidFill>
                  <a:srgbClr val="334155"/>
                </a:solidFill>
                <a:latin typeface="DM Sans"/>
                <a:ea typeface="DM Sans"/>
                <a:cs typeface="DM Sans"/>
                <a:sym typeface="DM Sans"/>
              </a:rPr>
              <a:t>Ejemplos</a:t>
            </a:r>
            <a:r>
              <a:rPr lang="en-US" b="1" dirty="0">
                <a:solidFill>
                  <a:srgbClr val="334155"/>
                </a:solidFill>
                <a:latin typeface="DM Sans"/>
                <a:ea typeface="DM Sans"/>
                <a:cs typeface="DM Sans"/>
                <a:sym typeface="DM Sans"/>
              </a:rPr>
              <a:t> de </a:t>
            </a:r>
            <a:r>
              <a:rPr lang="en-US" b="1" dirty="0" err="1">
                <a:solidFill>
                  <a:srgbClr val="334155"/>
                </a:solidFill>
                <a:latin typeface="DM Sans"/>
                <a:ea typeface="DM Sans"/>
                <a:cs typeface="DM Sans"/>
                <a:sym typeface="DM Sans"/>
              </a:rPr>
              <a:t>Excelencia</a:t>
            </a:r>
            <a:r>
              <a:rPr lang="en-US" b="1" dirty="0">
                <a:solidFill>
                  <a:srgbClr val="334155"/>
                </a:solidFill>
                <a:latin typeface="DM Sans"/>
                <a:ea typeface="DM Sans"/>
                <a:cs typeface="DM Sans"/>
                <a:sym typeface="DM Sans"/>
              </a:rPr>
              <a:t> </a:t>
            </a:r>
            <a:r>
              <a:rPr lang="en-US" b="1" dirty="0" err="1">
                <a:solidFill>
                  <a:srgbClr val="334155"/>
                </a:solidFill>
                <a:latin typeface="DM Sans"/>
                <a:ea typeface="DM Sans"/>
                <a:cs typeface="DM Sans"/>
                <a:sym typeface="DM Sans"/>
              </a:rPr>
              <a:t>en</a:t>
            </a:r>
            <a:r>
              <a:rPr lang="en-US" b="1" dirty="0">
                <a:solidFill>
                  <a:srgbClr val="334155"/>
                </a:solidFill>
                <a:latin typeface="DM Sans"/>
                <a:ea typeface="DM Sans"/>
                <a:cs typeface="DM Sans"/>
                <a:sym typeface="DM Sans"/>
              </a:rPr>
              <a:t> </a:t>
            </a:r>
            <a:r>
              <a:rPr lang="en-US" b="1" dirty="0" err="1">
                <a:solidFill>
                  <a:srgbClr val="334155"/>
                </a:solidFill>
                <a:latin typeface="DM Sans"/>
                <a:ea typeface="DM Sans"/>
                <a:cs typeface="DM Sans"/>
                <a:sym typeface="DM Sans"/>
              </a:rPr>
              <a:t>Investigación</a:t>
            </a:r>
            <a:endParaRPr sz="2160" dirty="0"/>
          </a:p>
        </p:txBody>
      </p:sp>
      <p:sp>
        <p:nvSpPr>
          <p:cNvPr id="151" name="Google Shape;151;p17"/>
          <p:cNvSpPr txBox="1"/>
          <p:nvPr/>
        </p:nvSpPr>
        <p:spPr>
          <a:xfrm>
            <a:off x="1040128" y="5582732"/>
            <a:ext cx="5463540" cy="1329595"/>
          </a:xfrm>
          <a:prstGeom prst="rect">
            <a:avLst/>
          </a:prstGeom>
          <a:noFill/>
          <a:ln>
            <a:noFill/>
          </a:ln>
        </p:spPr>
        <p:txBody>
          <a:bodyPr spcFirstLastPara="1" wrap="square" lIns="0" tIns="0" rIns="0" bIns="0" anchor="t" anchorCtr="0">
            <a:spAutoFit/>
          </a:bodyPr>
          <a:lstStyle/>
          <a:p>
            <a:pPr>
              <a:lnSpc>
                <a:spcPct val="160000"/>
              </a:lnSpc>
            </a:pPr>
            <a:r>
              <a:rPr lang="en-US">
                <a:solidFill>
                  <a:srgbClr val="334155"/>
                </a:solidFill>
                <a:latin typeface="DM Sans"/>
                <a:ea typeface="DM Sans"/>
                <a:cs typeface="DM Sans"/>
                <a:sym typeface="DM Sans"/>
              </a:rPr>
              <a:t>Es el núcleo de la evaluación. Se enfoca en la calidad de los productos de investigación (outputs) presentados.</a:t>
            </a:r>
            <a:endParaRPr sz="2160"/>
          </a:p>
        </p:txBody>
      </p:sp>
      <p:sp>
        <p:nvSpPr>
          <p:cNvPr id="152" name="Google Shape;152;p17"/>
          <p:cNvSpPr txBox="1"/>
          <p:nvPr/>
        </p:nvSpPr>
        <p:spPr>
          <a:xfrm>
            <a:off x="1040128" y="6908612"/>
            <a:ext cx="5463540" cy="354584"/>
          </a:xfrm>
          <a:prstGeom prst="rect">
            <a:avLst/>
          </a:prstGeom>
          <a:noFill/>
          <a:ln>
            <a:noFill/>
          </a:ln>
        </p:spPr>
        <p:txBody>
          <a:bodyPr spcFirstLastPara="1" wrap="square" lIns="0" tIns="0" rIns="0" bIns="0" anchor="t" anchorCtr="0">
            <a:spAutoFit/>
          </a:bodyPr>
          <a:lstStyle/>
          <a:p>
            <a:pPr>
              <a:lnSpc>
                <a:spcPct val="160000"/>
              </a:lnSpc>
            </a:pPr>
            <a:r>
              <a:rPr lang="en-US" sz="1440">
                <a:solidFill>
                  <a:srgbClr val="64748B"/>
                </a:solidFill>
                <a:latin typeface="DM Sans"/>
                <a:ea typeface="DM Sans"/>
                <a:cs typeface="DM Sans"/>
                <a:sym typeface="DM Sans"/>
              </a:rPr>
              <a:t>Incluye narrativa contextual y hasta 3 outputs principales.</a:t>
            </a:r>
            <a:endParaRPr sz="2160"/>
          </a:p>
        </p:txBody>
      </p:sp>
      <p:sp>
        <p:nvSpPr>
          <p:cNvPr id="153" name="Google Shape;153;p17"/>
          <p:cNvSpPr txBox="1"/>
          <p:nvPr/>
        </p:nvSpPr>
        <p:spPr>
          <a:xfrm>
            <a:off x="8126733" y="4348292"/>
            <a:ext cx="5736716" cy="387798"/>
          </a:xfrm>
          <a:prstGeom prst="rect">
            <a:avLst/>
          </a:prstGeom>
          <a:noFill/>
          <a:ln>
            <a:noFill/>
          </a:ln>
        </p:spPr>
        <p:txBody>
          <a:bodyPr spcFirstLastPara="1" wrap="square" lIns="0" tIns="0" rIns="0" bIns="0" anchor="t" anchorCtr="0">
            <a:spAutoFit/>
          </a:bodyPr>
          <a:lstStyle/>
          <a:p>
            <a:r>
              <a:rPr lang="en-US" sz="2520" b="1" dirty="0" err="1">
                <a:solidFill>
                  <a:srgbClr val="002E5D"/>
                </a:solidFill>
                <a:latin typeface="Merriweather"/>
                <a:ea typeface="Merriweather"/>
                <a:cs typeface="Merriweather"/>
                <a:sym typeface="Merriweather"/>
              </a:rPr>
              <a:t>Componente</a:t>
            </a:r>
            <a:r>
              <a:rPr lang="en-US" sz="2520" b="1" dirty="0">
                <a:solidFill>
                  <a:srgbClr val="002E5D"/>
                </a:solidFill>
                <a:latin typeface="Merriweather"/>
                <a:ea typeface="Merriweather"/>
                <a:cs typeface="Merriweather"/>
                <a:sym typeface="Merriweather"/>
              </a:rPr>
              <a:t> CRE (30%)</a:t>
            </a:r>
            <a:endParaRPr sz="2160" dirty="0"/>
          </a:p>
        </p:txBody>
      </p:sp>
      <p:sp>
        <p:nvSpPr>
          <p:cNvPr id="154" name="Google Shape;154;p17"/>
          <p:cNvSpPr txBox="1"/>
          <p:nvPr/>
        </p:nvSpPr>
        <p:spPr>
          <a:xfrm>
            <a:off x="8126732" y="4988373"/>
            <a:ext cx="5463540" cy="443198"/>
          </a:xfrm>
          <a:prstGeom prst="rect">
            <a:avLst/>
          </a:prstGeom>
          <a:noFill/>
          <a:ln>
            <a:noFill/>
          </a:ln>
        </p:spPr>
        <p:txBody>
          <a:bodyPr spcFirstLastPara="1" wrap="square" lIns="0" tIns="0" rIns="0" bIns="0" anchor="t" anchorCtr="0">
            <a:spAutoFit/>
          </a:bodyPr>
          <a:lstStyle/>
          <a:p>
            <a:pPr>
              <a:lnSpc>
                <a:spcPct val="160000"/>
              </a:lnSpc>
            </a:pPr>
            <a:r>
              <a:rPr lang="en-US" b="1" dirty="0" err="1">
                <a:solidFill>
                  <a:srgbClr val="334155"/>
                </a:solidFill>
                <a:latin typeface="DM Sans"/>
                <a:ea typeface="DM Sans"/>
                <a:cs typeface="DM Sans"/>
                <a:sym typeface="DM Sans"/>
              </a:rPr>
              <a:t>Contribuciones</a:t>
            </a:r>
            <a:r>
              <a:rPr lang="en-US" b="1" dirty="0">
                <a:solidFill>
                  <a:srgbClr val="334155"/>
                </a:solidFill>
                <a:latin typeface="DM Sans"/>
                <a:ea typeface="DM Sans"/>
                <a:cs typeface="DM Sans"/>
                <a:sym typeface="DM Sans"/>
              </a:rPr>
              <a:t> al </a:t>
            </a:r>
            <a:r>
              <a:rPr lang="en-US" b="1" dirty="0" err="1">
                <a:solidFill>
                  <a:srgbClr val="334155"/>
                </a:solidFill>
                <a:latin typeface="DM Sans"/>
                <a:ea typeface="DM Sans"/>
                <a:cs typeface="DM Sans"/>
                <a:sym typeface="DM Sans"/>
              </a:rPr>
              <a:t>Entorno</a:t>
            </a:r>
            <a:r>
              <a:rPr lang="en-US" b="1" dirty="0">
                <a:solidFill>
                  <a:srgbClr val="334155"/>
                </a:solidFill>
                <a:latin typeface="DM Sans"/>
                <a:ea typeface="DM Sans"/>
                <a:cs typeface="DM Sans"/>
                <a:sym typeface="DM Sans"/>
              </a:rPr>
              <a:t> de </a:t>
            </a:r>
            <a:r>
              <a:rPr lang="en-US" b="1" dirty="0" err="1">
                <a:solidFill>
                  <a:srgbClr val="334155"/>
                </a:solidFill>
                <a:latin typeface="DM Sans"/>
                <a:ea typeface="DM Sans"/>
                <a:cs typeface="DM Sans"/>
                <a:sym typeface="DM Sans"/>
              </a:rPr>
              <a:t>Investigación</a:t>
            </a:r>
            <a:endParaRPr sz="2160" dirty="0"/>
          </a:p>
        </p:txBody>
      </p:sp>
      <p:sp>
        <p:nvSpPr>
          <p:cNvPr id="155" name="Google Shape;155;p17"/>
          <p:cNvSpPr txBox="1"/>
          <p:nvPr/>
        </p:nvSpPr>
        <p:spPr>
          <a:xfrm>
            <a:off x="8126732" y="5582733"/>
            <a:ext cx="5463540" cy="886397"/>
          </a:xfrm>
          <a:prstGeom prst="rect">
            <a:avLst/>
          </a:prstGeom>
          <a:noFill/>
          <a:ln>
            <a:noFill/>
          </a:ln>
        </p:spPr>
        <p:txBody>
          <a:bodyPr spcFirstLastPara="1" wrap="square" lIns="0" tIns="0" rIns="0" bIns="0" anchor="t" anchorCtr="0">
            <a:spAutoFit/>
          </a:bodyPr>
          <a:lstStyle/>
          <a:p>
            <a:pPr>
              <a:lnSpc>
                <a:spcPct val="160000"/>
              </a:lnSpc>
            </a:pPr>
            <a:r>
              <a:rPr lang="en-US" dirty="0" err="1">
                <a:solidFill>
                  <a:srgbClr val="334155"/>
                </a:solidFill>
                <a:latin typeface="DM Sans"/>
                <a:ea typeface="DM Sans"/>
                <a:cs typeface="DM Sans"/>
                <a:sym typeface="DM Sans"/>
              </a:rPr>
              <a:t>Reconoce</a:t>
            </a:r>
            <a:r>
              <a:rPr lang="en-US" dirty="0">
                <a:solidFill>
                  <a:srgbClr val="334155"/>
                </a:solidFill>
                <a:latin typeface="DM Sans"/>
                <a:ea typeface="DM Sans"/>
                <a:cs typeface="DM Sans"/>
                <a:sym typeface="DM Sans"/>
              </a:rPr>
              <a:t> las </a:t>
            </a:r>
            <a:r>
              <a:rPr lang="en-US" dirty="0" err="1">
                <a:solidFill>
                  <a:srgbClr val="334155"/>
                </a:solidFill>
                <a:latin typeface="DM Sans"/>
                <a:ea typeface="DM Sans"/>
                <a:cs typeface="DM Sans"/>
                <a:sym typeface="DM Sans"/>
              </a:rPr>
              <a:t>actividades</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que</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sostienen</a:t>
            </a:r>
            <a:r>
              <a:rPr lang="en-US" dirty="0">
                <a:solidFill>
                  <a:srgbClr val="334155"/>
                </a:solidFill>
                <a:latin typeface="DM Sans"/>
                <a:ea typeface="DM Sans"/>
                <a:cs typeface="DM Sans"/>
                <a:sym typeface="DM Sans"/>
              </a:rPr>
              <a:t> y </a:t>
            </a:r>
            <a:r>
              <a:rPr lang="en-US" dirty="0" err="1">
                <a:solidFill>
                  <a:srgbClr val="334155"/>
                </a:solidFill>
                <a:latin typeface="DM Sans"/>
                <a:ea typeface="DM Sans"/>
                <a:cs typeface="DM Sans"/>
                <a:sym typeface="DM Sans"/>
              </a:rPr>
              <a:t>desarrollan</a:t>
            </a:r>
            <a:r>
              <a:rPr lang="en-US" dirty="0">
                <a:solidFill>
                  <a:srgbClr val="334155"/>
                </a:solidFill>
                <a:latin typeface="DM Sans"/>
                <a:ea typeface="DM Sans"/>
                <a:cs typeface="DM Sans"/>
                <a:sym typeface="DM Sans"/>
              </a:rPr>
              <a:t> la </a:t>
            </a:r>
            <a:r>
              <a:rPr lang="en-US" dirty="0" err="1">
                <a:solidFill>
                  <a:srgbClr val="334155"/>
                </a:solidFill>
                <a:latin typeface="DM Sans"/>
                <a:ea typeface="DM Sans"/>
                <a:cs typeface="DM Sans"/>
                <a:sym typeface="DM Sans"/>
              </a:rPr>
              <a:t>cultura</a:t>
            </a:r>
            <a:r>
              <a:rPr lang="en-US" dirty="0">
                <a:solidFill>
                  <a:srgbClr val="334155"/>
                </a:solidFill>
                <a:latin typeface="DM Sans"/>
                <a:ea typeface="DM Sans"/>
                <a:cs typeface="DM Sans"/>
                <a:sym typeface="DM Sans"/>
              </a:rPr>
              <a:t> </a:t>
            </a:r>
            <a:r>
              <a:rPr lang="en-US" dirty="0" err="1">
                <a:solidFill>
                  <a:srgbClr val="334155"/>
                </a:solidFill>
                <a:latin typeface="DM Sans"/>
                <a:ea typeface="DM Sans"/>
                <a:cs typeface="DM Sans"/>
                <a:sym typeface="DM Sans"/>
              </a:rPr>
              <a:t>investigadora</a:t>
            </a:r>
            <a:r>
              <a:rPr lang="en-US" dirty="0">
                <a:solidFill>
                  <a:srgbClr val="334155"/>
                </a:solidFill>
                <a:latin typeface="DM Sans"/>
                <a:ea typeface="DM Sans"/>
                <a:cs typeface="DM Sans"/>
                <a:sym typeface="DM Sans"/>
              </a:rPr>
              <a:t>.</a:t>
            </a:r>
            <a:endParaRPr sz="2160" dirty="0"/>
          </a:p>
        </p:txBody>
      </p:sp>
      <p:sp>
        <p:nvSpPr>
          <p:cNvPr id="156" name="Google Shape;156;p17"/>
          <p:cNvSpPr txBox="1"/>
          <p:nvPr/>
        </p:nvSpPr>
        <p:spPr>
          <a:xfrm>
            <a:off x="8126732" y="6542852"/>
            <a:ext cx="5463540" cy="354584"/>
          </a:xfrm>
          <a:prstGeom prst="rect">
            <a:avLst/>
          </a:prstGeom>
          <a:noFill/>
          <a:ln>
            <a:noFill/>
          </a:ln>
        </p:spPr>
        <p:txBody>
          <a:bodyPr spcFirstLastPara="1" wrap="square" lIns="0" tIns="0" rIns="0" bIns="0" anchor="t" anchorCtr="0">
            <a:spAutoFit/>
          </a:bodyPr>
          <a:lstStyle/>
          <a:p>
            <a:pPr>
              <a:lnSpc>
                <a:spcPct val="160000"/>
              </a:lnSpc>
            </a:pPr>
            <a:r>
              <a:rPr lang="en-US" sz="1440">
                <a:solidFill>
                  <a:srgbClr val="64748B"/>
                </a:solidFill>
                <a:latin typeface="DM Sans"/>
                <a:ea typeface="DM Sans"/>
                <a:cs typeface="DM Sans"/>
                <a:sym typeface="DM Sans"/>
              </a:rPr>
              <a:t>Incluye liderazgo, colaboración, supervisión y reconocimiento.</a:t>
            </a:r>
            <a:endParaRPr sz="2160"/>
          </a:p>
        </p:txBody>
      </p:sp>
      <p:sp>
        <p:nvSpPr>
          <p:cNvPr id="157" name="Google Shape;157;p17"/>
          <p:cNvSpPr txBox="1"/>
          <p:nvPr/>
        </p:nvSpPr>
        <p:spPr>
          <a:xfrm>
            <a:off x="571500" y="1026735"/>
            <a:ext cx="14058900" cy="664797"/>
          </a:xfrm>
          <a:prstGeom prst="rect">
            <a:avLst/>
          </a:prstGeom>
          <a:noFill/>
          <a:ln>
            <a:noFill/>
          </a:ln>
        </p:spPr>
        <p:txBody>
          <a:bodyPr spcFirstLastPara="1" wrap="square" lIns="0" tIns="0" rIns="0" bIns="0" anchor="t" anchorCtr="0">
            <a:spAutoFit/>
          </a:bodyPr>
          <a:lstStyle/>
          <a:p>
            <a:r>
              <a:rPr lang="en-US" sz="4320" b="1" dirty="0">
                <a:solidFill>
                  <a:srgbClr val="002E5D"/>
                </a:solidFill>
                <a:latin typeface="Merriweather"/>
                <a:ea typeface="Merriweather"/>
                <a:cs typeface="Merriweather"/>
                <a:sym typeface="Merriweather"/>
              </a:rPr>
              <a:t>The Quality Evaluation assessment</a:t>
            </a:r>
          </a:p>
        </p:txBody>
      </p:sp>
      <p:sp>
        <p:nvSpPr>
          <p:cNvPr id="158" name="Google Shape;158;p17"/>
          <p:cNvSpPr/>
          <p:nvPr/>
        </p:nvSpPr>
        <p:spPr>
          <a:xfrm>
            <a:off x="571500" y="1883984"/>
            <a:ext cx="134874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5C16F064-5CB0-0552-5D12-F73D2D7CBB58}"/>
              </a:ext>
            </a:extLst>
          </p:cNvPr>
          <p:cNvSpPr txBox="1"/>
          <p:nvPr/>
        </p:nvSpPr>
        <p:spPr>
          <a:xfrm>
            <a:off x="695154" y="2189613"/>
            <a:ext cx="13487399" cy="830997"/>
          </a:xfrm>
          <a:prstGeom prst="rect">
            <a:avLst/>
          </a:prstGeom>
          <a:noFill/>
        </p:spPr>
        <p:txBody>
          <a:bodyPr wrap="square">
            <a:spAutoFit/>
          </a:bodyPr>
          <a:lstStyle/>
          <a:p>
            <a:pPr>
              <a:buNone/>
            </a:pPr>
            <a:r>
              <a:rPr lang="es-ES" sz="1600" dirty="0">
                <a:latin typeface="Merriweather" panose="00000500000000000000" pitchFamily="2" charset="0"/>
              </a:rPr>
              <a:t>La </a:t>
            </a:r>
            <a:r>
              <a:rPr lang="es-ES" sz="1600" b="1" dirty="0">
                <a:latin typeface="Merriweather" panose="00000500000000000000" pitchFamily="2" charset="0"/>
              </a:rPr>
              <a:t>Evaluación de la Calidad</a:t>
            </a:r>
            <a:r>
              <a:rPr lang="es-ES" sz="1600" dirty="0">
                <a:latin typeface="Merriweather" panose="00000500000000000000" pitchFamily="2" charset="0"/>
              </a:rPr>
              <a:t> es la evaluación de la </a:t>
            </a:r>
            <a:r>
              <a:rPr lang="es-ES" sz="1600" b="1" dirty="0">
                <a:latin typeface="Merriweather" panose="00000500000000000000" pitchFamily="2" charset="0"/>
              </a:rPr>
              <a:t>calidad de la investigación</a:t>
            </a:r>
            <a:r>
              <a:rPr lang="es-ES" sz="1600" dirty="0">
                <a:latin typeface="Merriweather" panose="00000500000000000000" pitchFamily="2" charset="0"/>
              </a:rPr>
              <a:t> del personal de las </a:t>
            </a:r>
            <a:r>
              <a:rPr lang="es-ES" sz="1600" b="1" dirty="0">
                <a:latin typeface="Merriweather" panose="00000500000000000000" pitchFamily="2" charset="0"/>
              </a:rPr>
              <a:t>instituciones de educación terciaria (TEO)</a:t>
            </a:r>
            <a:r>
              <a:rPr lang="es-ES" sz="1600" dirty="0">
                <a:latin typeface="Merriweather" panose="00000500000000000000" pitchFamily="2" charset="0"/>
              </a:rPr>
              <a:t>. Esta calidad se evalúa mediante </a:t>
            </a:r>
            <a:r>
              <a:rPr lang="es-ES" sz="1600" b="1" dirty="0">
                <a:latin typeface="Merriweather" panose="00000500000000000000" pitchFamily="2" charset="0"/>
              </a:rPr>
              <a:t>paneles de revisión por pares expertos</a:t>
            </a:r>
            <a:r>
              <a:rPr lang="es-ES" sz="1600" dirty="0">
                <a:latin typeface="Merriweather" panose="00000500000000000000" pitchFamily="2" charset="0"/>
              </a:rPr>
              <a:t>, a partir de la </a:t>
            </a:r>
            <a:r>
              <a:rPr lang="es-ES" sz="1600" b="1" dirty="0">
                <a:latin typeface="Merriweather" panose="00000500000000000000" pitchFamily="2" charset="0"/>
              </a:rPr>
              <a:t>actividad investigativa presentada en un Portafolio de Evidencia (</a:t>
            </a:r>
            <a:r>
              <a:rPr lang="es-ES" sz="1600" b="1" dirty="0" err="1">
                <a:latin typeface="Merriweather" panose="00000500000000000000" pitchFamily="2" charset="0"/>
              </a:rPr>
              <a:t>Evidence</a:t>
            </a:r>
            <a:r>
              <a:rPr lang="es-ES" sz="1600" b="1" dirty="0">
                <a:latin typeface="Merriweather" panose="00000500000000000000" pitchFamily="2" charset="0"/>
              </a:rPr>
              <a:t> Portfolio, EP)</a:t>
            </a:r>
            <a:r>
              <a:rPr lang="es-ES" sz="1600" dirty="0">
                <a:latin typeface="Merriweather" panose="00000500000000000000" pitchFamily="2" charset="0"/>
              </a:rPr>
              <a:t> correspondiente a cada miembro del personal elegible.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4630400" cy="8229600"/>
          </a:xfrm>
          <a:prstGeom prst="rect">
            <a:avLst/>
          </a:prstGeom>
          <a:noFill/>
          <a:ln>
            <a:noFill/>
          </a:ln>
        </p:spPr>
      </p:pic>
      <p:sp>
        <p:nvSpPr>
          <p:cNvPr id="93" name="Google Shape;93;p14"/>
          <p:cNvSpPr/>
          <p:nvPr/>
        </p:nvSpPr>
        <p:spPr>
          <a:xfrm>
            <a:off x="925830" y="2537460"/>
            <a:ext cx="12778740" cy="914400"/>
          </a:xfrm>
          <a:prstGeom prst="roundRect">
            <a:avLst>
              <a:gd name="adj" fmla="val 15000"/>
            </a:avLst>
          </a:prstGeom>
          <a:solidFill>
            <a:srgbClr val="F9FAFB"/>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94" name="Google Shape;94;p14"/>
          <p:cNvSpPr txBox="1"/>
          <p:nvPr/>
        </p:nvSpPr>
        <p:spPr>
          <a:xfrm>
            <a:off x="1863090" y="2773061"/>
            <a:ext cx="1147572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4B5563"/>
                </a:solidFill>
                <a:latin typeface="Inter"/>
                <a:ea typeface="Inter"/>
                <a:cs typeface="Inter"/>
                <a:sym typeface="Inter"/>
              </a:rPr>
              <a:t>Detalles del EP y Datos Administrativos</a:t>
            </a:r>
            <a:endParaRPr sz="2160"/>
          </a:p>
        </p:txBody>
      </p:sp>
      <p:sp>
        <p:nvSpPr>
          <p:cNvPr id="95" name="Google Shape;95;p14"/>
          <p:cNvSpPr/>
          <p:nvPr/>
        </p:nvSpPr>
        <p:spPr>
          <a:xfrm>
            <a:off x="925830" y="2537460"/>
            <a:ext cx="68580" cy="914400"/>
          </a:xfrm>
          <a:prstGeom prst="rect">
            <a:avLst/>
          </a:prstGeom>
          <a:solidFill>
            <a:srgbClr val="3B82F6"/>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96" name="Google Shape;96;p14"/>
          <p:cNvSpPr/>
          <p:nvPr/>
        </p:nvSpPr>
        <p:spPr>
          <a:xfrm>
            <a:off x="925830" y="3680460"/>
            <a:ext cx="12778740" cy="914400"/>
          </a:xfrm>
          <a:prstGeom prst="roundRect">
            <a:avLst>
              <a:gd name="adj" fmla="val 15000"/>
            </a:avLst>
          </a:prstGeom>
          <a:solidFill>
            <a:srgbClr val="F9FAFB"/>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97" name="Google Shape;97;p14"/>
          <p:cNvSpPr txBox="1"/>
          <p:nvPr/>
        </p:nvSpPr>
        <p:spPr>
          <a:xfrm>
            <a:off x="1863090" y="3916061"/>
            <a:ext cx="1147572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4B5563"/>
                </a:solidFill>
                <a:latin typeface="Inter"/>
                <a:ea typeface="Inter"/>
                <a:cs typeface="Inter"/>
                <a:sym typeface="Inter"/>
              </a:rPr>
              <a:t>Plataforma de Investigación – Resumen Contextual</a:t>
            </a:r>
            <a:endParaRPr sz="2160"/>
          </a:p>
        </p:txBody>
      </p:sp>
      <p:sp>
        <p:nvSpPr>
          <p:cNvPr id="98" name="Google Shape;98;p14"/>
          <p:cNvSpPr/>
          <p:nvPr/>
        </p:nvSpPr>
        <p:spPr>
          <a:xfrm>
            <a:off x="925830" y="3680460"/>
            <a:ext cx="68580" cy="914400"/>
          </a:xfrm>
          <a:prstGeom prst="rect">
            <a:avLst/>
          </a:prstGeom>
          <a:solidFill>
            <a:srgbClr val="3B82F6"/>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99" name="Google Shape;99;p14"/>
          <p:cNvSpPr/>
          <p:nvPr/>
        </p:nvSpPr>
        <p:spPr>
          <a:xfrm>
            <a:off x="925830" y="4823460"/>
            <a:ext cx="12778740" cy="914400"/>
          </a:xfrm>
          <a:prstGeom prst="roundRect">
            <a:avLst>
              <a:gd name="adj" fmla="val 15000"/>
            </a:avLst>
          </a:prstGeom>
          <a:solidFill>
            <a:srgbClr val="F9FAFB"/>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00" name="Google Shape;100;p14"/>
          <p:cNvSpPr txBox="1"/>
          <p:nvPr/>
        </p:nvSpPr>
        <p:spPr>
          <a:xfrm>
            <a:off x="1863090" y="5059061"/>
            <a:ext cx="1147572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4B5563"/>
                </a:solidFill>
                <a:latin typeface="Inter"/>
                <a:ea typeface="Inter"/>
                <a:cs typeface="Inter"/>
                <a:sym typeface="Inter"/>
              </a:rPr>
              <a:t>Componente: Ejemplos de Excelencia en Investigación (ERE)</a:t>
            </a:r>
            <a:endParaRPr sz="2160"/>
          </a:p>
        </p:txBody>
      </p:sp>
      <p:sp>
        <p:nvSpPr>
          <p:cNvPr id="101" name="Google Shape;101;p14"/>
          <p:cNvSpPr/>
          <p:nvPr/>
        </p:nvSpPr>
        <p:spPr>
          <a:xfrm>
            <a:off x="925830" y="4823460"/>
            <a:ext cx="68580" cy="914400"/>
          </a:xfrm>
          <a:prstGeom prst="rect">
            <a:avLst/>
          </a:prstGeom>
          <a:solidFill>
            <a:srgbClr val="3B82F6"/>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02" name="Google Shape;102;p14"/>
          <p:cNvSpPr/>
          <p:nvPr/>
        </p:nvSpPr>
        <p:spPr>
          <a:xfrm>
            <a:off x="925830" y="5966460"/>
            <a:ext cx="12778740" cy="914400"/>
          </a:xfrm>
          <a:prstGeom prst="roundRect">
            <a:avLst>
              <a:gd name="adj" fmla="val 15000"/>
            </a:avLst>
          </a:prstGeom>
          <a:solidFill>
            <a:srgbClr val="F9FAFB"/>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103" name="Google Shape;103;p14"/>
          <p:cNvSpPr txBox="1"/>
          <p:nvPr/>
        </p:nvSpPr>
        <p:spPr>
          <a:xfrm>
            <a:off x="1863090" y="6202061"/>
            <a:ext cx="11475720" cy="443198"/>
          </a:xfrm>
          <a:prstGeom prst="rect">
            <a:avLst/>
          </a:prstGeom>
          <a:noFill/>
          <a:ln>
            <a:noFill/>
          </a:ln>
        </p:spPr>
        <p:txBody>
          <a:bodyPr spcFirstLastPara="1" wrap="square" lIns="0" tIns="0" rIns="0" bIns="0" anchor="ctr" anchorCtr="0">
            <a:spAutoFit/>
          </a:bodyPr>
          <a:lstStyle/>
          <a:p>
            <a:pPr>
              <a:lnSpc>
                <a:spcPct val="160000"/>
              </a:lnSpc>
            </a:pPr>
            <a:r>
              <a:rPr lang="en-US">
                <a:solidFill>
                  <a:srgbClr val="4B5563"/>
                </a:solidFill>
                <a:latin typeface="Inter"/>
                <a:ea typeface="Inter"/>
                <a:cs typeface="Inter"/>
                <a:sym typeface="Inter"/>
              </a:rPr>
              <a:t>Componente: Contribuciones al Entorno de Investigación (CRE)</a:t>
            </a:r>
            <a:endParaRPr sz="2160"/>
          </a:p>
        </p:txBody>
      </p:sp>
      <p:sp>
        <p:nvSpPr>
          <p:cNvPr id="104" name="Google Shape;104;p14"/>
          <p:cNvSpPr/>
          <p:nvPr/>
        </p:nvSpPr>
        <p:spPr>
          <a:xfrm>
            <a:off x="925830" y="5966460"/>
            <a:ext cx="68580" cy="914400"/>
          </a:xfrm>
          <a:prstGeom prst="rect">
            <a:avLst/>
          </a:prstGeom>
          <a:solidFill>
            <a:srgbClr val="3B82F6"/>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pic>
        <p:nvPicPr>
          <p:cNvPr id="105" name="Google Shape;105;p14" descr="image.png"/>
          <p:cNvPicPr preferRelativeResize="0"/>
          <p:nvPr/>
        </p:nvPicPr>
        <p:blipFill rotWithShape="1">
          <a:blip r:embed="rId4">
            <a:alphaModFix/>
          </a:blip>
          <a:srcRect/>
          <a:stretch/>
        </p:blipFill>
        <p:spPr>
          <a:xfrm>
            <a:off x="1360171" y="2846070"/>
            <a:ext cx="308610" cy="297180"/>
          </a:xfrm>
          <a:prstGeom prst="rect">
            <a:avLst/>
          </a:prstGeom>
          <a:noFill/>
          <a:ln>
            <a:noFill/>
          </a:ln>
        </p:spPr>
      </p:pic>
      <p:pic>
        <p:nvPicPr>
          <p:cNvPr id="106" name="Google Shape;106;p14" descr="image.png"/>
          <p:cNvPicPr preferRelativeResize="0"/>
          <p:nvPr/>
        </p:nvPicPr>
        <p:blipFill rotWithShape="1">
          <a:blip r:embed="rId5">
            <a:alphaModFix/>
          </a:blip>
          <a:srcRect/>
          <a:stretch/>
        </p:blipFill>
        <p:spPr>
          <a:xfrm>
            <a:off x="1360170" y="3989070"/>
            <a:ext cx="342900" cy="297180"/>
          </a:xfrm>
          <a:prstGeom prst="rect">
            <a:avLst/>
          </a:prstGeom>
          <a:noFill/>
          <a:ln>
            <a:noFill/>
          </a:ln>
        </p:spPr>
      </p:pic>
      <p:pic>
        <p:nvPicPr>
          <p:cNvPr id="107" name="Google Shape;107;p14" descr="image.png"/>
          <p:cNvPicPr preferRelativeResize="0"/>
          <p:nvPr/>
        </p:nvPicPr>
        <p:blipFill rotWithShape="1">
          <a:blip r:embed="rId6">
            <a:alphaModFix/>
          </a:blip>
          <a:srcRect/>
          <a:stretch/>
        </p:blipFill>
        <p:spPr>
          <a:xfrm>
            <a:off x="1360171" y="5132070"/>
            <a:ext cx="308610" cy="297180"/>
          </a:xfrm>
          <a:prstGeom prst="rect">
            <a:avLst/>
          </a:prstGeom>
          <a:noFill/>
          <a:ln>
            <a:noFill/>
          </a:ln>
        </p:spPr>
      </p:pic>
      <p:pic>
        <p:nvPicPr>
          <p:cNvPr id="108" name="Google Shape;108;p14" descr="image.png"/>
          <p:cNvPicPr preferRelativeResize="0"/>
          <p:nvPr/>
        </p:nvPicPr>
        <p:blipFill rotWithShape="1">
          <a:blip r:embed="rId7">
            <a:alphaModFix/>
          </a:blip>
          <a:srcRect/>
          <a:stretch/>
        </p:blipFill>
        <p:spPr>
          <a:xfrm>
            <a:off x="1360170" y="6275070"/>
            <a:ext cx="274320" cy="297180"/>
          </a:xfrm>
          <a:prstGeom prst="rect">
            <a:avLst/>
          </a:prstGeom>
          <a:noFill/>
          <a:ln>
            <a:noFill/>
          </a:ln>
        </p:spPr>
      </p:pic>
      <p:sp>
        <p:nvSpPr>
          <p:cNvPr id="109" name="Google Shape;109;p14"/>
          <p:cNvSpPr txBox="1"/>
          <p:nvPr/>
        </p:nvSpPr>
        <p:spPr>
          <a:xfrm>
            <a:off x="925831" y="697231"/>
            <a:ext cx="13417676" cy="664797"/>
          </a:xfrm>
          <a:prstGeom prst="rect">
            <a:avLst/>
          </a:prstGeom>
          <a:noFill/>
          <a:ln>
            <a:noFill/>
          </a:ln>
        </p:spPr>
        <p:txBody>
          <a:bodyPr spcFirstLastPara="1" wrap="square" lIns="0" tIns="0" rIns="0" bIns="0" anchor="t" anchorCtr="0">
            <a:spAutoFit/>
          </a:bodyPr>
          <a:lstStyle/>
          <a:p>
            <a:r>
              <a:rPr lang="en-US" sz="4320">
                <a:solidFill>
                  <a:srgbClr val="1E3A8A"/>
                </a:solidFill>
                <a:latin typeface="Playfair Display SemiBold"/>
                <a:ea typeface="Playfair Display SemiBold"/>
                <a:cs typeface="Playfair Display SemiBold"/>
                <a:sym typeface="Playfair Display SemiBold"/>
              </a:rPr>
              <a:t>Estructura General del EP</a:t>
            </a:r>
            <a:endParaRPr sz="216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16"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32" name="Google Shape;132;p16" descr="image.png"/>
          <p:cNvPicPr preferRelativeResize="0"/>
          <p:nvPr/>
        </p:nvPicPr>
        <p:blipFill rotWithShape="1">
          <a:blip r:embed="rId4">
            <a:alphaModFix/>
          </a:blip>
          <a:srcRect/>
          <a:stretch/>
        </p:blipFill>
        <p:spPr>
          <a:xfrm>
            <a:off x="925830" y="3035915"/>
            <a:ext cx="12778740" cy="3346310"/>
          </a:xfrm>
          <a:prstGeom prst="rect">
            <a:avLst/>
          </a:prstGeom>
          <a:noFill/>
          <a:ln>
            <a:noFill/>
          </a:ln>
        </p:spPr>
      </p:pic>
      <p:sp>
        <p:nvSpPr>
          <p:cNvPr id="133" name="Google Shape;133;p16"/>
          <p:cNvSpPr txBox="1"/>
          <p:nvPr/>
        </p:nvSpPr>
        <p:spPr>
          <a:xfrm>
            <a:off x="1725930" y="4640580"/>
            <a:ext cx="11292840" cy="975011"/>
          </a:xfrm>
          <a:prstGeom prst="rect">
            <a:avLst/>
          </a:prstGeom>
          <a:noFill/>
          <a:ln>
            <a:noFill/>
          </a:ln>
        </p:spPr>
        <p:txBody>
          <a:bodyPr spcFirstLastPara="1" wrap="square" lIns="0" tIns="0" rIns="0" bIns="0" anchor="t" anchorCtr="0">
            <a:spAutoFit/>
          </a:bodyPr>
          <a:lstStyle/>
          <a:p>
            <a:pPr>
              <a:lnSpc>
                <a:spcPct val="160000"/>
              </a:lnSpc>
            </a:pPr>
            <a:r>
              <a:rPr lang="en-US" sz="1980">
                <a:solidFill>
                  <a:srgbClr val="4B5563"/>
                </a:solidFill>
                <a:latin typeface="Inter"/>
                <a:ea typeface="Inter"/>
                <a:cs typeface="Inter"/>
                <a:sym typeface="Inter"/>
              </a:rPr>
              <a:t>Esta sección proporciona el marco de referencia y el contexto necesario para comprender la investigación presentada, situando el trabajo dentro de su campo y circunstancias específicas.</a:t>
            </a:r>
            <a:endParaRPr sz="2160"/>
          </a:p>
        </p:txBody>
      </p:sp>
      <p:sp>
        <p:nvSpPr>
          <p:cNvPr id="134" name="Google Shape;134;p16"/>
          <p:cNvSpPr txBox="1"/>
          <p:nvPr/>
        </p:nvSpPr>
        <p:spPr>
          <a:xfrm>
            <a:off x="925831" y="697231"/>
            <a:ext cx="13417676" cy="664797"/>
          </a:xfrm>
          <a:prstGeom prst="rect">
            <a:avLst/>
          </a:prstGeom>
          <a:noFill/>
          <a:ln>
            <a:noFill/>
          </a:ln>
        </p:spPr>
        <p:txBody>
          <a:bodyPr spcFirstLastPara="1" wrap="square" lIns="0" tIns="0" rIns="0" bIns="0" anchor="t" anchorCtr="0">
            <a:spAutoFit/>
          </a:bodyPr>
          <a:lstStyle/>
          <a:p>
            <a:r>
              <a:rPr lang="en-US" sz="4320">
                <a:solidFill>
                  <a:srgbClr val="1E3A8A"/>
                </a:solidFill>
                <a:latin typeface="Playfair Display SemiBold"/>
                <a:ea typeface="Playfair Display SemiBold"/>
                <a:cs typeface="Playfair Display SemiBold"/>
                <a:sym typeface="Playfair Display SemiBold"/>
              </a:rPr>
              <a:t>Plataforma de Investigación</a:t>
            </a:r>
            <a:endParaRPr sz="216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925830" y="3280410"/>
            <a:ext cx="2857500" cy="2857500"/>
          </a:xfrm>
          <a:prstGeom prst="rect">
            <a:avLst/>
          </a:prstGeom>
          <a:noFill/>
          <a:ln>
            <a:noFill/>
          </a:ln>
        </p:spPr>
      </p:pic>
      <p:sp>
        <p:nvSpPr>
          <p:cNvPr id="155" name="Google Shape;155;p18"/>
          <p:cNvSpPr txBox="1"/>
          <p:nvPr/>
        </p:nvSpPr>
        <p:spPr>
          <a:xfrm>
            <a:off x="1977390" y="3943351"/>
            <a:ext cx="754380" cy="1384995"/>
          </a:xfrm>
          <a:prstGeom prst="rect">
            <a:avLst/>
          </a:prstGeom>
          <a:noFill/>
          <a:ln>
            <a:noFill/>
          </a:ln>
        </p:spPr>
        <p:txBody>
          <a:bodyPr spcFirstLastPara="1" wrap="square" lIns="0" tIns="0" rIns="0" bIns="0" anchor="t" anchorCtr="0">
            <a:spAutoFit/>
          </a:bodyPr>
          <a:lstStyle/>
          <a:p>
            <a:pPr algn="ctr"/>
            <a:r>
              <a:rPr lang="en-US" sz="9000">
                <a:solidFill>
                  <a:srgbClr val="2563EB"/>
                </a:solidFill>
                <a:latin typeface="Inter ExtraBold"/>
                <a:ea typeface="Inter ExtraBold"/>
                <a:cs typeface="Inter ExtraBold"/>
                <a:sym typeface="Inter ExtraBold"/>
              </a:rPr>
              <a:t>3</a:t>
            </a:r>
            <a:endParaRPr sz="2160"/>
          </a:p>
        </p:txBody>
      </p:sp>
      <p:sp>
        <p:nvSpPr>
          <p:cNvPr id="156" name="Google Shape;156;p18"/>
          <p:cNvSpPr txBox="1"/>
          <p:nvPr/>
        </p:nvSpPr>
        <p:spPr>
          <a:xfrm>
            <a:off x="1788795" y="5200650"/>
            <a:ext cx="1131570" cy="553998"/>
          </a:xfrm>
          <a:prstGeom prst="rect">
            <a:avLst/>
          </a:prstGeom>
          <a:noFill/>
          <a:ln>
            <a:noFill/>
          </a:ln>
        </p:spPr>
        <p:txBody>
          <a:bodyPr spcFirstLastPara="1" wrap="square" lIns="0" tIns="0" rIns="0" bIns="0" anchor="t" anchorCtr="0">
            <a:spAutoFit/>
          </a:bodyPr>
          <a:lstStyle/>
          <a:p>
            <a:pPr algn="ctr"/>
            <a:r>
              <a:rPr lang="en-US">
                <a:solidFill>
                  <a:srgbClr val="1E40AF"/>
                </a:solidFill>
                <a:latin typeface="Inter SemiBold"/>
                <a:ea typeface="Inter SemiBold"/>
                <a:cs typeface="Inter SemiBold"/>
                <a:sym typeface="Inter SemiBold"/>
              </a:rPr>
              <a:t>Máx. EREs</a:t>
            </a:r>
            <a:endParaRPr sz="2160"/>
          </a:p>
        </p:txBody>
      </p:sp>
      <p:sp>
        <p:nvSpPr>
          <p:cNvPr id="157" name="Google Shape;157;p18"/>
          <p:cNvSpPr txBox="1"/>
          <p:nvPr/>
        </p:nvSpPr>
        <p:spPr>
          <a:xfrm>
            <a:off x="4469130" y="3411854"/>
            <a:ext cx="9697212" cy="387798"/>
          </a:xfrm>
          <a:prstGeom prst="rect">
            <a:avLst/>
          </a:prstGeom>
          <a:noFill/>
          <a:ln>
            <a:noFill/>
          </a:ln>
        </p:spPr>
        <p:txBody>
          <a:bodyPr spcFirstLastPara="1" wrap="square" lIns="0" tIns="0" rIns="0" bIns="0" anchor="t" anchorCtr="0">
            <a:spAutoFit/>
          </a:bodyPr>
          <a:lstStyle/>
          <a:p>
            <a:r>
              <a:rPr lang="en-US" sz="2520">
                <a:solidFill>
                  <a:srgbClr val="1F2937"/>
                </a:solidFill>
                <a:latin typeface="Playfair Display SemiBold"/>
                <a:ea typeface="Playfair Display SemiBold"/>
                <a:cs typeface="Playfair Display SemiBold"/>
                <a:sym typeface="Playfair Display SemiBold"/>
              </a:rPr>
              <a:t>Composición de cada ERE:</a:t>
            </a:r>
            <a:endParaRPr sz="2160"/>
          </a:p>
        </p:txBody>
      </p:sp>
      <p:sp>
        <p:nvSpPr>
          <p:cNvPr id="158" name="Google Shape;158;p18"/>
          <p:cNvSpPr txBox="1"/>
          <p:nvPr/>
        </p:nvSpPr>
        <p:spPr>
          <a:xfrm>
            <a:off x="4812030" y="4017644"/>
            <a:ext cx="8892540" cy="443198"/>
          </a:xfrm>
          <a:prstGeom prst="rect">
            <a:avLst/>
          </a:prstGeom>
          <a:noFill/>
          <a:ln>
            <a:noFill/>
          </a:ln>
        </p:spPr>
        <p:txBody>
          <a:bodyPr spcFirstLastPara="1" wrap="square" lIns="0" tIns="0" rIns="0" bIns="0" anchor="t" anchorCtr="0">
            <a:spAutoFit/>
          </a:bodyPr>
          <a:lstStyle/>
          <a:p>
            <a:pPr>
              <a:lnSpc>
                <a:spcPct val="160000"/>
              </a:lnSpc>
            </a:pPr>
            <a:r>
              <a:rPr lang="en-US" b="1">
                <a:solidFill>
                  <a:srgbClr val="4B5563"/>
                </a:solidFill>
                <a:latin typeface="Inter"/>
                <a:ea typeface="Inter"/>
                <a:cs typeface="Inter"/>
                <a:sym typeface="Inter"/>
              </a:rPr>
              <a:t>Narrativa del ERE:</a:t>
            </a:r>
            <a:r>
              <a:rPr lang="en-US">
                <a:solidFill>
                  <a:srgbClr val="4B5563"/>
                </a:solidFill>
                <a:latin typeface="Inter"/>
                <a:ea typeface="Inter"/>
                <a:cs typeface="Inter"/>
                <a:sym typeface="Inter"/>
              </a:rPr>
              <a:t> Explicación del contexto y relevancia.</a:t>
            </a:r>
            <a:endParaRPr sz="2160"/>
          </a:p>
        </p:txBody>
      </p:sp>
      <p:sp>
        <p:nvSpPr>
          <p:cNvPr id="159" name="Google Shape;159;p18"/>
          <p:cNvSpPr txBox="1"/>
          <p:nvPr/>
        </p:nvSpPr>
        <p:spPr>
          <a:xfrm>
            <a:off x="4812030" y="4554854"/>
            <a:ext cx="8892540" cy="443198"/>
          </a:xfrm>
          <a:prstGeom prst="rect">
            <a:avLst/>
          </a:prstGeom>
          <a:noFill/>
          <a:ln>
            <a:noFill/>
          </a:ln>
        </p:spPr>
        <p:txBody>
          <a:bodyPr spcFirstLastPara="1" wrap="square" lIns="0" tIns="0" rIns="0" bIns="0" anchor="t" anchorCtr="0">
            <a:spAutoFit/>
          </a:bodyPr>
          <a:lstStyle/>
          <a:p>
            <a:pPr>
              <a:lnSpc>
                <a:spcPct val="160000"/>
              </a:lnSpc>
            </a:pPr>
            <a:r>
              <a:rPr lang="en-US" b="1">
                <a:solidFill>
                  <a:srgbClr val="4B5563"/>
                </a:solidFill>
                <a:latin typeface="Inter"/>
                <a:ea typeface="Inter"/>
                <a:cs typeface="Inter"/>
                <a:sym typeface="Inter"/>
              </a:rPr>
              <a:t>Resultado del ERE:</a:t>
            </a:r>
            <a:r>
              <a:rPr lang="en-US">
                <a:solidFill>
                  <a:srgbClr val="4B5563"/>
                </a:solidFill>
                <a:latin typeface="Inter"/>
                <a:ea typeface="Inter"/>
                <a:cs typeface="Inter"/>
                <a:sym typeface="Inter"/>
              </a:rPr>
              <a:t> La evidencia tangible de la investigación.</a:t>
            </a:r>
            <a:endParaRPr sz="2160"/>
          </a:p>
        </p:txBody>
      </p:sp>
      <p:sp>
        <p:nvSpPr>
          <p:cNvPr id="160" name="Google Shape;160;p18"/>
          <p:cNvSpPr txBox="1"/>
          <p:nvPr/>
        </p:nvSpPr>
        <p:spPr>
          <a:xfrm>
            <a:off x="4812030" y="5092065"/>
            <a:ext cx="8892540" cy="886397"/>
          </a:xfrm>
          <a:prstGeom prst="rect">
            <a:avLst/>
          </a:prstGeom>
          <a:noFill/>
          <a:ln>
            <a:noFill/>
          </a:ln>
        </p:spPr>
        <p:txBody>
          <a:bodyPr spcFirstLastPara="1" wrap="square" lIns="0" tIns="0" rIns="0" bIns="0" anchor="t" anchorCtr="0">
            <a:spAutoFit/>
          </a:bodyPr>
          <a:lstStyle/>
          <a:p>
            <a:pPr>
              <a:lnSpc>
                <a:spcPct val="160000"/>
              </a:lnSpc>
            </a:pPr>
            <a:r>
              <a:rPr lang="en-US" b="1">
                <a:solidFill>
                  <a:srgbClr val="4B5563"/>
                </a:solidFill>
                <a:latin typeface="Inter"/>
                <a:ea typeface="Inter"/>
                <a:cs typeface="Inter"/>
                <a:sym typeface="Inter"/>
              </a:rPr>
              <a:t>Ítems Suplementarios:</a:t>
            </a:r>
            <a:r>
              <a:rPr lang="en-US">
                <a:solidFill>
                  <a:srgbClr val="4B5563"/>
                </a:solidFill>
                <a:latin typeface="Inter"/>
                <a:ea typeface="Inter"/>
                <a:cs typeface="Inter"/>
                <a:sym typeface="Inter"/>
              </a:rPr>
              <a:t> Hasta </a:t>
            </a:r>
            <a:r>
              <a:rPr lang="en-US" b="1">
                <a:solidFill>
                  <a:srgbClr val="4B5563"/>
                </a:solidFill>
                <a:latin typeface="Inter"/>
                <a:ea typeface="Inter"/>
                <a:cs typeface="Inter"/>
                <a:sym typeface="Inter"/>
              </a:rPr>
              <a:t>tres</a:t>
            </a:r>
            <a:r>
              <a:rPr lang="en-US">
                <a:solidFill>
                  <a:srgbClr val="4B5563"/>
                </a:solidFill>
                <a:latin typeface="Inter"/>
                <a:ea typeface="Inter"/>
                <a:cs typeface="Inter"/>
                <a:sym typeface="Inter"/>
              </a:rPr>
              <a:t> documentos o evidencias adicionales que respalden el resultado principal.</a:t>
            </a:r>
            <a:endParaRPr sz="2160"/>
          </a:p>
        </p:txBody>
      </p:sp>
      <p:sp>
        <p:nvSpPr>
          <p:cNvPr id="161" name="Google Shape;161;p18"/>
          <p:cNvSpPr txBox="1"/>
          <p:nvPr/>
        </p:nvSpPr>
        <p:spPr>
          <a:xfrm>
            <a:off x="4469131" y="3960495"/>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162" name="Google Shape;162;p18"/>
          <p:cNvSpPr txBox="1"/>
          <p:nvPr/>
        </p:nvSpPr>
        <p:spPr>
          <a:xfrm>
            <a:off x="4469131" y="4497705"/>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163" name="Google Shape;163;p18"/>
          <p:cNvSpPr txBox="1"/>
          <p:nvPr/>
        </p:nvSpPr>
        <p:spPr>
          <a:xfrm>
            <a:off x="4469131" y="5034915"/>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2" name="Google Shape;148;p17">
            <a:extLst>
              <a:ext uri="{FF2B5EF4-FFF2-40B4-BE49-F238E27FC236}">
                <a16:creationId xmlns:a16="http://schemas.microsoft.com/office/drawing/2014/main" id="{EC7A390B-504D-2E31-6C61-858F842EEBD9}"/>
              </a:ext>
            </a:extLst>
          </p:cNvPr>
          <p:cNvSpPr txBox="1"/>
          <p:nvPr/>
        </p:nvSpPr>
        <p:spPr>
          <a:xfrm>
            <a:off x="925830" y="581025"/>
            <a:ext cx="11181397"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err="1">
                <a:solidFill>
                  <a:srgbClr val="1E3A8A"/>
                </a:solidFill>
                <a:latin typeface="Playfair Display SemiBold"/>
                <a:ea typeface="Playfair Display SemiBold"/>
                <a:cs typeface="Playfair Display SemiBold"/>
                <a:sym typeface="Playfair Display SemiBold"/>
              </a:rPr>
              <a:t>Componente</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Excelencia</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en</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Investigación</a:t>
            </a:r>
            <a:r>
              <a:rPr lang="en-US" sz="3600" b="0" i="0" u="none" strike="noStrike" cap="none" dirty="0">
                <a:solidFill>
                  <a:srgbClr val="1E3A8A"/>
                </a:solidFill>
                <a:latin typeface="Playfair Display SemiBold"/>
                <a:ea typeface="Playfair Display SemiBold"/>
                <a:cs typeface="Playfair Display SemiBold"/>
                <a:sym typeface="Playfair Display SemiBold"/>
              </a:rPr>
              <a:t> (ERE)</a:t>
            </a:r>
            <a:endParaRPr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19" descr="image.png"/>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70" name="Google Shape;170;p19" descr="image.png"/>
          <p:cNvPicPr preferRelativeResize="0"/>
          <p:nvPr/>
        </p:nvPicPr>
        <p:blipFill rotWithShape="1">
          <a:blip r:embed="rId4">
            <a:alphaModFix/>
          </a:blip>
          <a:srcRect/>
          <a:stretch/>
        </p:blipFill>
        <p:spPr>
          <a:xfrm>
            <a:off x="925830" y="3280410"/>
            <a:ext cx="2857500" cy="2857500"/>
          </a:xfrm>
          <a:prstGeom prst="rect">
            <a:avLst/>
          </a:prstGeom>
          <a:noFill/>
          <a:ln>
            <a:noFill/>
          </a:ln>
        </p:spPr>
      </p:pic>
      <p:sp>
        <p:nvSpPr>
          <p:cNvPr id="171" name="Google Shape;171;p19"/>
          <p:cNvSpPr txBox="1"/>
          <p:nvPr/>
        </p:nvSpPr>
        <p:spPr>
          <a:xfrm>
            <a:off x="1977390" y="3943351"/>
            <a:ext cx="754380" cy="1384995"/>
          </a:xfrm>
          <a:prstGeom prst="rect">
            <a:avLst/>
          </a:prstGeom>
          <a:noFill/>
          <a:ln>
            <a:noFill/>
          </a:ln>
        </p:spPr>
        <p:txBody>
          <a:bodyPr spcFirstLastPara="1" wrap="square" lIns="0" tIns="0" rIns="0" bIns="0" anchor="t" anchorCtr="0">
            <a:spAutoFit/>
          </a:bodyPr>
          <a:lstStyle/>
          <a:p>
            <a:pPr algn="ctr"/>
            <a:r>
              <a:rPr lang="en-US" sz="9000">
                <a:solidFill>
                  <a:srgbClr val="0891B2"/>
                </a:solidFill>
                <a:latin typeface="Inter ExtraBold"/>
                <a:ea typeface="Inter ExtraBold"/>
                <a:cs typeface="Inter ExtraBold"/>
                <a:sym typeface="Inter ExtraBold"/>
              </a:rPr>
              <a:t>8</a:t>
            </a:r>
            <a:endParaRPr sz="2160"/>
          </a:p>
        </p:txBody>
      </p:sp>
      <p:sp>
        <p:nvSpPr>
          <p:cNvPr id="172" name="Google Shape;172;p19"/>
          <p:cNvSpPr txBox="1"/>
          <p:nvPr/>
        </p:nvSpPr>
        <p:spPr>
          <a:xfrm>
            <a:off x="1703070" y="5200650"/>
            <a:ext cx="1303020" cy="553998"/>
          </a:xfrm>
          <a:prstGeom prst="rect">
            <a:avLst/>
          </a:prstGeom>
          <a:noFill/>
          <a:ln>
            <a:noFill/>
          </a:ln>
        </p:spPr>
        <p:txBody>
          <a:bodyPr spcFirstLastPara="1" wrap="square" lIns="0" tIns="0" rIns="0" bIns="0" anchor="t" anchorCtr="0">
            <a:spAutoFit/>
          </a:bodyPr>
          <a:lstStyle/>
          <a:p>
            <a:pPr algn="ctr"/>
            <a:r>
              <a:rPr lang="en-US">
                <a:solidFill>
                  <a:srgbClr val="155E75"/>
                </a:solidFill>
                <a:latin typeface="Inter SemiBold"/>
                <a:ea typeface="Inter SemiBold"/>
                <a:cs typeface="Inter SemiBold"/>
                <a:sym typeface="Inter SemiBold"/>
              </a:rPr>
              <a:t>Máx. OEREs</a:t>
            </a:r>
            <a:endParaRPr sz="2160"/>
          </a:p>
        </p:txBody>
      </p:sp>
      <p:sp>
        <p:nvSpPr>
          <p:cNvPr id="173" name="Google Shape;173;p19"/>
          <p:cNvSpPr txBox="1"/>
          <p:nvPr/>
        </p:nvSpPr>
        <p:spPr>
          <a:xfrm>
            <a:off x="4469130" y="3497580"/>
            <a:ext cx="9697212" cy="387798"/>
          </a:xfrm>
          <a:prstGeom prst="rect">
            <a:avLst/>
          </a:prstGeom>
          <a:noFill/>
          <a:ln>
            <a:noFill/>
          </a:ln>
        </p:spPr>
        <p:txBody>
          <a:bodyPr spcFirstLastPara="1" wrap="square" lIns="0" tIns="0" rIns="0" bIns="0" anchor="t" anchorCtr="0">
            <a:spAutoFit/>
          </a:bodyPr>
          <a:lstStyle/>
          <a:p>
            <a:r>
              <a:rPr lang="en-US" sz="2520">
                <a:solidFill>
                  <a:srgbClr val="1F2937"/>
                </a:solidFill>
                <a:latin typeface="Playfair Display SemiBold"/>
                <a:ea typeface="Playfair Display SemiBold"/>
                <a:cs typeface="Playfair Display SemiBold"/>
                <a:sym typeface="Playfair Display SemiBold"/>
              </a:rPr>
              <a:t>Características:</a:t>
            </a:r>
            <a:endParaRPr sz="2160"/>
          </a:p>
        </p:txBody>
      </p:sp>
      <p:sp>
        <p:nvSpPr>
          <p:cNvPr id="174" name="Google Shape;174;p19"/>
          <p:cNvSpPr txBox="1"/>
          <p:nvPr/>
        </p:nvSpPr>
        <p:spPr>
          <a:xfrm>
            <a:off x="4812030" y="4103371"/>
            <a:ext cx="8892540" cy="886397"/>
          </a:xfrm>
          <a:prstGeom prst="rect">
            <a:avLst/>
          </a:prstGeom>
          <a:noFill/>
          <a:ln>
            <a:noFill/>
          </a:ln>
        </p:spPr>
        <p:txBody>
          <a:bodyPr spcFirstLastPara="1" wrap="square" lIns="0" tIns="0" rIns="0" bIns="0" anchor="t" anchorCtr="0">
            <a:spAutoFit/>
          </a:bodyPr>
          <a:lstStyle/>
          <a:p>
            <a:pPr>
              <a:lnSpc>
                <a:spcPct val="160000"/>
              </a:lnSpc>
            </a:pPr>
            <a:r>
              <a:rPr lang="en-US" b="1">
                <a:solidFill>
                  <a:srgbClr val="4B5563"/>
                </a:solidFill>
                <a:latin typeface="Inter"/>
                <a:ea typeface="Inter"/>
                <a:cs typeface="Inter"/>
                <a:sym typeface="Inter"/>
              </a:rPr>
              <a:t>Narrativa Contextual Única:</a:t>
            </a:r>
            <a:r>
              <a:rPr lang="en-US">
                <a:solidFill>
                  <a:srgbClr val="4B5563"/>
                </a:solidFill>
                <a:latin typeface="Inter"/>
                <a:ea typeface="Inter"/>
                <a:cs typeface="Inter"/>
                <a:sym typeface="Inter"/>
              </a:rPr>
              <a:t> Un solo texto integrador que conecta todos los ejemplos presentados en esta sección.</a:t>
            </a:r>
            <a:endParaRPr sz="2160"/>
          </a:p>
        </p:txBody>
      </p:sp>
      <p:sp>
        <p:nvSpPr>
          <p:cNvPr id="175" name="Google Shape;175;p19"/>
          <p:cNvSpPr txBox="1"/>
          <p:nvPr/>
        </p:nvSpPr>
        <p:spPr>
          <a:xfrm>
            <a:off x="4812030" y="5006341"/>
            <a:ext cx="8892540" cy="886397"/>
          </a:xfrm>
          <a:prstGeom prst="rect">
            <a:avLst/>
          </a:prstGeom>
          <a:noFill/>
          <a:ln>
            <a:noFill/>
          </a:ln>
        </p:spPr>
        <p:txBody>
          <a:bodyPr spcFirstLastPara="1" wrap="square" lIns="0" tIns="0" rIns="0" bIns="0" anchor="t" anchorCtr="0">
            <a:spAutoFit/>
          </a:bodyPr>
          <a:lstStyle/>
          <a:p>
            <a:pPr>
              <a:lnSpc>
                <a:spcPct val="160000"/>
              </a:lnSpc>
            </a:pPr>
            <a:r>
              <a:rPr lang="en-US" b="1">
                <a:solidFill>
                  <a:srgbClr val="4B5563"/>
                </a:solidFill>
                <a:latin typeface="Inter"/>
                <a:ea typeface="Inter"/>
                <a:cs typeface="Inter"/>
                <a:sym typeface="Inter"/>
              </a:rPr>
              <a:t>Listado Amplio:</a:t>
            </a:r>
            <a:r>
              <a:rPr lang="en-US">
                <a:solidFill>
                  <a:srgbClr val="4B5563"/>
                </a:solidFill>
                <a:latin typeface="Inter"/>
                <a:ea typeface="Inter"/>
                <a:cs typeface="Inter"/>
                <a:sym typeface="Inter"/>
              </a:rPr>
              <a:t> Permite incluir hasta ocho Otros Ejemplos de Excelencia en Investigación (OERE) para demostrar consistencia y amplitud.</a:t>
            </a:r>
            <a:endParaRPr sz="2160"/>
          </a:p>
        </p:txBody>
      </p:sp>
      <p:sp>
        <p:nvSpPr>
          <p:cNvPr id="176" name="Google Shape;176;p19"/>
          <p:cNvSpPr txBox="1"/>
          <p:nvPr/>
        </p:nvSpPr>
        <p:spPr>
          <a:xfrm>
            <a:off x="4469131" y="4046221"/>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177" name="Google Shape;177;p19"/>
          <p:cNvSpPr txBox="1"/>
          <p:nvPr/>
        </p:nvSpPr>
        <p:spPr>
          <a:xfrm>
            <a:off x="4469131" y="4949191"/>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3" name="Google Shape;148;p17">
            <a:extLst>
              <a:ext uri="{FF2B5EF4-FFF2-40B4-BE49-F238E27FC236}">
                <a16:creationId xmlns:a16="http://schemas.microsoft.com/office/drawing/2014/main" id="{2F0BC6F6-04AB-2CAA-7E03-F0190D89D118}"/>
              </a:ext>
            </a:extLst>
          </p:cNvPr>
          <p:cNvSpPr txBox="1"/>
          <p:nvPr/>
        </p:nvSpPr>
        <p:spPr>
          <a:xfrm>
            <a:off x="925830" y="581025"/>
            <a:ext cx="11181397" cy="609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0" i="0" u="none" strike="noStrike" cap="none" dirty="0" err="1">
                <a:solidFill>
                  <a:srgbClr val="1E3A8A"/>
                </a:solidFill>
                <a:latin typeface="Playfair Display SemiBold"/>
                <a:ea typeface="Playfair Display SemiBold"/>
                <a:cs typeface="Playfair Display SemiBold"/>
                <a:sym typeface="Playfair Display SemiBold"/>
              </a:rPr>
              <a:t>Componente</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Excelencia</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en</a:t>
            </a:r>
            <a:r>
              <a:rPr lang="en-US" sz="3600" b="0" i="0" u="none" strike="noStrike" cap="none" dirty="0">
                <a:solidFill>
                  <a:srgbClr val="1E3A8A"/>
                </a:solidFill>
                <a:latin typeface="Playfair Display SemiBold"/>
                <a:ea typeface="Playfair Display SemiBold"/>
                <a:cs typeface="Playfair Display SemiBold"/>
                <a:sym typeface="Playfair Display SemiBold"/>
              </a:rPr>
              <a:t> </a:t>
            </a:r>
            <a:r>
              <a:rPr lang="en-US" sz="3600" b="0" i="0" u="none" strike="noStrike" cap="none" dirty="0" err="1">
                <a:solidFill>
                  <a:srgbClr val="1E3A8A"/>
                </a:solidFill>
                <a:latin typeface="Playfair Display SemiBold"/>
                <a:ea typeface="Playfair Display SemiBold"/>
                <a:cs typeface="Playfair Display SemiBold"/>
                <a:sym typeface="Playfair Display SemiBold"/>
              </a:rPr>
              <a:t>Investigación</a:t>
            </a:r>
            <a:r>
              <a:rPr lang="en-US" sz="3600" b="0" i="0" u="none" strike="noStrike" cap="none" dirty="0">
                <a:solidFill>
                  <a:srgbClr val="1E3A8A"/>
                </a:solidFill>
                <a:latin typeface="Playfair Display SemiBold"/>
                <a:ea typeface="Playfair Display SemiBold"/>
                <a:cs typeface="Playfair Display SemiBold"/>
                <a:sym typeface="Playfair Display SemiBold"/>
              </a:rPr>
              <a:t> (ERE)</a:t>
            </a:r>
            <a:endParaRPr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68">
          <a:extLst>
            <a:ext uri="{FF2B5EF4-FFF2-40B4-BE49-F238E27FC236}">
              <a16:creationId xmlns:a16="http://schemas.microsoft.com/office/drawing/2014/main" id="{8560179C-BC25-BF7F-0314-A89E51CC286F}"/>
            </a:ext>
          </a:extLst>
        </p:cNvPr>
        <p:cNvGrpSpPr/>
        <p:nvPr/>
      </p:nvGrpSpPr>
      <p:grpSpPr>
        <a:xfrm>
          <a:off x="0" y="0"/>
          <a:ext cx="0" cy="0"/>
          <a:chOff x="0" y="0"/>
          <a:chExt cx="0" cy="0"/>
        </a:xfrm>
      </p:grpSpPr>
      <p:pic>
        <p:nvPicPr>
          <p:cNvPr id="169" name="Google Shape;169;p19" descr="image.png">
            <a:extLst>
              <a:ext uri="{FF2B5EF4-FFF2-40B4-BE49-F238E27FC236}">
                <a16:creationId xmlns:a16="http://schemas.microsoft.com/office/drawing/2014/main" id="{B0D89076-DA62-EC15-C0A7-6CDF460FB38B}"/>
              </a:ext>
            </a:extLst>
          </p:cNvPr>
          <p:cNvPicPr preferRelativeResize="0"/>
          <p:nvPr/>
        </p:nvPicPr>
        <p:blipFill rotWithShape="1">
          <a:blip r:embed="rId3">
            <a:alphaModFix/>
          </a:blip>
          <a:srcRect/>
          <a:stretch/>
        </p:blipFill>
        <p:spPr>
          <a:xfrm>
            <a:off x="0" y="0"/>
            <a:ext cx="14630400" cy="8229600"/>
          </a:xfrm>
          <a:prstGeom prst="rect">
            <a:avLst/>
          </a:prstGeom>
          <a:noFill/>
          <a:ln>
            <a:noFill/>
          </a:ln>
        </p:spPr>
      </p:pic>
      <p:pic>
        <p:nvPicPr>
          <p:cNvPr id="170" name="Google Shape;170;p19" descr="image.png">
            <a:extLst>
              <a:ext uri="{FF2B5EF4-FFF2-40B4-BE49-F238E27FC236}">
                <a16:creationId xmlns:a16="http://schemas.microsoft.com/office/drawing/2014/main" id="{3F097E48-A811-C648-CEAE-51B89E1C744A}"/>
              </a:ext>
            </a:extLst>
          </p:cNvPr>
          <p:cNvPicPr preferRelativeResize="0"/>
          <p:nvPr/>
        </p:nvPicPr>
        <p:blipFill rotWithShape="1">
          <a:blip r:embed="rId4">
            <a:alphaModFix/>
          </a:blip>
          <a:srcRect/>
          <a:stretch/>
        </p:blipFill>
        <p:spPr>
          <a:xfrm>
            <a:off x="925830" y="3280410"/>
            <a:ext cx="2857500" cy="2857500"/>
          </a:xfrm>
          <a:prstGeom prst="rect">
            <a:avLst/>
          </a:prstGeom>
          <a:noFill/>
          <a:ln>
            <a:noFill/>
          </a:ln>
        </p:spPr>
      </p:pic>
      <p:sp>
        <p:nvSpPr>
          <p:cNvPr id="171" name="Google Shape;171;p19">
            <a:extLst>
              <a:ext uri="{FF2B5EF4-FFF2-40B4-BE49-F238E27FC236}">
                <a16:creationId xmlns:a16="http://schemas.microsoft.com/office/drawing/2014/main" id="{B819AFAA-3F3A-7439-20F5-CB13B5B2990B}"/>
              </a:ext>
            </a:extLst>
          </p:cNvPr>
          <p:cNvSpPr txBox="1"/>
          <p:nvPr/>
        </p:nvSpPr>
        <p:spPr>
          <a:xfrm>
            <a:off x="1453687" y="3943351"/>
            <a:ext cx="1565911" cy="1384995"/>
          </a:xfrm>
          <a:prstGeom prst="rect">
            <a:avLst/>
          </a:prstGeom>
          <a:noFill/>
          <a:ln>
            <a:noFill/>
          </a:ln>
        </p:spPr>
        <p:txBody>
          <a:bodyPr spcFirstLastPara="1" wrap="square" lIns="0" tIns="0" rIns="0" bIns="0" anchor="t" anchorCtr="0">
            <a:spAutoFit/>
          </a:bodyPr>
          <a:lstStyle/>
          <a:p>
            <a:pPr algn="ctr"/>
            <a:r>
              <a:rPr lang="en-US" sz="9000" dirty="0">
                <a:solidFill>
                  <a:srgbClr val="0891B2"/>
                </a:solidFill>
                <a:latin typeface="Inter ExtraBold"/>
                <a:ea typeface="Inter ExtraBold"/>
                <a:sym typeface="Inter ExtraBold"/>
              </a:rPr>
              <a:t>10</a:t>
            </a:r>
            <a:endParaRPr sz="2160" dirty="0"/>
          </a:p>
        </p:txBody>
      </p:sp>
      <p:sp>
        <p:nvSpPr>
          <p:cNvPr id="172" name="Google Shape;172;p19">
            <a:extLst>
              <a:ext uri="{FF2B5EF4-FFF2-40B4-BE49-F238E27FC236}">
                <a16:creationId xmlns:a16="http://schemas.microsoft.com/office/drawing/2014/main" id="{85D3D385-B476-AE22-99DA-639B2CA8D62E}"/>
              </a:ext>
            </a:extLst>
          </p:cNvPr>
          <p:cNvSpPr txBox="1"/>
          <p:nvPr/>
        </p:nvSpPr>
        <p:spPr>
          <a:xfrm>
            <a:off x="1703070" y="5200650"/>
            <a:ext cx="1303020" cy="276999"/>
          </a:xfrm>
          <a:prstGeom prst="rect">
            <a:avLst/>
          </a:prstGeom>
          <a:noFill/>
          <a:ln>
            <a:noFill/>
          </a:ln>
        </p:spPr>
        <p:txBody>
          <a:bodyPr spcFirstLastPara="1" wrap="square" lIns="0" tIns="0" rIns="0" bIns="0" anchor="t" anchorCtr="0">
            <a:spAutoFit/>
          </a:bodyPr>
          <a:lstStyle/>
          <a:p>
            <a:pPr algn="ctr"/>
            <a:r>
              <a:rPr lang="en-US" dirty="0" err="1">
                <a:solidFill>
                  <a:srgbClr val="155E75"/>
                </a:solidFill>
                <a:latin typeface="Inter SemiBold"/>
                <a:ea typeface="Inter SemiBold"/>
                <a:cs typeface="Inter SemiBold"/>
                <a:sym typeface="Inter SemiBold"/>
              </a:rPr>
              <a:t>Máx</a:t>
            </a:r>
            <a:r>
              <a:rPr lang="en-US" dirty="0">
                <a:solidFill>
                  <a:srgbClr val="155E75"/>
                </a:solidFill>
                <a:latin typeface="Inter SemiBold"/>
                <a:ea typeface="Inter SemiBold"/>
                <a:cs typeface="Inter SemiBold"/>
                <a:sym typeface="Inter SemiBold"/>
              </a:rPr>
              <a:t>. </a:t>
            </a:r>
            <a:endParaRPr sz="2160" dirty="0"/>
          </a:p>
        </p:txBody>
      </p:sp>
      <p:sp>
        <p:nvSpPr>
          <p:cNvPr id="173" name="Google Shape;173;p19">
            <a:extLst>
              <a:ext uri="{FF2B5EF4-FFF2-40B4-BE49-F238E27FC236}">
                <a16:creationId xmlns:a16="http://schemas.microsoft.com/office/drawing/2014/main" id="{3C3843BB-65DA-B87F-EC4A-9A4E89F592F8}"/>
              </a:ext>
            </a:extLst>
          </p:cNvPr>
          <p:cNvSpPr txBox="1"/>
          <p:nvPr/>
        </p:nvSpPr>
        <p:spPr>
          <a:xfrm>
            <a:off x="4469130" y="3497580"/>
            <a:ext cx="9697212" cy="387798"/>
          </a:xfrm>
          <a:prstGeom prst="rect">
            <a:avLst/>
          </a:prstGeom>
          <a:noFill/>
          <a:ln>
            <a:noFill/>
          </a:ln>
        </p:spPr>
        <p:txBody>
          <a:bodyPr spcFirstLastPara="1" wrap="square" lIns="0" tIns="0" rIns="0" bIns="0" anchor="t" anchorCtr="0">
            <a:spAutoFit/>
          </a:bodyPr>
          <a:lstStyle/>
          <a:p>
            <a:r>
              <a:rPr lang="en-US" sz="2520">
                <a:solidFill>
                  <a:srgbClr val="1F2937"/>
                </a:solidFill>
                <a:latin typeface="Playfair Display SemiBold"/>
                <a:ea typeface="Playfair Display SemiBold"/>
                <a:cs typeface="Playfair Display SemiBold"/>
                <a:sym typeface="Playfair Display SemiBold"/>
              </a:rPr>
              <a:t>Características:</a:t>
            </a:r>
            <a:endParaRPr sz="2160"/>
          </a:p>
        </p:txBody>
      </p:sp>
      <p:sp>
        <p:nvSpPr>
          <p:cNvPr id="175" name="Google Shape;175;p19">
            <a:extLst>
              <a:ext uri="{FF2B5EF4-FFF2-40B4-BE49-F238E27FC236}">
                <a16:creationId xmlns:a16="http://schemas.microsoft.com/office/drawing/2014/main" id="{B5DF9C99-DB1A-A6BC-0D56-109BEE956612}"/>
              </a:ext>
            </a:extLst>
          </p:cNvPr>
          <p:cNvSpPr txBox="1"/>
          <p:nvPr/>
        </p:nvSpPr>
        <p:spPr>
          <a:xfrm>
            <a:off x="4709160" y="4441949"/>
            <a:ext cx="8892540" cy="443198"/>
          </a:xfrm>
          <a:prstGeom prst="rect">
            <a:avLst/>
          </a:prstGeom>
          <a:noFill/>
          <a:ln>
            <a:noFill/>
          </a:ln>
        </p:spPr>
        <p:txBody>
          <a:bodyPr spcFirstLastPara="1" wrap="square" lIns="0" tIns="0" rIns="0" bIns="0" anchor="t" anchorCtr="0">
            <a:spAutoFit/>
          </a:bodyPr>
          <a:lstStyle/>
          <a:p>
            <a:pPr>
              <a:lnSpc>
                <a:spcPct val="160000"/>
              </a:lnSpc>
            </a:pPr>
            <a:r>
              <a:rPr lang="en-US" b="1" dirty="0" err="1">
                <a:solidFill>
                  <a:srgbClr val="4B5563"/>
                </a:solidFill>
                <a:latin typeface="Inter"/>
                <a:ea typeface="Inter"/>
                <a:cs typeface="Inter"/>
                <a:sym typeface="Inter"/>
              </a:rPr>
              <a:t>Listado</a:t>
            </a:r>
            <a:r>
              <a:rPr lang="en-US" b="1" dirty="0">
                <a:solidFill>
                  <a:srgbClr val="4B5563"/>
                </a:solidFill>
                <a:latin typeface="Inter"/>
                <a:ea typeface="Inter"/>
                <a:cs typeface="Inter"/>
                <a:sym typeface="Inter"/>
              </a:rPr>
              <a:t> Amplio:</a:t>
            </a:r>
            <a:r>
              <a:rPr lang="en-US" dirty="0">
                <a:solidFill>
                  <a:srgbClr val="4B5563"/>
                </a:solidFill>
                <a:latin typeface="Inter"/>
                <a:ea typeface="Inter"/>
                <a:cs typeface="Inter"/>
                <a:sym typeface="Inter"/>
              </a:rPr>
              <a:t> </a:t>
            </a:r>
            <a:r>
              <a:rPr lang="en-US" dirty="0" err="1">
                <a:solidFill>
                  <a:srgbClr val="4B5563"/>
                </a:solidFill>
                <a:latin typeface="Inter"/>
                <a:ea typeface="Inter"/>
                <a:cs typeface="Inter"/>
                <a:sym typeface="Inter"/>
              </a:rPr>
              <a:t>Permite</a:t>
            </a:r>
            <a:r>
              <a:rPr lang="en-US" dirty="0">
                <a:solidFill>
                  <a:srgbClr val="4B5563"/>
                </a:solidFill>
                <a:latin typeface="Inter"/>
                <a:ea typeface="Inter"/>
                <a:cs typeface="Inter"/>
                <a:sym typeface="Inter"/>
              </a:rPr>
              <a:t> </a:t>
            </a:r>
            <a:r>
              <a:rPr lang="en-US" dirty="0" err="1">
                <a:solidFill>
                  <a:srgbClr val="4B5563"/>
                </a:solidFill>
                <a:latin typeface="Inter"/>
                <a:ea typeface="Inter"/>
                <a:cs typeface="Inter"/>
                <a:sym typeface="Inter"/>
              </a:rPr>
              <a:t>incluir</a:t>
            </a:r>
            <a:r>
              <a:rPr lang="en-US" dirty="0">
                <a:solidFill>
                  <a:srgbClr val="4B5563"/>
                </a:solidFill>
                <a:latin typeface="Inter"/>
                <a:ea typeface="Inter"/>
                <a:cs typeface="Inter"/>
                <a:sym typeface="Inter"/>
              </a:rPr>
              <a:t> hasta 10 items</a:t>
            </a:r>
            <a:endParaRPr sz="2160" dirty="0"/>
          </a:p>
        </p:txBody>
      </p:sp>
      <p:sp>
        <p:nvSpPr>
          <p:cNvPr id="177" name="Google Shape;177;p19">
            <a:extLst>
              <a:ext uri="{FF2B5EF4-FFF2-40B4-BE49-F238E27FC236}">
                <a16:creationId xmlns:a16="http://schemas.microsoft.com/office/drawing/2014/main" id="{7A4C75D6-9344-118D-8029-326395A67316}"/>
              </a:ext>
            </a:extLst>
          </p:cNvPr>
          <p:cNvSpPr txBox="1"/>
          <p:nvPr/>
        </p:nvSpPr>
        <p:spPr>
          <a:xfrm>
            <a:off x="4366261" y="4384799"/>
            <a:ext cx="194310" cy="664797"/>
          </a:xfrm>
          <a:prstGeom prst="rect">
            <a:avLst/>
          </a:prstGeom>
          <a:noFill/>
          <a:ln>
            <a:noFill/>
          </a:ln>
        </p:spPr>
        <p:txBody>
          <a:bodyPr spcFirstLastPara="1" wrap="square" lIns="0" tIns="0" rIns="0" bIns="0" anchor="t" anchorCtr="0">
            <a:spAutoFit/>
          </a:bodyPr>
          <a:lstStyle/>
          <a:p>
            <a:pPr>
              <a:lnSpc>
                <a:spcPct val="160000"/>
              </a:lnSpc>
            </a:pPr>
            <a:r>
              <a:rPr lang="en-US" sz="2700">
                <a:solidFill>
                  <a:srgbClr val="2563EB"/>
                </a:solidFill>
                <a:latin typeface="Inter"/>
                <a:ea typeface="Inter"/>
                <a:cs typeface="Inter"/>
                <a:sym typeface="Inter"/>
              </a:rPr>
              <a:t>•</a:t>
            </a:r>
            <a:endParaRPr sz="2160"/>
          </a:p>
        </p:txBody>
      </p:sp>
      <p:sp>
        <p:nvSpPr>
          <p:cNvPr id="178" name="Google Shape;178;p19">
            <a:extLst>
              <a:ext uri="{FF2B5EF4-FFF2-40B4-BE49-F238E27FC236}">
                <a16:creationId xmlns:a16="http://schemas.microsoft.com/office/drawing/2014/main" id="{30AF0AD6-D916-B7AF-93F3-BD41DE7E4D75}"/>
              </a:ext>
            </a:extLst>
          </p:cNvPr>
          <p:cNvSpPr txBox="1"/>
          <p:nvPr/>
        </p:nvSpPr>
        <p:spPr>
          <a:xfrm>
            <a:off x="925831" y="697231"/>
            <a:ext cx="13417676" cy="1329595"/>
          </a:xfrm>
          <a:prstGeom prst="rect">
            <a:avLst/>
          </a:prstGeom>
          <a:noFill/>
          <a:ln>
            <a:noFill/>
          </a:ln>
        </p:spPr>
        <p:txBody>
          <a:bodyPr spcFirstLastPara="1" wrap="square" lIns="0" tIns="0" rIns="0" bIns="0" anchor="t" anchorCtr="0">
            <a:spAutoFit/>
          </a:bodyPr>
          <a:lstStyle/>
          <a:p>
            <a:r>
              <a:rPr lang="es-ES" sz="4320" dirty="0">
                <a:solidFill>
                  <a:srgbClr val="1E3A8A"/>
                </a:solidFill>
                <a:latin typeface="Playfair Display SemiBold"/>
                <a:ea typeface="Playfair Display SemiBold"/>
                <a:cs typeface="Playfair Display SemiBold"/>
                <a:sym typeface="Playfair Display SemiBold"/>
              </a:rPr>
              <a:t>Componente Contribuciones al Entorno de Investigación (CRE)</a:t>
            </a:r>
            <a:endParaRPr sz="2160" dirty="0"/>
          </a:p>
        </p:txBody>
      </p:sp>
    </p:spTree>
    <p:extLst>
      <p:ext uri="{BB962C8B-B14F-4D97-AF65-F5344CB8AC3E}">
        <p14:creationId xmlns:p14="http://schemas.microsoft.com/office/powerpoint/2010/main" val="40247733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Gráfico&#10;&#10;El contenido generado por IA puede ser incorrecto.">
            <a:extLst>
              <a:ext uri="{FF2B5EF4-FFF2-40B4-BE49-F238E27FC236}">
                <a16:creationId xmlns:a16="http://schemas.microsoft.com/office/drawing/2014/main" id="{0953E7D9-160A-AE40-775F-A5CD563B1A16}"/>
              </a:ext>
            </a:extLst>
          </p:cNvPr>
          <p:cNvPicPr>
            <a:picLocks noChangeAspect="1"/>
          </p:cNvPicPr>
          <p:nvPr/>
        </p:nvPicPr>
        <p:blipFill>
          <a:blip r:embed="rId2"/>
          <a:stretch>
            <a:fillRect/>
          </a:stretch>
        </p:blipFill>
        <p:spPr>
          <a:xfrm>
            <a:off x="0" y="258532"/>
            <a:ext cx="14630400" cy="7646872"/>
          </a:xfrm>
          <a:prstGeom prst="rect">
            <a:avLst/>
          </a:prstGeom>
        </p:spPr>
      </p:pic>
    </p:spTree>
    <p:extLst>
      <p:ext uri="{BB962C8B-B14F-4D97-AF65-F5344CB8AC3E}">
        <p14:creationId xmlns:p14="http://schemas.microsoft.com/office/powerpoint/2010/main" val="28438041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 Texto&#10;&#10;El contenido generado por IA puede ser incorrecto.">
            <a:extLst>
              <a:ext uri="{FF2B5EF4-FFF2-40B4-BE49-F238E27FC236}">
                <a16:creationId xmlns:a16="http://schemas.microsoft.com/office/drawing/2014/main" id="{FEE64B49-CFA2-C251-8065-5D852A11C525}"/>
              </a:ext>
            </a:extLst>
          </p:cNvPr>
          <p:cNvPicPr>
            <a:picLocks noChangeAspect="1"/>
          </p:cNvPicPr>
          <p:nvPr/>
        </p:nvPicPr>
        <p:blipFill>
          <a:blip r:embed="rId2"/>
          <a:stretch>
            <a:fillRect/>
          </a:stretch>
        </p:blipFill>
        <p:spPr>
          <a:xfrm>
            <a:off x="0" y="186303"/>
            <a:ext cx="14630399" cy="7823841"/>
          </a:xfrm>
          <a:prstGeom prst="rect">
            <a:avLst/>
          </a:prstGeom>
        </p:spPr>
      </p:pic>
    </p:spTree>
    <p:extLst>
      <p:ext uri="{BB962C8B-B14F-4D97-AF65-F5344CB8AC3E}">
        <p14:creationId xmlns:p14="http://schemas.microsoft.com/office/powerpoint/2010/main" val="32929022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iagrama&#10;&#10;El contenido generado por IA puede ser incorrecto.">
            <a:extLst>
              <a:ext uri="{FF2B5EF4-FFF2-40B4-BE49-F238E27FC236}">
                <a16:creationId xmlns:a16="http://schemas.microsoft.com/office/drawing/2014/main" id="{7224316B-4A5C-815C-5D02-E63FD68BEC09}"/>
              </a:ext>
            </a:extLst>
          </p:cNvPr>
          <p:cNvPicPr>
            <a:picLocks noChangeAspect="1"/>
          </p:cNvPicPr>
          <p:nvPr/>
        </p:nvPicPr>
        <p:blipFill>
          <a:blip r:embed="rId2"/>
          <a:stretch>
            <a:fillRect/>
          </a:stretch>
        </p:blipFill>
        <p:spPr>
          <a:xfrm>
            <a:off x="0" y="0"/>
            <a:ext cx="14630317" cy="7973613"/>
          </a:xfrm>
          <a:prstGeom prst="rect">
            <a:avLst/>
          </a:prstGeom>
        </p:spPr>
      </p:pic>
    </p:spTree>
    <p:extLst>
      <p:ext uri="{BB962C8B-B14F-4D97-AF65-F5344CB8AC3E}">
        <p14:creationId xmlns:p14="http://schemas.microsoft.com/office/powerpoint/2010/main" val="230704759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2" descr="image.png"/>
          <p:cNvPicPr preferRelativeResize="0"/>
          <p:nvPr/>
        </p:nvPicPr>
        <p:blipFill rotWithShape="1">
          <a:blip r:embed="rId3">
            <a:alphaModFix/>
          </a:blip>
          <a:srcRect/>
          <a:stretch/>
        </p:blipFill>
        <p:spPr>
          <a:xfrm>
            <a:off x="0" y="0"/>
            <a:ext cx="14630400" cy="8229600"/>
          </a:xfrm>
          <a:prstGeom prst="rect">
            <a:avLst/>
          </a:prstGeom>
          <a:noFill/>
          <a:ln>
            <a:noFill/>
          </a:ln>
        </p:spPr>
      </p:pic>
      <p:graphicFrame>
        <p:nvGraphicFramePr>
          <p:cNvPr id="236" name="Google Shape;236;p22"/>
          <p:cNvGraphicFramePr/>
          <p:nvPr/>
        </p:nvGraphicFramePr>
        <p:xfrm>
          <a:off x="571500" y="2970729"/>
          <a:ext cx="13487400" cy="4309050"/>
        </p:xfrm>
        <a:graphic>
          <a:graphicData uri="http://schemas.openxmlformats.org/drawingml/2006/table">
            <a:tbl>
              <a:tblPr firstRow="1" bandRow="1">
                <a:noFill/>
              </a:tblPr>
              <a:tblGrid>
                <a:gridCol w="1576980">
                  <a:extLst>
                    <a:ext uri="{9D8B030D-6E8A-4147-A177-3AD203B41FA5}">
                      <a16:colId xmlns:a16="http://schemas.microsoft.com/office/drawing/2014/main" val="20000"/>
                    </a:ext>
                  </a:extLst>
                </a:gridCol>
                <a:gridCol w="8705550">
                  <a:extLst>
                    <a:ext uri="{9D8B030D-6E8A-4147-A177-3AD203B41FA5}">
                      <a16:colId xmlns:a16="http://schemas.microsoft.com/office/drawing/2014/main" val="20001"/>
                    </a:ext>
                  </a:extLst>
                </a:gridCol>
                <a:gridCol w="3204870">
                  <a:extLst>
                    <a:ext uri="{9D8B030D-6E8A-4147-A177-3AD203B41FA5}">
                      <a16:colId xmlns:a16="http://schemas.microsoft.com/office/drawing/2014/main" val="20002"/>
                    </a:ext>
                  </a:extLst>
                </a:gridCol>
              </a:tblGrid>
              <a:tr h="718170">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Categoría</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2E5D"/>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Descripción</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2E5D"/>
                    </a:solidFill>
                  </a:tcPr>
                </a:tc>
                <a:tc>
                  <a:txBody>
                    <a:bodyPr/>
                    <a:lstStyle/>
                    <a:p>
                      <a:pPr marL="0" marR="0" lvl="0" indent="0" algn="l" rtl="0">
                        <a:spcBef>
                          <a:spcPts val="0"/>
                        </a:spcBef>
                        <a:spcAft>
                          <a:spcPts val="0"/>
                        </a:spcAft>
                        <a:buNone/>
                      </a:pPr>
                      <a:r>
                        <a:rPr lang="en-US" sz="1800" b="1" i="0" u="none" strike="noStrike" cap="none">
                          <a:solidFill>
                            <a:srgbClr val="FFFFFF"/>
                          </a:solidFill>
                          <a:latin typeface="Merriweather"/>
                          <a:ea typeface="Merriweather"/>
                          <a:cs typeface="Merriweather"/>
                          <a:sym typeface="Merriweather"/>
                        </a:rPr>
                        <a:t>Elegibilidad</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2E5D"/>
                    </a:solidFill>
                  </a:tcPr>
                </a:tc>
                <a:extLst>
                  <a:ext uri="{0D108BD9-81ED-4DB2-BD59-A6C34878D82A}">
                    <a16:rowId xmlns:a16="http://schemas.microsoft.com/office/drawing/2014/main" val="10000"/>
                  </a:ext>
                </a:extLst>
              </a:tr>
              <a:tr h="71817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A</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Investigación excepcional, líder en su campo, impacto muy significativo.</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Todos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71817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B</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Investigación de alta calidad, impacto significativo.</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Todos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71817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C</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Cumple estándares de calidad, impacto limitado.</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Todos (excepto Nuevos)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71817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C(NE)</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Cumple estándares de calidad (para investigadores nuevos).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Nuevos y Emergentes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718200">
                <a:tc>
                  <a:txBody>
                    <a:bodyPr/>
                    <a:lstStyle/>
                    <a:p>
                      <a:pPr marL="0" marR="0" lvl="0" indent="0" algn="l" rtl="0">
                        <a:spcBef>
                          <a:spcPts val="0"/>
                        </a:spcBef>
                        <a:spcAft>
                          <a:spcPts val="0"/>
                        </a:spcAft>
                        <a:buNone/>
                      </a:pPr>
                      <a:r>
                        <a:rPr lang="en-US" sz="1800" b="1" i="0" u="none" strike="noStrike" cap="none">
                          <a:solidFill>
                            <a:srgbClr val="334155"/>
                          </a:solidFill>
                          <a:latin typeface="DM Sans"/>
                          <a:ea typeface="DM Sans"/>
                          <a:cs typeface="DM Sans"/>
                          <a:sym typeface="DM Sans"/>
                        </a:rPr>
                        <a:t>R / R(NE)</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No cumple con el estándar para una categoría financiada.</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800" b="0" i="0" u="none" strike="noStrike" cap="none">
                          <a:solidFill>
                            <a:srgbClr val="334155"/>
                          </a:solidFill>
                          <a:latin typeface="DM Sans"/>
                          <a:ea typeface="DM Sans"/>
                          <a:cs typeface="DM Sans"/>
                          <a:sym typeface="DM Sans"/>
                        </a:rPr>
                        <a:t>Todos / Nuevos</a:t>
                      </a:r>
                      <a:endParaRPr sz="2200"/>
                    </a:p>
                  </a:txBody>
                  <a:tcPr marL="76200" marR="76200" marT="30480" marB="3048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237" name="Google Shape;237;p22"/>
          <p:cNvSpPr/>
          <p:nvPr/>
        </p:nvSpPr>
        <p:spPr>
          <a:xfrm>
            <a:off x="571500" y="4382333"/>
            <a:ext cx="1576982"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38" name="Google Shape;238;p22"/>
          <p:cNvSpPr/>
          <p:nvPr/>
        </p:nvSpPr>
        <p:spPr>
          <a:xfrm>
            <a:off x="2148483" y="4382333"/>
            <a:ext cx="8705551"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39" name="Google Shape;239;p22"/>
          <p:cNvSpPr/>
          <p:nvPr/>
        </p:nvSpPr>
        <p:spPr>
          <a:xfrm>
            <a:off x="10854035" y="4382333"/>
            <a:ext cx="3204864"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0" name="Google Shape;240;p22"/>
          <p:cNvSpPr/>
          <p:nvPr/>
        </p:nvSpPr>
        <p:spPr>
          <a:xfrm>
            <a:off x="571500" y="5102423"/>
            <a:ext cx="1576982"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1" name="Google Shape;241;p22"/>
          <p:cNvSpPr/>
          <p:nvPr/>
        </p:nvSpPr>
        <p:spPr>
          <a:xfrm>
            <a:off x="2148483" y="5102423"/>
            <a:ext cx="8705551"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2" name="Google Shape;242;p22"/>
          <p:cNvSpPr/>
          <p:nvPr/>
        </p:nvSpPr>
        <p:spPr>
          <a:xfrm>
            <a:off x="10854035" y="5102423"/>
            <a:ext cx="3204864"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3" name="Google Shape;243;p22"/>
          <p:cNvSpPr/>
          <p:nvPr/>
        </p:nvSpPr>
        <p:spPr>
          <a:xfrm>
            <a:off x="571500" y="5822513"/>
            <a:ext cx="1576982"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4" name="Google Shape;244;p22"/>
          <p:cNvSpPr/>
          <p:nvPr/>
        </p:nvSpPr>
        <p:spPr>
          <a:xfrm>
            <a:off x="2148483" y="5822513"/>
            <a:ext cx="8705551"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5" name="Google Shape;245;p22"/>
          <p:cNvSpPr/>
          <p:nvPr/>
        </p:nvSpPr>
        <p:spPr>
          <a:xfrm>
            <a:off x="10854035" y="5822513"/>
            <a:ext cx="3204864"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6" name="Google Shape;246;p22"/>
          <p:cNvSpPr/>
          <p:nvPr/>
        </p:nvSpPr>
        <p:spPr>
          <a:xfrm>
            <a:off x="571500" y="6542603"/>
            <a:ext cx="1576982"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7" name="Google Shape;247;p22"/>
          <p:cNvSpPr/>
          <p:nvPr/>
        </p:nvSpPr>
        <p:spPr>
          <a:xfrm>
            <a:off x="2148483" y="6542603"/>
            <a:ext cx="8705551"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8" name="Google Shape;248;p22"/>
          <p:cNvSpPr/>
          <p:nvPr/>
        </p:nvSpPr>
        <p:spPr>
          <a:xfrm>
            <a:off x="10854035" y="6542603"/>
            <a:ext cx="3204864"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49" name="Google Shape;249;p22"/>
          <p:cNvSpPr/>
          <p:nvPr/>
        </p:nvSpPr>
        <p:spPr>
          <a:xfrm>
            <a:off x="571500" y="7262693"/>
            <a:ext cx="1576982"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50" name="Google Shape;250;p22"/>
          <p:cNvSpPr/>
          <p:nvPr/>
        </p:nvSpPr>
        <p:spPr>
          <a:xfrm>
            <a:off x="2148483" y="7262693"/>
            <a:ext cx="8705551"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51" name="Google Shape;251;p22"/>
          <p:cNvSpPr/>
          <p:nvPr/>
        </p:nvSpPr>
        <p:spPr>
          <a:xfrm>
            <a:off x="10854035" y="7262693"/>
            <a:ext cx="3204864" cy="11430"/>
          </a:xfrm>
          <a:prstGeom prst="rect">
            <a:avLst/>
          </a:prstGeom>
          <a:solidFill>
            <a:srgbClr val="CBD5E1"/>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
        <p:nvSpPr>
          <p:cNvPr id="252" name="Google Shape;252;p22"/>
          <p:cNvSpPr txBox="1"/>
          <p:nvPr/>
        </p:nvSpPr>
        <p:spPr>
          <a:xfrm>
            <a:off x="571500" y="1026735"/>
            <a:ext cx="14058900" cy="664797"/>
          </a:xfrm>
          <a:prstGeom prst="rect">
            <a:avLst/>
          </a:prstGeom>
          <a:noFill/>
          <a:ln>
            <a:noFill/>
          </a:ln>
        </p:spPr>
        <p:txBody>
          <a:bodyPr spcFirstLastPara="1" wrap="square" lIns="0" tIns="0" rIns="0" bIns="0" anchor="t" anchorCtr="0">
            <a:spAutoFit/>
          </a:bodyPr>
          <a:lstStyle/>
          <a:p>
            <a:r>
              <a:rPr lang="en-US" sz="4320" b="1">
                <a:solidFill>
                  <a:srgbClr val="002E5D"/>
                </a:solidFill>
                <a:latin typeface="Merriweather"/>
                <a:ea typeface="Merriweather"/>
                <a:cs typeface="Merriweather"/>
                <a:sym typeface="Merriweather"/>
              </a:rPr>
              <a:t>Categorías de Calidad</a:t>
            </a:r>
            <a:endParaRPr sz="2160"/>
          </a:p>
        </p:txBody>
      </p:sp>
      <p:sp>
        <p:nvSpPr>
          <p:cNvPr id="253" name="Google Shape;253;p22"/>
          <p:cNvSpPr/>
          <p:nvPr/>
        </p:nvSpPr>
        <p:spPr>
          <a:xfrm>
            <a:off x="571500" y="1883984"/>
            <a:ext cx="13487400" cy="22860"/>
          </a:xfrm>
          <a:prstGeom prst="rect">
            <a:avLst/>
          </a:prstGeom>
          <a:solidFill>
            <a:srgbClr val="E2E8F0"/>
          </a:solidFill>
          <a:ln>
            <a:noFill/>
          </a:ln>
        </p:spPr>
        <p:txBody>
          <a:bodyPr spcFirstLastPara="1" wrap="square" lIns="109710" tIns="54840" rIns="109710" bIns="54840" anchor="ctr" anchorCtr="0">
            <a:noAutofit/>
          </a:bodyPr>
          <a:lstStyle/>
          <a:p>
            <a:pPr algn="ctr"/>
            <a:endParaRPr sz="216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2B51D90-FB6C-5929-92A5-8A1F49F46B76}"/>
              </a:ext>
            </a:extLst>
          </p:cNvPr>
          <p:cNvSpPr txBox="1"/>
          <p:nvPr/>
        </p:nvSpPr>
        <p:spPr>
          <a:xfrm>
            <a:off x="182879" y="52149"/>
            <a:ext cx="13582996" cy="8125301"/>
          </a:xfrm>
          <a:prstGeom prst="rect">
            <a:avLst/>
          </a:prstGeom>
          <a:noFill/>
        </p:spPr>
        <p:txBody>
          <a:bodyPr wrap="square">
            <a:spAutoFit/>
          </a:bodyPr>
          <a:lstStyle/>
          <a:p>
            <a:pPr>
              <a:buNone/>
            </a:pPr>
            <a:r>
              <a:rPr lang="es-ES" b="1" u="sng" dirty="0"/>
              <a:t>Componente: Ejemplos de Excelencia en Investigación (ERE)</a:t>
            </a:r>
            <a:br>
              <a:rPr lang="es-ES" dirty="0"/>
            </a:br>
            <a:r>
              <a:rPr lang="es-ES" b="1" dirty="0"/>
              <a:t>Descripción</a:t>
            </a:r>
            <a:br>
              <a:rPr lang="es-ES" dirty="0"/>
            </a:br>
            <a:r>
              <a:rPr lang="es-ES" dirty="0"/>
              <a:t>Este componente se centra en la </a:t>
            </a:r>
            <a:r>
              <a:rPr lang="es-ES" b="1" dirty="0"/>
              <a:t>calidad de la investigación y de la actividad relacionada con la investigación</a:t>
            </a:r>
            <a:r>
              <a:rPr lang="es-ES" dirty="0"/>
              <a:t>, incluyendo el </a:t>
            </a:r>
            <a:r>
              <a:rPr lang="es-ES" b="1" dirty="0"/>
              <a:t>impacto de la investigación</a:t>
            </a:r>
            <a:r>
              <a:rPr lang="es-ES" dirty="0"/>
              <a:t>. Como parte de la evidencia en este componente, los Portafolios de Evidencia (EP) </a:t>
            </a:r>
            <a:r>
              <a:rPr lang="es-ES" b="1" dirty="0"/>
              <a:t>normalmente incluirán tres ERE</a:t>
            </a:r>
            <a:r>
              <a:rPr lang="es-ES" dirty="0"/>
              <a:t>. Los EP presentados por personal </a:t>
            </a:r>
            <a:r>
              <a:rPr lang="es-ES" b="1" dirty="0"/>
              <a:t>Nuevo y Emergente</a:t>
            </a:r>
            <a:r>
              <a:rPr lang="es-ES" dirty="0"/>
              <a:t>, </a:t>
            </a:r>
            <a:r>
              <a:rPr lang="es-ES" b="1" dirty="0"/>
              <a:t>a tiempo parcial</a:t>
            </a:r>
            <a:r>
              <a:rPr lang="es-ES" dirty="0"/>
              <a:t> y/o con </a:t>
            </a:r>
            <a:r>
              <a:rPr lang="es-ES" b="1" dirty="0"/>
              <a:t>Circunstancias del Investigador</a:t>
            </a:r>
            <a:r>
              <a:rPr lang="es-ES" dirty="0"/>
              <a:t> podrán incluir </a:t>
            </a:r>
            <a:r>
              <a:rPr lang="es-ES" b="1" dirty="0"/>
              <a:t>menos ERE</a:t>
            </a:r>
            <a:r>
              <a:rPr lang="es-ES" dirty="0"/>
              <a:t>, dependiendo de la circunstancia o combinación de circunstancias.</a:t>
            </a:r>
          </a:p>
          <a:p>
            <a:pPr>
              <a:buNone/>
            </a:pPr>
            <a:r>
              <a:rPr lang="es-ES" dirty="0"/>
              <a:t>Cada ERE estará compuesto por:</a:t>
            </a:r>
          </a:p>
          <a:p>
            <a:br>
              <a:rPr lang="es-ES" dirty="0"/>
            </a:br>
            <a:r>
              <a:rPr lang="es-ES" dirty="0"/>
              <a:t>-una </a:t>
            </a:r>
            <a:r>
              <a:rPr lang="es-ES" b="1" dirty="0"/>
              <a:t>narrativa contextual</a:t>
            </a:r>
            <a:r>
              <a:rPr lang="es-ES" dirty="0"/>
              <a:t> (obligatoria) que resume los </a:t>
            </a:r>
            <a:r>
              <a:rPr lang="es-ES" b="1" dirty="0"/>
              <a:t>principales descubrimientos, innovaciones, contribuciones y/o impactos</a:t>
            </a:r>
            <a:r>
              <a:rPr lang="es-ES" dirty="0"/>
              <a:t> que el ERE demuestra, y que puede </a:t>
            </a:r>
            <a:r>
              <a:rPr lang="es-ES" b="1" dirty="0"/>
              <a:t>vincular el resultado del ERE con cualquier Ítem Suplementario</a:t>
            </a:r>
            <a:r>
              <a:rPr lang="es-ES" dirty="0"/>
              <a:t>.</a:t>
            </a:r>
            <a:br>
              <a:rPr lang="es-ES" dirty="0"/>
            </a:br>
            <a:r>
              <a:rPr lang="es-ES" dirty="0"/>
              <a:t>-un </a:t>
            </a:r>
            <a:r>
              <a:rPr lang="es-ES" b="1" dirty="0"/>
              <a:t>Resultado del ERE</a:t>
            </a:r>
            <a:r>
              <a:rPr lang="es-ES" dirty="0"/>
              <a:t> (obligatorio), que debe ser presentado para su evaluación.</a:t>
            </a:r>
            <a:br>
              <a:rPr lang="es-ES" dirty="0"/>
            </a:br>
            <a:r>
              <a:rPr lang="es-ES" dirty="0"/>
              <a:t>-</a:t>
            </a:r>
            <a:r>
              <a:rPr lang="es-ES" b="1" dirty="0"/>
              <a:t>hasta tres Ítems Suplementarios opcionales</a:t>
            </a:r>
            <a:r>
              <a:rPr lang="es-ES" dirty="0"/>
              <a:t>, que pueden ser resultados de investigación relacionados y/o actividades de investigación, los cuales se describen brevemente junto con </a:t>
            </a:r>
            <a:r>
              <a:rPr lang="es-ES" b="1" dirty="0"/>
              <a:t>detalles bibliométricos o equivalentes suficientes para permitir auditoría</a:t>
            </a:r>
            <a:r>
              <a:rPr lang="es-ES" dirty="0"/>
              <a:t>.</a:t>
            </a:r>
          </a:p>
          <a:p>
            <a:endParaRPr lang="es-ES" dirty="0"/>
          </a:p>
          <a:p>
            <a:pPr>
              <a:buNone/>
            </a:pPr>
            <a:r>
              <a:rPr lang="es-ES" dirty="0"/>
              <a:t>Los EP también pueden incluir </a:t>
            </a:r>
            <a:r>
              <a:rPr lang="es-ES" b="1" dirty="0"/>
              <a:t>hasta ocho Otros Ejemplos de Excelencia en Investigación (OERE)</a:t>
            </a:r>
            <a:r>
              <a:rPr lang="es-ES" dirty="0"/>
              <a:t>, que pueden ser </a:t>
            </a:r>
            <a:r>
              <a:rPr lang="es-ES" b="1" dirty="0"/>
              <a:t>resultados de investigación o actividades</a:t>
            </a:r>
            <a:r>
              <a:rPr lang="es-ES" dirty="0"/>
              <a:t>.</a:t>
            </a:r>
          </a:p>
          <a:p>
            <a:pPr>
              <a:buNone/>
            </a:pPr>
            <a:r>
              <a:rPr lang="es-ES" dirty="0"/>
              <a:t>En la asignación de puntajes del componente ERE, </a:t>
            </a:r>
            <a:r>
              <a:rPr lang="es-ES" b="1" dirty="0"/>
              <a:t>el número total de ERE y/o OERE</a:t>
            </a:r>
            <a:r>
              <a:rPr lang="es-ES" dirty="0"/>
              <a:t>, así como </a:t>
            </a:r>
            <a:r>
              <a:rPr lang="es-ES" b="1" dirty="0"/>
              <a:t>el número, presencia o ausencia de ítems suplementarios dentro de cada ERE</a:t>
            </a:r>
            <a:r>
              <a:rPr lang="es-ES" dirty="0"/>
              <a:t>, </a:t>
            </a:r>
            <a:r>
              <a:rPr lang="es-ES" b="1" dirty="0"/>
              <a:t>no tiene incidencia en la evaluación de la calidad</a:t>
            </a:r>
            <a:r>
              <a:rPr lang="es-ES" dirty="0"/>
              <a:t>.</a:t>
            </a:r>
          </a:p>
          <a:p>
            <a:pPr>
              <a:buNone/>
            </a:pPr>
            <a:r>
              <a:rPr lang="es-ES" dirty="0"/>
              <a:t>Los </a:t>
            </a:r>
            <a:r>
              <a:rPr lang="es-ES" b="1" dirty="0"/>
              <a:t>resultados de investigación</a:t>
            </a:r>
            <a:r>
              <a:rPr lang="es-ES" dirty="0"/>
              <a:t> son cualquier forma de resultado evaluable que </a:t>
            </a:r>
            <a:r>
              <a:rPr lang="es-ES" b="1" dirty="0"/>
              <a:t>incorpore hallazgos de investigación</a:t>
            </a:r>
            <a:r>
              <a:rPr lang="es-ES" dirty="0"/>
              <a:t> y que sea generada a partir de actividad investigativa que cumpla con la </a:t>
            </a:r>
            <a:r>
              <a:rPr lang="es-ES" b="1" dirty="0"/>
              <a:t>Definición de Investigación del PBRF</a:t>
            </a:r>
            <a:r>
              <a:rPr lang="es-ES" dirty="0"/>
              <a:t>, y pueden incluir:</a:t>
            </a:r>
            <a:br>
              <a:rPr lang="es-ES" dirty="0"/>
            </a:br>
            <a:r>
              <a:rPr lang="es-ES" dirty="0"/>
              <a:t>› trabajos académicos </a:t>
            </a:r>
            <a:r>
              <a:rPr lang="es-ES" b="1" dirty="0"/>
              <a:t>publicados o difundidos</a:t>
            </a:r>
            <a:r>
              <a:rPr lang="es-ES" dirty="0"/>
              <a:t> de otro modo, como </a:t>
            </a:r>
            <a:r>
              <a:rPr lang="es-ES" b="1" dirty="0"/>
              <a:t>libros académicos, artículos de revistas, tesis de magíster o doctorado, o presentaciones</a:t>
            </a:r>
            <a:r>
              <a:rPr lang="es-ES" dirty="0"/>
              <a:t>;</a:t>
            </a:r>
            <a:br>
              <a:rPr lang="es-ES" dirty="0"/>
            </a:br>
            <a:r>
              <a:rPr lang="es-ES" dirty="0"/>
              <a:t>› trabajos creativos </a:t>
            </a:r>
            <a:r>
              <a:rPr lang="es-ES" b="1" dirty="0"/>
              <a:t>publicados o difundidos</a:t>
            </a:r>
            <a:r>
              <a:rPr lang="es-ES" dirty="0"/>
              <a:t> que incorporen investigación original, tales como </a:t>
            </a:r>
            <a:r>
              <a:rPr lang="es-ES" b="1" dirty="0"/>
              <a:t>obras de ficción, obras artísticas o composiciones</a:t>
            </a:r>
            <a:r>
              <a:rPr lang="es-ES" dirty="0"/>
              <a:t>;</a:t>
            </a:r>
            <a:br>
              <a:rPr lang="es-ES" dirty="0"/>
            </a:br>
            <a:r>
              <a:rPr lang="es-ES" dirty="0"/>
              <a:t>› trabajos </a:t>
            </a:r>
            <a:r>
              <a:rPr lang="es-ES" b="1" dirty="0"/>
              <a:t>públicamente disponibles o confidenciales</a:t>
            </a:r>
            <a:r>
              <a:rPr lang="es-ES" dirty="0"/>
              <a:t> que incorporen investigación original, tales como </a:t>
            </a:r>
            <a:r>
              <a:rPr lang="es-ES" b="1" dirty="0"/>
              <a:t>informes, políticas, legislación o diseños</a:t>
            </a:r>
            <a:r>
              <a:rPr lang="es-ES" dirty="0"/>
              <a:t>;</a:t>
            </a:r>
            <a:br>
              <a:rPr lang="es-ES" dirty="0"/>
            </a:br>
            <a:r>
              <a:rPr lang="es-ES" dirty="0"/>
              <a:t>› trabajos </a:t>
            </a:r>
            <a:r>
              <a:rPr lang="es-ES" b="1" dirty="0"/>
              <a:t>publicados o difundidos en medios digitales, visuales, audiovisuales u otros no impresos</a:t>
            </a:r>
            <a:r>
              <a:rPr lang="es-ES" dirty="0"/>
              <a:t>, incluidos </a:t>
            </a:r>
            <a:r>
              <a:rPr lang="es-ES" b="1" dirty="0"/>
              <a:t>programas informáticos, </a:t>
            </a:r>
            <a:r>
              <a:rPr lang="es-ES" b="1" dirty="0" err="1"/>
              <a:t>waiata</a:t>
            </a:r>
            <a:r>
              <a:rPr lang="es-ES" b="1" dirty="0"/>
              <a:t>, tallados, edificaciones</a:t>
            </a:r>
            <a:r>
              <a:rPr lang="es-ES" dirty="0"/>
              <a:t>;</a:t>
            </a:r>
            <a:br>
              <a:rPr lang="es-ES" dirty="0"/>
            </a:br>
            <a:r>
              <a:rPr lang="es-ES" dirty="0"/>
              <a:t>› otras formas de resultados, tales como </a:t>
            </a:r>
            <a:r>
              <a:rPr lang="es-ES" b="1" dirty="0"/>
              <a:t>patentes concedidas, materiales, productos, actuaciones, discursos y exposiciones</a:t>
            </a:r>
            <a:r>
              <a:rPr lang="es-ES" dirty="0"/>
              <a:t>.</a:t>
            </a:r>
          </a:p>
        </p:txBody>
      </p:sp>
    </p:spTree>
    <p:extLst>
      <p:ext uri="{BB962C8B-B14F-4D97-AF65-F5344CB8AC3E}">
        <p14:creationId xmlns:p14="http://schemas.microsoft.com/office/powerpoint/2010/main" val="23302696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755BEB8-E804-C8DE-C99B-77927DAD9E7A}"/>
              </a:ext>
            </a:extLst>
          </p:cNvPr>
          <p:cNvSpPr txBox="1"/>
          <p:nvPr/>
        </p:nvSpPr>
        <p:spPr>
          <a:xfrm>
            <a:off x="116379" y="744646"/>
            <a:ext cx="14314516" cy="6740307"/>
          </a:xfrm>
          <a:prstGeom prst="rect">
            <a:avLst/>
          </a:prstGeom>
          <a:noFill/>
        </p:spPr>
        <p:txBody>
          <a:bodyPr wrap="square">
            <a:spAutoFit/>
          </a:bodyPr>
          <a:lstStyle/>
          <a:p>
            <a:pPr>
              <a:buNone/>
            </a:pPr>
            <a:r>
              <a:rPr lang="es-ES" sz="1600" dirty="0"/>
              <a:t>Las </a:t>
            </a:r>
            <a:r>
              <a:rPr lang="es-ES" sz="1600" b="1" dirty="0"/>
              <a:t>actividades de investigación</a:t>
            </a:r>
            <a:r>
              <a:rPr lang="es-ES" sz="1600" dirty="0"/>
              <a:t> describen acciones relacionadas con la </a:t>
            </a:r>
            <a:r>
              <a:rPr lang="es-ES" sz="1600" b="1" dirty="0"/>
              <a:t>planificación, preparación, producción, difusión y compartición</a:t>
            </a:r>
            <a:r>
              <a:rPr lang="es-ES" sz="1600" dirty="0"/>
              <a:t> de investigación que cumple con la </a:t>
            </a:r>
            <a:r>
              <a:rPr lang="es-ES" sz="1600" b="1" dirty="0"/>
              <a:t>Definición de Investigación del PBRF</a:t>
            </a:r>
            <a:r>
              <a:rPr lang="es-ES" sz="1600" dirty="0"/>
              <a:t>. Las actividades de investigación también incluyen acciones y resultados asociados al </a:t>
            </a:r>
            <a:r>
              <a:rPr lang="es-ES" sz="1600" b="1" dirty="0"/>
              <a:t>reconocimiento y al impacto de la investigación</a:t>
            </a:r>
            <a:r>
              <a:rPr lang="es-ES" sz="1600" dirty="0"/>
              <a:t>, y pueden incluir:</a:t>
            </a:r>
          </a:p>
          <a:p>
            <a:pPr>
              <a:buNone/>
            </a:pPr>
            <a:r>
              <a:rPr lang="es-ES" sz="1600" dirty="0"/>
              <a:t>› </a:t>
            </a:r>
            <a:r>
              <a:rPr lang="es-ES" sz="1600" b="1" dirty="0"/>
              <a:t>presentación o difusión</a:t>
            </a:r>
            <a:r>
              <a:rPr lang="es-ES" sz="1600" dirty="0"/>
              <a:t> de resultados de investigación, resultados intermedios o trabajos en curso en </a:t>
            </a:r>
            <a:r>
              <a:rPr lang="es-ES" sz="1600" b="1" dirty="0"/>
              <a:t>foros académicos, industriales o sectoriales, </a:t>
            </a:r>
            <a:r>
              <a:rPr lang="es-ES" sz="1600" b="1" dirty="0" err="1"/>
              <a:t>iwi</a:t>
            </a:r>
            <a:r>
              <a:rPr lang="es-ES" sz="1600" b="1" dirty="0"/>
              <a:t>, comunitarios o públicos</a:t>
            </a:r>
            <a:r>
              <a:rPr lang="es-ES" sz="1600" dirty="0"/>
              <a:t>. Los ejemplos pueden incluir </a:t>
            </a:r>
            <a:r>
              <a:rPr lang="es-ES" sz="1600" b="1" dirty="0"/>
              <a:t>presentaciones en congresos académicos, industriales o profesionales, charlas públicas o seminarios, hui, fono, talleres, presentaciones o exhibiciones</a:t>
            </a:r>
            <a:r>
              <a:rPr lang="es-ES" sz="1600" dirty="0"/>
              <a:t>;</a:t>
            </a:r>
            <a:br>
              <a:rPr lang="es-ES" sz="1600" dirty="0"/>
            </a:br>
            <a:r>
              <a:rPr lang="es-ES" sz="1600" dirty="0"/>
              <a:t>› </a:t>
            </a:r>
            <a:r>
              <a:rPr lang="es-ES" sz="1600" b="1" dirty="0"/>
              <a:t>apoyo externo</a:t>
            </a:r>
            <a:r>
              <a:rPr lang="es-ES" sz="1600" dirty="0"/>
              <a:t> para proyectos y actividades de investigación, incluidos </a:t>
            </a:r>
            <a:r>
              <a:rPr lang="es-ES" sz="1600" b="1" dirty="0"/>
              <a:t>fondos competitivos u otros, contratos o comisiones, colaboraciones o alianzas del sector público o privado, y apoyo comunitario, </a:t>
            </a:r>
            <a:r>
              <a:rPr lang="es-ES" sz="1600" b="1" dirty="0" err="1"/>
              <a:t>iwi</a:t>
            </a:r>
            <a:r>
              <a:rPr lang="es-ES" sz="1600" b="1" dirty="0"/>
              <a:t> o </a:t>
            </a:r>
            <a:r>
              <a:rPr lang="es-ES" sz="1600" b="1" dirty="0" err="1"/>
              <a:t>marae</a:t>
            </a:r>
            <a:r>
              <a:rPr lang="es-ES" sz="1600" dirty="0"/>
              <a:t>;</a:t>
            </a:r>
            <a:br>
              <a:rPr lang="es-ES" sz="1600" dirty="0"/>
            </a:br>
            <a:r>
              <a:rPr lang="es-ES" sz="1600" dirty="0"/>
              <a:t>› </a:t>
            </a:r>
            <a:r>
              <a:rPr lang="es-ES" sz="1600" b="1" dirty="0"/>
              <a:t>reconocimiento de la actividad y/o de los resultados de investigación</a:t>
            </a:r>
            <a:r>
              <a:rPr lang="es-ES" sz="1600" dirty="0"/>
              <a:t> en forma de </a:t>
            </a:r>
            <a:r>
              <a:rPr lang="es-ES" sz="1600" b="1" dirty="0"/>
              <a:t>becas, premios, distinciones, comisiones de servicio, nombramientos o elecciones para cargos relevantes, honores u otros indicadores de reconocimiento por pares o externo</a:t>
            </a:r>
            <a:r>
              <a:rPr lang="es-ES" sz="1600" dirty="0"/>
              <a:t>;</a:t>
            </a:r>
            <a:br>
              <a:rPr lang="es-ES" sz="1600" dirty="0"/>
            </a:br>
            <a:r>
              <a:rPr lang="es-ES" sz="1600" dirty="0"/>
              <a:t>› </a:t>
            </a:r>
            <a:r>
              <a:rPr lang="es-ES" sz="1600" b="1" dirty="0"/>
              <a:t>actividades de vinculación y extensión</a:t>
            </a:r>
            <a:r>
              <a:rPr lang="es-ES" sz="1600" dirty="0"/>
              <a:t> orientadas a interactuar y contribuir con </a:t>
            </a:r>
            <a:r>
              <a:rPr lang="es-ES" sz="1600" b="1" dirty="0"/>
              <a:t>comunidades y grupos de interés no académicos</a:t>
            </a:r>
            <a:r>
              <a:rPr lang="es-ES" sz="1600" dirty="0"/>
              <a:t>. Los ejemplos pueden incluir evidencia de </a:t>
            </a:r>
            <a:r>
              <a:rPr lang="es-ES" sz="1600" b="1" dirty="0"/>
              <a:t>impacto de la investigación</a:t>
            </a:r>
            <a:r>
              <a:rPr lang="es-ES" sz="1600" dirty="0"/>
              <a:t> conforme a la definición de impacto del PBRF, mediante la </a:t>
            </a:r>
            <a:r>
              <a:rPr lang="es-ES" sz="1600" b="1" dirty="0"/>
              <a:t>adopción y uso de, o la interacción con, resultados o actividades de investigación</a:t>
            </a:r>
            <a:r>
              <a:rPr lang="es-ES" sz="1600" dirty="0"/>
              <a:t>. Los impactos pueden incluir </a:t>
            </a:r>
            <a:r>
              <a:rPr lang="es-ES" sz="1600" b="1" dirty="0"/>
              <a:t>cambios legislativos, regulatorios o de políticas públicas; resultados o beneficios económicos o comerciales</a:t>
            </a:r>
            <a:r>
              <a:rPr lang="es-ES" sz="1600" dirty="0"/>
              <a:t>, incluidos </a:t>
            </a:r>
            <a:r>
              <a:rPr lang="es-ES" sz="1600" b="1" dirty="0"/>
              <a:t>productos, prácticas y procesos</a:t>
            </a:r>
            <a:r>
              <a:rPr lang="es-ES" sz="1600" dirty="0"/>
              <a:t>; </a:t>
            </a:r>
            <a:r>
              <a:rPr lang="es-ES" sz="1600" b="1" dirty="0"/>
              <a:t>beneficios o cambios sociales, en salud, ambientales o culturales</a:t>
            </a:r>
            <a:r>
              <a:rPr lang="es-ES" sz="1600" dirty="0"/>
              <a:t>; u </a:t>
            </a:r>
            <a:r>
              <a:rPr lang="es-ES" sz="1600" b="1" dirty="0"/>
              <a:t>otros cambios en los servicios o en la calidad de vida</a:t>
            </a:r>
            <a:r>
              <a:rPr lang="es-ES" sz="1600" dirty="0"/>
              <a:t>, a todos los niveles, desde el </a:t>
            </a:r>
            <a:r>
              <a:rPr lang="es-ES" sz="1600" b="1" dirty="0"/>
              <a:t>ámbito global hasta la comunidad local</a:t>
            </a:r>
            <a:r>
              <a:rPr lang="es-ES" sz="1600" dirty="0"/>
              <a:t>.</a:t>
            </a:r>
          </a:p>
          <a:p>
            <a:pPr>
              <a:buNone/>
            </a:pPr>
            <a:r>
              <a:rPr lang="es-ES" sz="1600" dirty="0"/>
              <a:t>El EP puede incluir investigación </a:t>
            </a:r>
            <a:r>
              <a:rPr lang="es-ES" sz="1600" b="1" dirty="0"/>
              <a:t>pura, básica, teórica, aplicada, creativa, comunitaria o basada en la práctica</a:t>
            </a:r>
            <a:r>
              <a:rPr lang="es-ES" sz="1600" dirty="0"/>
              <a:t>, siempre que cumpla con la </a:t>
            </a:r>
            <a:r>
              <a:rPr lang="es-ES" sz="1600" b="1" dirty="0"/>
              <a:t>Definición de Investigación del PBRF</a:t>
            </a:r>
            <a:r>
              <a:rPr lang="es-ES" sz="1600" dirty="0"/>
              <a:t>. </a:t>
            </a:r>
            <a:r>
              <a:rPr lang="es-ES" sz="1600" b="1" dirty="0"/>
              <a:t>Todos los tipos y modalidades de investigación serán considerados equivalentes</a:t>
            </a:r>
            <a:r>
              <a:rPr lang="es-ES" sz="1600" dirty="0"/>
              <a:t>, y </a:t>
            </a:r>
            <a:r>
              <a:rPr lang="es-ES" sz="1600" b="1" dirty="0"/>
              <a:t>no deben establecerse distinciones de calidad</a:t>
            </a:r>
            <a:r>
              <a:rPr lang="es-ES" sz="1600" dirty="0"/>
              <a:t> sobre esa base.</a:t>
            </a:r>
          </a:p>
          <a:p>
            <a:pPr>
              <a:buNone/>
            </a:pPr>
            <a:r>
              <a:rPr lang="es-ES" sz="1600" dirty="0"/>
              <a:t>La </a:t>
            </a:r>
            <a:r>
              <a:rPr lang="es-ES" sz="1600" b="1" dirty="0"/>
              <a:t>ausencia de aseguramiento de la calidad</a:t>
            </a:r>
            <a:r>
              <a:rPr lang="es-ES" sz="1600" dirty="0"/>
              <a:t> no se interpretará por sí sola como indicativa de </a:t>
            </a:r>
            <a:r>
              <a:rPr lang="es-ES" sz="1600" b="1" dirty="0"/>
              <a:t>baja calidad</a:t>
            </a:r>
            <a:r>
              <a:rPr lang="es-ES" sz="1600" dirty="0"/>
              <a:t>, pero la </a:t>
            </a:r>
            <a:r>
              <a:rPr lang="es-ES" sz="1600" b="1" dirty="0"/>
              <a:t>carga de la prueba recae en quien presenta el portafolio</a:t>
            </a:r>
            <a:r>
              <a:rPr lang="es-ES" sz="1600" dirty="0"/>
              <a:t> para aportar evidencia de calidad. La evidencia de que los resultados de investigación han sido </a:t>
            </a:r>
            <a:r>
              <a:rPr lang="es-ES" sz="1600" b="1" dirty="0"/>
              <a:t>revisados por pares</a:t>
            </a:r>
            <a:r>
              <a:rPr lang="es-ES" sz="1600" dirty="0"/>
              <a:t> es una medida de calidad, considerando que los </a:t>
            </a:r>
            <a:r>
              <a:rPr lang="es-ES" sz="1600" b="1" dirty="0"/>
              <a:t>pares apropiados y los procesos de revisión por pares</a:t>
            </a:r>
            <a:r>
              <a:rPr lang="es-ES" sz="1600" dirty="0"/>
              <a:t> pueden, en algunos contextos o campos, </a:t>
            </a:r>
            <a:r>
              <a:rPr lang="es-ES" sz="1600" b="1" dirty="0"/>
              <a:t>ser externos a la academia</a:t>
            </a:r>
            <a:r>
              <a:rPr lang="es-ES" sz="1600" dirty="0"/>
              <a:t>. También se considerarán otros procesos de </a:t>
            </a:r>
            <a:r>
              <a:rPr lang="es-ES" sz="1600" b="1" dirty="0"/>
              <a:t>aseguramiento de la calidad</a:t>
            </a:r>
            <a:r>
              <a:rPr lang="es-ES" sz="1600" dirty="0"/>
              <a:t>, incluidos, entre otros, </a:t>
            </a:r>
            <a:r>
              <a:rPr lang="es-ES" sz="1600" b="1" dirty="0"/>
              <a:t>evaluaciones por </a:t>
            </a:r>
            <a:r>
              <a:rPr lang="es-ES" sz="1600" b="1" dirty="0" err="1"/>
              <a:t>referees</a:t>
            </a:r>
            <a:r>
              <a:rPr lang="es-ES" sz="1600" b="1" dirty="0"/>
              <a:t>, procesos de comisión, y validación o respaldo por parte de comunidades, </a:t>
            </a:r>
            <a:r>
              <a:rPr lang="es-ES" sz="1600" b="1" dirty="0" err="1"/>
              <a:t>iwi</a:t>
            </a:r>
            <a:r>
              <a:rPr lang="es-ES" sz="1600" b="1" dirty="0"/>
              <a:t> o </a:t>
            </a:r>
            <a:r>
              <a:rPr lang="es-ES" sz="1600" b="1" dirty="0" err="1"/>
              <a:t>marae</a:t>
            </a:r>
            <a:r>
              <a:rPr lang="es-ES" sz="1600" dirty="0"/>
              <a:t>.</a:t>
            </a:r>
          </a:p>
          <a:p>
            <a:pPr>
              <a:buNone/>
            </a:pPr>
            <a:r>
              <a:rPr lang="es-ES" sz="1600" dirty="0"/>
              <a:t>Los procesos de revisión pueden generar </a:t>
            </a:r>
            <a:r>
              <a:rPr lang="es-ES" sz="1600" b="1" dirty="0"/>
              <a:t>superposición entre los componentes ERE y CRE</a:t>
            </a:r>
            <a:r>
              <a:rPr lang="es-ES" sz="1600" dirty="0"/>
              <a:t>. Las personas evaluadoras deben asegurarse de </a:t>
            </a:r>
            <a:r>
              <a:rPr lang="es-ES" sz="1600" b="1" dirty="0"/>
              <a:t>diferenciar adecuadamente</a:t>
            </a:r>
            <a:r>
              <a:rPr lang="es-ES" sz="1600" dirty="0"/>
              <a:t> entre los resultados de revisión que se relacionan con la </a:t>
            </a:r>
            <a:r>
              <a:rPr lang="es-ES" sz="1600" b="1" dirty="0"/>
              <a:t>evidencia de procesos de aseguramiento de la calidad</a:t>
            </a:r>
            <a:r>
              <a:rPr lang="es-ES" sz="1600" dirty="0"/>
              <a:t> de los resultados de investigación centrales presentados en el componente ERE (por ejemplo, evidencia de revisión por pares del resultado), y la </a:t>
            </a:r>
            <a:r>
              <a:rPr lang="es-ES" sz="1600" b="1" dirty="0"/>
              <a:t>actividad o resultados de revisión</a:t>
            </a:r>
            <a:r>
              <a:rPr lang="es-ES" sz="1600" dirty="0"/>
              <a:t> (por ejemplo, </a:t>
            </a:r>
            <a:r>
              <a:rPr lang="es-ES" sz="1600" b="1" dirty="0"/>
              <a:t>premios, distinciones, financiamiento, invitaciones a presentar investigación</a:t>
            </a:r>
            <a:r>
              <a:rPr lang="es-ES" sz="1600" dirty="0"/>
              <a:t>) que pueden presentarse como </a:t>
            </a:r>
            <a:r>
              <a:rPr lang="es-ES" sz="1600" b="1" dirty="0"/>
              <a:t>actividades de investigación suplementarias u OERE</a:t>
            </a:r>
            <a:r>
              <a:rPr lang="es-ES" sz="1600" dirty="0"/>
              <a:t>, o como parte del </a:t>
            </a:r>
            <a:r>
              <a:rPr lang="es-ES" sz="1600" b="1" dirty="0"/>
              <a:t>componente CRE</a:t>
            </a:r>
            <a:r>
              <a:rPr lang="es-ES" sz="1600" dirty="0"/>
              <a:t>. </a:t>
            </a:r>
            <a:r>
              <a:rPr lang="es-ES" sz="1600" b="1" dirty="0"/>
              <a:t>La mayor parte del tiempo de evaluación debe destinarse al componente ERE</a:t>
            </a:r>
            <a:r>
              <a:rPr lang="es-ES" sz="1600" dirty="0"/>
              <a:t>.</a:t>
            </a:r>
          </a:p>
        </p:txBody>
      </p:sp>
    </p:spTree>
    <p:extLst>
      <p:ext uri="{BB962C8B-B14F-4D97-AF65-F5344CB8AC3E}">
        <p14:creationId xmlns:p14="http://schemas.microsoft.com/office/powerpoint/2010/main" val="24321106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117E158-CCC4-D727-9376-5E5B3E3C9CE4}"/>
              </a:ext>
            </a:extLst>
          </p:cNvPr>
          <p:cNvSpPr txBox="1"/>
          <p:nvPr/>
        </p:nvSpPr>
        <p:spPr>
          <a:xfrm>
            <a:off x="149629" y="1316236"/>
            <a:ext cx="14331142" cy="6186309"/>
          </a:xfrm>
          <a:prstGeom prst="rect">
            <a:avLst/>
          </a:prstGeom>
          <a:noFill/>
        </p:spPr>
        <p:txBody>
          <a:bodyPr wrap="square">
            <a:spAutoFit/>
          </a:bodyPr>
          <a:lstStyle/>
          <a:p>
            <a:pPr>
              <a:buNone/>
            </a:pPr>
            <a:r>
              <a:rPr lang="es-ES" dirty="0"/>
              <a:t>El Portafolio de Evidencia (EP) demuestra un </a:t>
            </a:r>
            <a:r>
              <a:rPr lang="es-ES" b="1" dirty="0"/>
              <a:t>conjunto de resultados y/o actividades de investigación de frontera</a:t>
            </a:r>
            <a:r>
              <a:rPr lang="es-ES" dirty="0"/>
              <a:t>, que es </a:t>
            </a:r>
            <a:r>
              <a:rPr lang="es-ES" b="1" dirty="0"/>
              <a:t>reconocido por pares como situado entre los mejores de su tipo</a:t>
            </a:r>
            <a:r>
              <a:rPr lang="es-ES" dirty="0"/>
              <a:t>, en términos de su </a:t>
            </a:r>
            <a:r>
              <a:rPr lang="es-ES" b="1" dirty="0"/>
              <a:t>originalidad, rigor y relevancia</a:t>
            </a:r>
            <a:r>
              <a:rPr lang="es-ES" dirty="0"/>
              <a:t>, y/o en términos del </a:t>
            </a:r>
            <a:r>
              <a:rPr lang="es-ES" b="1" dirty="0"/>
              <a:t>alcance y la relevancia de su impacto</a:t>
            </a:r>
            <a:r>
              <a:rPr lang="es-ES" dirty="0"/>
              <a:t>.</a:t>
            </a:r>
          </a:p>
          <a:p>
            <a:pPr>
              <a:buNone/>
            </a:pPr>
            <a:r>
              <a:rPr lang="es-ES" dirty="0"/>
              <a:t>Los ERE, incluidos los </a:t>
            </a:r>
            <a:r>
              <a:rPr lang="es-ES" b="1" dirty="0"/>
              <a:t>Resultados del ERE</a:t>
            </a:r>
            <a:r>
              <a:rPr lang="es-ES" dirty="0"/>
              <a:t> y cualquier </a:t>
            </a:r>
            <a:r>
              <a:rPr lang="es-ES" b="1" dirty="0"/>
              <a:t>Ítem Suplementario</a:t>
            </a:r>
            <a:r>
              <a:rPr lang="es-ES" dirty="0"/>
              <a:t>, probablemente representan </a:t>
            </a:r>
            <a:r>
              <a:rPr lang="es-ES" b="1" dirty="0"/>
              <a:t>avances intelectuales o creativos significativos</a:t>
            </a:r>
            <a:r>
              <a:rPr lang="es-ES" dirty="0"/>
              <a:t>, contribuciones a la </a:t>
            </a:r>
            <a:r>
              <a:rPr lang="es-ES" b="1" dirty="0"/>
              <a:t>formación de nuevos paradigmas</a:t>
            </a:r>
            <a:r>
              <a:rPr lang="es-ES" dirty="0"/>
              <a:t>, </a:t>
            </a:r>
            <a:r>
              <a:rPr lang="es-ES" b="1" dirty="0"/>
              <a:t>análisis conceptuales o teóricos novedosos</a:t>
            </a:r>
            <a:r>
              <a:rPr lang="es-ES" dirty="0"/>
              <a:t> o nuevas teorías, la </a:t>
            </a:r>
            <a:r>
              <a:rPr lang="es-ES" b="1" dirty="0"/>
              <a:t>recuperación o revitalización de saberes significativos</a:t>
            </a:r>
            <a:r>
              <a:rPr lang="es-ES" dirty="0"/>
              <a:t>, </a:t>
            </a:r>
            <a:r>
              <a:rPr lang="es-ES" b="1" dirty="0"/>
              <a:t>aplicaciones prácticas altamente innovadoras o creativas</a:t>
            </a:r>
            <a:r>
              <a:rPr lang="es-ES" dirty="0"/>
              <a:t> o </a:t>
            </a:r>
            <a:r>
              <a:rPr lang="es-ES" b="1" dirty="0"/>
              <a:t>síntesis de investigación</a:t>
            </a:r>
            <a:r>
              <a:rPr lang="es-ES" dirty="0"/>
              <a:t>, u </a:t>
            </a:r>
            <a:r>
              <a:rPr lang="es-ES" b="1" dirty="0"/>
              <a:t>otros hallazgos nuevos o creativos de importancia</a:t>
            </a:r>
            <a:r>
              <a:rPr lang="es-ES" dirty="0"/>
              <a:t>, con </a:t>
            </a:r>
            <a:r>
              <a:rPr lang="es-ES" b="1" dirty="0"/>
              <a:t>implicancias amplias</a:t>
            </a:r>
            <a:r>
              <a:rPr lang="es-ES" dirty="0"/>
              <a:t>.</a:t>
            </a:r>
          </a:p>
          <a:p>
            <a:pPr>
              <a:buNone/>
            </a:pPr>
            <a:r>
              <a:rPr lang="es-ES" dirty="0"/>
              <a:t>Los ERE pueden evidenciar investigación que ha generado un </a:t>
            </a:r>
            <a:r>
              <a:rPr lang="es-ES" b="1" dirty="0"/>
              <a:t>impacto muy significativo</a:t>
            </a:r>
            <a:r>
              <a:rPr lang="es-ES" dirty="0"/>
              <a:t>, ya sea por su </a:t>
            </a:r>
            <a:r>
              <a:rPr lang="es-ES" b="1" dirty="0"/>
              <a:t>amplio alcance a través de múltiples grupos de interés</a:t>
            </a:r>
            <a:r>
              <a:rPr lang="es-ES" dirty="0"/>
              <a:t>, por haber logrado una </a:t>
            </a:r>
            <a:r>
              <a:rPr lang="es-ES" b="1" dirty="0"/>
              <a:t>profunda profundidad de cambio o beneficio</a:t>
            </a:r>
            <a:r>
              <a:rPr lang="es-ES" dirty="0"/>
              <a:t>, o por </a:t>
            </a:r>
            <a:r>
              <a:rPr lang="es-ES" b="1" dirty="0"/>
              <a:t>ambas dimensiones</a:t>
            </a:r>
            <a:r>
              <a:rPr lang="es-ES" dirty="0"/>
              <a:t>.</a:t>
            </a:r>
          </a:p>
          <a:p>
            <a:pPr>
              <a:buNone/>
            </a:pPr>
            <a:r>
              <a:rPr lang="es-ES" dirty="0"/>
              <a:t>Los resultados pueden demostrar investigación que es </a:t>
            </a:r>
            <a:r>
              <a:rPr lang="es-ES" b="1" dirty="0"/>
              <a:t>ejemplar o de vanguardia en su campo</a:t>
            </a:r>
            <a:r>
              <a:rPr lang="es-ES" dirty="0"/>
              <a:t>, </a:t>
            </a:r>
            <a:r>
              <a:rPr lang="es-ES" b="1" dirty="0"/>
              <a:t>altamente innovadora</a:t>
            </a:r>
            <a:r>
              <a:rPr lang="es-ES" dirty="0"/>
              <a:t>, con </a:t>
            </a:r>
            <a:r>
              <a:rPr lang="es-ES" b="1" dirty="0"/>
              <a:t>relevancia más allá de su disciplina o a través de múltiples campos</a:t>
            </a:r>
            <a:r>
              <a:rPr lang="es-ES" dirty="0"/>
              <a:t>, o una combinación de todo lo anterior. Se espera que demuestren los </a:t>
            </a:r>
            <a:r>
              <a:rPr lang="es-ES" b="1" dirty="0"/>
              <a:t>más altos niveles de rigor intelectual, capacidad de </a:t>
            </a:r>
            <a:r>
              <a:rPr lang="es-ES" b="1" dirty="0" err="1"/>
              <a:t>insight</a:t>
            </a:r>
            <a:r>
              <a:rPr lang="es-ES" b="1" dirty="0"/>
              <a:t> creativo o habilidad metodológica</a:t>
            </a:r>
            <a:r>
              <a:rPr lang="es-ES" dirty="0"/>
              <a:t>, y/o que constituyan un </a:t>
            </a:r>
            <a:r>
              <a:rPr lang="es-ES" b="1" dirty="0"/>
              <a:t>punto de referencia primario</a:t>
            </a:r>
            <a:r>
              <a:rPr lang="es-ES" dirty="0"/>
              <a:t>, destinado a ser </a:t>
            </a:r>
            <a:r>
              <a:rPr lang="es-ES" b="1" dirty="0"/>
              <a:t>difundido ampliamente</a:t>
            </a:r>
            <a:r>
              <a:rPr lang="es-ES" dirty="0"/>
              <a:t>.</a:t>
            </a:r>
          </a:p>
          <a:p>
            <a:pPr>
              <a:buNone/>
            </a:pPr>
            <a:r>
              <a:rPr lang="es-ES" dirty="0"/>
              <a:t>Una </a:t>
            </a:r>
            <a:r>
              <a:rPr lang="es-ES" b="1" dirty="0"/>
              <a:t>proporción significativa de los resultados de investigación</a:t>
            </a:r>
            <a:r>
              <a:rPr lang="es-ES" dirty="0"/>
              <a:t> debería presentarse a través de los </a:t>
            </a:r>
            <a:r>
              <a:rPr lang="es-ES" b="1" dirty="0"/>
              <a:t>canales más apropiados y de mayor calidad</a:t>
            </a:r>
            <a:r>
              <a:rPr lang="es-ES" dirty="0"/>
              <a:t>, de acuerdo con el campo o los temas de investigación.</a:t>
            </a:r>
          </a:p>
          <a:p>
            <a:pPr>
              <a:buNone/>
            </a:pPr>
            <a:r>
              <a:rPr lang="es-ES" dirty="0"/>
              <a:t>Cuando sea pertinente, la investigación y las actividades relacionadas con la investigación pueden haber alcanzado el </a:t>
            </a:r>
            <a:r>
              <a:rPr lang="es-ES" b="1" dirty="0"/>
              <a:t>más alto nivel de reconocimiento por parte de pares</a:t>
            </a:r>
            <a:r>
              <a:rPr lang="es-ES" dirty="0"/>
              <a:t>, lo que puede incluir también a </a:t>
            </a:r>
            <a:r>
              <a:rPr lang="es-ES" b="1" dirty="0"/>
              <a:t>pares del ámbito industrial, comunidades, </a:t>
            </a:r>
            <a:r>
              <a:rPr lang="es-ES" b="1" dirty="0" err="1"/>
              <a:t>iwi</a:t>
            </a:r>
            <a:r>
              <a:rPr lang="es-ES" b="1" dirty="0"/>
              <a:t>, </a:t>
            </a:r>
            <a:r>
              <a:rPr lang="es-ES" b="1" dirty="0" err="1"/>
              <a:t>hapū</a:t>
            </a:r>
            <a:r>
              <a:rPr lang="es-ES" b="1" dirty="0"/>
              <a:t>, </a:t>
            </a:r>
            <a:r>
              <a:rPr lang="es-ES" b="1" dirty="0" err="1"/>
              <a:t>marae</a:t>
            </a:r>
            <a:r>
              <a:rPr lang="es-ES" b="1" dirty="0"/>
              <a:t>, el público, el tercer sector y/o la práctica profesional</a:t>
            </a:r>
            <a:r>
              <a:rPr lang="es-ES" dirty="0"/>
              <a:t>.</a:t>
            </a:r>
          </a:p>
          <a:p>
            <a:pPr>
              <a:buNone/>
            </a:pPr>
            <a:r>
              <a:rPr lang="es-ES" dirty="0"/>
              <a:t>Las </a:t>
            </a:r>
            <a:r>
              <a:rPr lang="es-ES" b="1" dirty="0"/>
              <a:t>actividades relacionadas con la investigación</a:t>
            </a:r>
            <a:r>
              <a:rPr lang="es-ES" dirty="0"/>
              <a:t> probablemente demuestran </a:t>
            </a:r>
            <a:r>
              <a:rPr lang="es-ES" b="1" dirty="0"/>
              <a:t>resultados muy significativos</a:t>
            </a:r>
            <a:r>
              <a:rPr lang="es-ES" dirty="0"/>
              <a:t> derivados de la </a:t>
            </a:r>
            <a:r>
              <a:rPr lang="es-ES" b="1" dirty="0"/>
              <a:t>colaboración, difusión y/o vinculación</a:t>
            </a:r>
            <a:r>
              <a:rPr lang="es-ES" dirty="0"/>
              <a:t> con los </a:t>
            </a:r>
            <a:r>
              <a:rPr lang="es-ES" b="1" dirty="0"/>
              <a:t>grupos y entidades líderes o más relevantes</a:t>
            </a:r>
            <a:r>
              <a:rPr lang="es-ES" dirty="0"/>
              <a:t>, tanto dentro como fuera de los ámbitos académicos. Estas actividades pueden haber generado </a:t>
            </a:r>
            <a:r>
              <a:rPr lang="es-ES" b="1" dirty="0"/>
              <a:t>impactos muy significativos</a:t>
            </a:r>
            <a:r>
              <a:rPr lang="es-ES" dirty="0"/>
              <a:t>, con </a:t>
            </a:r>
            <a:r>
              <a:rPr lang="es-ES" b="1" dirty="0"/>
              <a:t>alcance extenso</a:t>
            </a:r>
            <a:r>
              <a:rPr lang="es-ES" dirty="0"/>
              <a:t>, potencialmente a través de </a:t>
            </a:r>
            <a:r>
              <a:rPr lang="es-ES" b="1" dirty="0"/>
              <a:t>múltiples grupos beneficiarios</a:t>
            </a:r>
            <a:r>
              <a:rPr lang="es-ES" dirty="0"/>
              <a:t>, o ambas cosas. Dichos impactos pueden incluir </a:t>
            </a:r>
            <a:r>
              <a:rPr lang="es-ES" b="1" dirty="0"/>
              <a:t>cambios significativos en prácticas profesionales, políticas, organizacionales, artísticas o de investigación</a:t>
            </a:r>
            <a:r>
              <a:rPr lang="es-ES" dirty="0"/>
              <a:t>, desarrollos comerciales, procesos y aplicaciones, u </a:t>
            </a:r>
            <a:r>
              <a:rPr lang="es-ES" b="1" dirty="0"/>
              <a:t>otros resultados que generen beneficios significativos</a:t>
            </a:r>
            <a:r>
              <a:rPr lang="es-ES" dirty="0"/>
              <a:t> para </a:t>
            </a:r>
            <a:r>
              <a:rPr lang="es-ES" b="1" dirty="0"/>
              <a:t>grupos de interés públicos</a:t>
            </a:r>
            <a:r>
              <a:rPr lang="es-ES" dirty="0"/>
              <a:t>, el </a:t>
            </a:r>
            <a:r>
              <a:rPr lang="es-ES" b="1" dirty="0"/>
              <a:t>sector privado o empresarial</a:t>
            </a:r>
            <a:r>
              <a:rPr lang="es-ES" dirty="0"/>
              <a:t>, o las </a:t>
            </a:r>
            <a:r>
              <a:rPr lang="es-ES" b="1" dirty="0"/>
              <a:t>comunidades</a:t>
            </a:r>
            <a:r>
              <a:rPr lang="es-ES" dirty="0"/>
              <a:t>.</a:t>
            </a:r>
          </a:p>
        </p:txBody>
      </p:sp>
      <p:sp>
        <p:nvSpPr>
          <p:cNvPr id="4" name="CuadroTexto 3">
            <a:extLst>
              <a:ext uri="{FF2B5EF4-FFF2-40B4-BE49-F238E27FC236}">
                <a16:creationId xmlns:a16="http://schemas.microsoft.com/office/drawing/2014/main" id="{554AB7EB-384F-20A9-D969-813EB14D3537}"/>
              </a:ext>
            </a:extLst>
          </p:cNvPr>
          <p:cNvSpPr txBox="1"/>
          <p:nvPr/>
        </p:nvSpPr>
        <p:spPr>
          <a:xfrm>
            <a:off x="149629" y="568837"/>
            <a:ext cx="3590598" cy="369332"/>
          </a:xfrm>
          <a:prstGeom prst="rect">
            <a:avLst/>
          </a:prstGeom>
          <a:noFill/>
        </p:spPr>
        <p:txBody>
          <a:bodyPr wrap="none" rtlCol="0">
            <a:spAutoFit/>
          </a:bodyPr>
          <a:lstStyle/>
          <a:p>
            <a:r>
              <a:rPr lang="es-CL" b="1" dirty="0"/>
              <a:t>Rubrica: Descriptor para el nivel 7-6</a:t>
            </a:r>
          </a:p>
        </p:txBody>
      </p:sp>
    </p:spTree>
    <p:extLst>
      <p:ext uri="{BB962C8B-B14F-4D97-AF65-F5344CB8AC3E}">
        <p14:creationId xmlns:p14="http://schemas.microsoft.com/office/powerpoint/2010/main" val="15737922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Tabla&#10;&#10;El contenido generado por IA puede ser incorrecto.">
            <a:extLst>
              <a:ext uri="{FF2B5EF4-FFF2-40B4-BE49-F238E27FC236}">
                <a16:creationId xmlns:a16="http://schemas.microsoft.com/office/drawing/2014/main" id="{E5DC8393-0DC3-606D-C5B1-6BBA12BE2D41}"/>
              </a:ext>
            </a:extLst>
          </p:cNvPr>
          <p:cNvPicPr>
            <a:picLocks noChangeAspect="1"/>
          </p:cNvPicPr>
          <p:nvPr/>
        </p:nvPicPr>
        <p:blipFill>
          <a:blip r:embed="rId2"/>
          <a:stretch>
            <a:fillRect/>
          </a:stretch>
        </p:blipFill>
        <p:spPr>
          <a:xfrm>
            <a:off x="0" y="1230285"/>
            <a:ext cx="7401591" cy="6151418"/>
          </a:xfrm>
          <a:prstGeom prst="rect">
            <a:avLst/>
          </a:prstGeom>
        </p:spPr>
      </p:pic>
      <p:pic>
        <p:nvPicPr>
          <p:cNvPr id="5" name="Imagen 4" descr="Tabla&#10;&#10;El contenido generado por IA puede ser incorrecto.">
            <a:extLst>
              <a:ext uri="{FF2B5EF4-FFF2-40B4-BE49-F238E27FC236}">
                <a16:creationId xmlns:a16="http://schemas.microsoft.com/office/drawing/2014/main" id="{D2B8B9D1-00C8-38CA-BF39-31E291EC7B28}"/>
              </a:ext>
            </a:extLst>
          </p:cNvPr>
          <p:cNvPicPr>
            <a:picLocks noChangeAspect="1"/>
          </p:cNvPicPr>
          <p:nvPr/>
        </p:nvPicPr>
        <p:blipFill>
          <a:blip r:embed="rId3"/>
          <a:stretch>
            <a:fillRect/>
          </a:stretch>
        </p:blipFill>
        <p:spPr>
          <a:xfrm>
            <a:off x="7714210" y="1571678"/>
            <a:ext cx="6384175" cy="5688623"/>
          </a:xfrm>
          <a:prstGeom prst="rect">
            <a:avLst/>
          </a:prstGeom>
        </p:spPr>
      </p:pic>
      <p:sp>
        <p:nvSpPr>
          <p:cNvPr id="6" name="Rectángulo 5">
            <a:extLst>
              <a:ext uri="{FF2B5EF4-FFF2-40B4-BE49-F238E27FC236}">
                <a16:creationId xmlns:a16="http://schemas.microsoft.com/office/drawing/2014/main" id="{A8B26072-57FB-06B1-DC0F-AF7D1A6FEEA7}"/>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868192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Texto, Aplicación, Correo electrónico&#10;&#10;El contenido generado por IA puede ser incorrecto.">
            <a:extLst>
              <a:ext uri="{FF2B5EF4-FFF2-40B4-BE49-F238E27FC236}">
                <a16:creationId xmlns:a16="http://schemas.microsoft.com/office/drawing/2014/main" id="{5416AD95-C733-21F5-0A49-214EFE58C715}"/>
              </a:ext>
            </a:extLst>
          </p:cNvPr>
          <p:cNvPicPr>
            <a:picLocks noChangeAspect="1"/>
          </p:cNvPicPr>
          <p:nvPr/>
        </p:nvPicPr>
        <p:blipFill>
          <a:blip r:embed="rId2"/>
          <a:stretch>
            <a:fillRect/>
          </a:stretch>
        </p:blipFill>
        <p:spPr>
          <a:xfrm>
            <a:off x="0" y="1791843"/>
            <a:ext cx="7172978" cy="4645913"/>
          </a:xfrm>
          <a:prstGeom prst="rect">
            <a:avLst/>
          </a:prstGeom>
        </p:spPr>
      </p:pic>
      <p:pic>
        <p:nvPicPr>
          <p:cNvPr id="5" name="Imagen 4" descr="Interfaz de usuario gráfica, Texto, Aplicación, Correo electrónico&#10;&#10;El contenido generado por IA puede ser incorrecto.">
            <a:extLst>
              <a:ext uri="{FF2B5EF4-FFF2-40B4-BE49-F238E27FC236}">
                <a16:creationId xmlns:a16="http://schemas.microsoft.com/office/drawing/2014/main" id="{FFF928E5-92BE-BD2F-084B-7BB4886E8220}"/>
              </a:ext>
            </a:extLst>
          </p:cNvPr>
          <p:cNvPicPr>
            <a:picLocks noChangeAspect="1"/>
          </p:cNvPicPr>
          <p:nvPr/>
        </p:nvPicPr>
        <p:blipFill>
          <a:blip r:embed="rId3"/>
          <a:stretch>
            <a:fillRect/>
          </a:stretch>
        </p:blipFill>
        <p:spPr>
          <a:xfrm>
            <a:off x="7457424" y="1791843"/>
            <a:ext cx="6490358" cy="4645913"/>
          </a:xfrm>
          <a:prstGeom prst="rect">
            <a:avLst/>
          </a:prstGeom>
        </p:spPr>
      </p:pic>
      <p:sp>
        <p:nvSpPr>
          <p:cNvPr id="6" name="Google Shape;149;p17">
            <a:extLst>
              <a:ext uri="{FF2B5EF4-FFF2-40B4-BE49-F238E27FC236}">
                <a16:creationId xmlns:a16="http://schemas.microsoft.com/office/drawing/2014/main" id="{3A91F2DC-FF6A-E635-D1C8-8854C541963B}"/>
              </a:ext>
            </a:extLst>
          </p:cNvPr>
          <p:cNvSpPr txBox="1"/>
          <p:nvPr/>
        </p:nvSpPr>
        <p:spPr>
          <a:xfrm>
            <a:off x="4847358" y="557688"/>
            <a:ext cx="5736716" cy="387798"/>
          </a:xfrm>
          <a:prstGeom prst="rect">
            <a:avLst/>
          </a:prstGeom>
          <a:noFill/>
          <a:ln>
            <a:noFill/>
          </a:ln>
        </p:spPr>
        <p:txBody>
          <a:bodyPr spcFirstLastPara="1" wrap="square" lIns="0" tIns="0" rIns="0" bIns="0" anchor="t" anchorCtr="0">
            <a:spAutoFit/>
          </a:bodyPr>
          <a:lstStyle/>
          <a:p>
            <a:r>
              <a:rPr lang="en-US" sz="2520" b="1" dirty="0" err="1">
                <a:solidFill>
                  <a:srgbClr val="002E5D"/>
                </a:solidFill>
                <a:latin typeface="Merriweather"/>
                <a:ea typeface="Merriweather"/>
                <a:cs typeface="Merriweather"/>
                <a:sym typeface="Merriweather"/>
              </a:rPr>
              <a:t>Componente</a:t>
            </a:r>
            <a:r>
              <a:rPr lang="en-US" sz="2520" b="1" dirty="0">
                <a:solidFill>
                  <a:srgbClr val="002E5D"/>
                </a:solidFill>
                <a:latin typeface="Merriweather"/>
                <a:ea typeface="Merriweather"/>
                <a:cs typeface="Merriweather"/>
                <a:sym typeface="Merriweather"/>
              </a:rPr>
              <a:t> ERE (70%)</a:t>
            </a:r>
            <a:endParaRPr sz="2160" dirty="0"/>
          </a:p>
        </p:txBody>
      </p:sp>
      <p:sp>
        <p:nvSpPr>
          <p:cNvPr id="8" name="CuadroTexto 7">
            <a:extLst>
              <a:ext uri="{FF2B5EF4-FFF2-40B4-BE49-F238E27FC236}">
                <a16:creationId xmlns:a16="http://schemas.microsoft.com/office/drawing/2014/main" id="{67E9CD45-A535-533D-CC55-4B1B23A024BF}"/>
              </a:ext>
            </a:extLst>
          </p:cNvPr>
          <p:cNvSpPr txBox="1"/>
          <p:nvPr/>
        </p:nvSpPr>
        <p:spPr>
          <a:xfrm>
            <a:off x="4472247" y="879106"/>
            <a:ext cx="7315200" cy="489558"/>
          </a:xfrm>
          <a:prstGeom prst="rect">
            <a:avLst/>
          </a:prstGeom>
          <a:noFill/>
        </p:spPr>
        <p:txBody>
          <a:bodyPr wrap="square">
            <a:spAutoFit/>
          </a:bodyPr>
          <a:lstStyle/>
          <a:p>
            <a:pPr>
              <a:lnSpc>
                <a:spcPct val="160000"/>
              </a:lnSpc>
            </a:pPr>
            <a:r>
              <a:rPr lang="es-ES" b="1" dirty="0">
                <a:solidFill>
                  <a:srgbClr val="334155"/>
                </a:solidFill>
                <a:latin typeface="DM Sans"/>
                <a:ea typeface="DM Sans"/>
                <a:cs typeface="DM Sans"/>
                <a:sym typeface="DM Sans"/>
              </a:rPr>
              <a:t>Ejemplos de Excelencia en Investigación</a:t>
            </a:r>
            <a:endParaRPr lang="es-ES" sz="2160" dirty="0"/>
          </a:p>
        </p:txBody>
      </p:sp>
      <p:sp>
        <p:nvSpPr>
          <p:cNvPr id="9" name="Rectángulo 8">
            <a:extLst>
              <a:ext uri="{FF2B5EF4-FFF2-40B4-BE49-F238E27FC236}">
                <a16:creationId xmlns:a16="http://schemas.microsoft.com/office/drawing/2014/main" id="{869FDBD8-3754-1184-71E9-D3C56F539251}"/>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48359633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Aplicación, Tabla&#10;&#10;El contenido generado por IA puede ser incorrecto.">
            <a:extLst>
              <a:ext uri="{FF2B5EF4-FFF2-40B4-BE49-F238E27FC236}">
                <a16:creationId xmlns:a16="http://schemas.microsoft.com/office/drawing/2014/main" id="{86912AAF-A50B-C7D0-F067-EA84DDD23A6D}"/>
              </a:ext>
            </a:extLst>
          </p:cNvPr>
          <p:cNvPicPr>
            <a:picLocks noChangeAspect="1"/>
          </p:cNvPicPr>
          <p:nvPr/>
        </p:nvPicPr>
        <p:blipFill>
          <a:blip r:embed="rId2"/>
          <a:stretch>
            <a:fillRect/>
          </a:stretch>
        </p:blipFill>
        <p:spPr>
          <a:xfrm>
            <a:off x="2477192" y="557393"/>
            <a:ext cx="9343505" cy="7459933"/>
          </a:xfrm>
          <a:prstGeom prst="rect">
            <a:avLst/>
          </a:prstGeom>
        </p:spPr>
      </p:pic>
      <p:sp>
        <p:nvSpPr>
          <p:cNvPr id="4" name="Rectángulo 3">
            <a:extLst>
              <a:ext uri="{FF2B5EF4-FFF2-40B4-BE49-F238E27FC236}">
                <a16:creationId xmlns:a16="http://schemas.microsoft.com/office/drawing/2014/main" id="{4ACBBAA9-452E-7822-8D0C-4785323CE63C}"/>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0114213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nterfaz de usuario gráfica, Aplicación&#10;&#10;El contenido generado por IA puede ser incorrecto.">
            <a:extLst>
              <a:ext uri="{FF2B5EF4-FFF2-40B4-BE49-F238E27FC236}">
                <a16:creationId xmlns:a16="http://schemas.microsoft.com/office/drawing/2014/main" id="{3F4E0EF4-CF2D-AE39-14EA-779B5B4A4DCB}"/>
              </a:ext>
            </a:extLst>
          </p:cNvPr>
          <p:cNvPicPr>
            <a:picLocks noChangeAspect="1"/>
          </p:cNvPicPr>
          <p:nvPr/>
        </p:nvPicPr>
        <p:blipFill>
          <a:blip r:embed="rId2"/>
          <a:stretch>
            <a:fillRect/>
          </a:stretch>
        </p:blipFill>
        <p:spPr>
          <a:xfrm>
            <a:off x="3541221" y="1091329"/>
            <a:ext cx="7165571" cy="6750723"/>
          </a:xfrm>
          <a:prstGeom prst="rect">
            <a:avLst/>
          </a:prstGeom>
        </p:spPr>
      </p:pic>
      <p:sp>
        <p:nvSpPr>
          <p:cNvPr id="4" name="Google Shape;153;p17">
            <a:extLst>
              <a:ext uri="{FF2B5EF4-FFF2-40B4-BE49-F238E27FC236}">
                <a16:creationId xmlns:a16="http://schemas.microsoft.com/office/drawing/2014/main" id="{E6F18984-9FA3-9F78-9452-E3F1EFA4FADE}"/>
              </a:ext>
            </a:extLst>
          </p:cNvPr>
          <p:cNvSpPr txBox="1"/>
          <p:nvPr/>
        </p:nvSpPr>
        <p:spPr>
          <a:xfrm>
            <a:off x="2740087" y="402009"/>
            <a:ext cx="5736716" cy="387798"/>
          </a:xfrm>
          <a:prstGeom prst="rect">
            <a:avLst/>
          </a:prstGeom>
          <a:noFill/>
          <a:ln>
            <a:noFill/>
          </a:ln>
        </p:spPr>
        <p:txBody>
          <a:bodyPr spcFirstLastPara="1" wrap="square" lIns="0" tIns="0" rIns="0" bIns="0" anchor="t" anchorCtr="0">
            <a:spAutoFit/>
          </a:bodyPr>
          <a:lstStyle/>
          <a:p>
            <a:r>
              <a:rPr lang="en-US" sz="2520" b="1" dirty="0" err="1">
                <a:solidFill>
                  <a:srgbClr val="002E5D"/>
                </a:solidFill>
                <a:latin typeface="Merriweather"/>
                <a:ea typeface="Merriweather"/>
                <a:cs typeface="Merriweather"/>
                <a:sym typeface="Merriweather"/>
              </a:rPr>
              <a:t>Componente</a:t>
            </a:r>
            <a:r>
              <a:rPr lang="en-US" sz="2520" b="1" dirty="0">
                <a:solidFill>
                  <a:srgbClr val="002E5D"/>
                </a:solidFill>
                <a:latin typeface="Merriweather"/>
                <a:ea typeface="Merriweather"/>
                <a:cs typeface="Merriweather"/>
                <a:sym typeface="Merriweather"/>
              </a:rPr>
              <a:t> CRE (30%)</a:t>
            </a:r>
            <a:endParaRPr sz="2160" dirty="0"/>
          </a:p>
        </p:txBody>
      </p:sp>
      <p:sp>
        <p:nvSpPr>
          <p:cNvPr id="5" name="Google Shape;154;p17">
            <a:extLst>
              <a:ext uri="{FF2B5EF4-FFF2-40B4-BE49-F238E27FC236}">
                <a16:creationId xmlns:a16="http://schemas.microsoft.com/office/drawing/2014/main" id="{AE32EFBC-2190-F4E9-AA1D-DB01AAD2403B}"/>
              </a:ext>
            </a:extLst>
          </p:cNvPr>
          <p:cNvSpPr txBox="1"/>
          <p:nvPr/>
        </p:nvSpPr>
        <p:spPr>
          <a:xfrm>
            <a:off x="7727721" y="316094"/>
            <a:ext cx="5463540" cy="443198"/>
          </a:xfrm>
          <a:prstGeom prst="rect">
            <a:avLst/>
          </a:prstGeom>
          <a:noFill/>
          <a:ln>
            <a:noFill/>
          </a:ln>
        </p:spPr>
        <p:txBody>
          <a:bodyPr spcFirstLastPara="1" wrap="square" lIns="0" tIns="0" rIns="0" bIns="0" anchor="t" anchorCtr="0">
            <a:spAutoFit/>
          </a:bodyPr>
          <a:lstStyle/>
          <a:p>
            <a:pPr>
              <a:lnSpc>
                <a:spcPct val="160000"/>
              </a:lnSpc>
            </a:pPr>
            <a:r>
              <a:rPr lang="en-US" b="1" dirty="0" err="1">
                <a:solidFill>
                  <a:srgbClr val="334155"/>
                </a:solidFill>
                <a:latin typeface="DM Sans"/>
                <a:ea typeface="DM Sans"/>
                <a:cs typeface="DM Sans"/>
                <a:sym typeface="DM Sans"/>
              </a:rPr>
              <a:t>Contribuciones</a:t>
            </a:r>
            <a:r>
              <a:rPr lang="en-US" b="1" dirty="0">
                <a:solidFill>
                  <a:srgbClr val="334155"/>
                </a:solidFill>
                <a:latin typeface="DM Sans"/>
                <a:ea typeface="DM Sans"/>
                <a:cs typeface="DM Sans"/>
                <a:sym typeface="DM Sans"/>
              </a:rPr>
              <a:t> al </a:t>
            </a:r>
            <a:r>
              <a:rPr lang="en-US" b="1" dirty="0" err="1">
                <a:solidFill>
                  <a:srgbClr val="334155"/>
                </a:solidFill>
                <a:latin typeface="DM Sans"/>
                <a:ea typeface="DM Sans"/>
                <a:cs typeface="DM Sans"/>
                <a:sym typeface="DM Sans"/>
              </a:rPr>
              <a:t>Entorno</a:t>
            </a:r>
            <a:r>
              <a:rPr lang="en-US" b="1" dirty="0">
                <a:solidFill>
                  <a:srgbClr val="334155"/>
                </a:solidFill>
                <a:latin typeface="DM Sans"/>
                <a:ea typeface="DM Sans"/>
                <a:cs typeface="DM Sans"/>
                <a:sym typeface="DM Sans"/>
              </a:rPr>
              <a:t> de </a:t>
            </a:r>
            <a:r>
              <a:rPr lang="en-US" b="1" dirty="0" err="1">
                <a:solidFill>
                  <a:srgbClr val="334155"/>
                </a:solidFill>
                <a:latin typeface="DM Sans"/>
                <a:ea typeface="DM Sans"/>
                <a:cs typeface="DM Sans"/>
                <a:sym typeface="DM Sans"/>
              </a:rPr>
              <a:t>Investigación</a:t>
            </a:r>
            <a:endParaRPr sz="2160" dirty="0"/>
          </a:p>
        </p:txBody>
      </p:sp>
      <p:sp>
        <p:nvSpPr>
          <p:cNvPr id="6" name="Rectángulo 5">
            <a:extLst>
              <a:ext uri="{FF2B5EF4-FFF2-40B4-BE49-F238E27FC236}">
                <a16:creationId xmlns:a16="http://schemas.microsoft.com/office/drawing/2014/main" id="{43C63A3D-8076-2962-E4C2-668CA207F249}"/>
              </a:ext>
            </a:extLst>
          </p:cNvPr>
          <p:cNvSpPr/>
          <p:nvPr/>
        </p:nvSpPr>
        <p:spPr>
          <a:xfrm>
            <a:off x="12473324" y="7531331"/>
            <a:ext cx="2157076" cy="6982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674302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3513</TotalTime>
  <Words>9818</Words>
  <Application>Microsoft Office PowerPoint</Application>
  <PresentationFormat>Personalizado</PresentationFormat>
  <Paragraphs>754</Paragraphs>
  <Slides>81</Slides>
  <Notes>45</Notes>
  <HiddenSlides>0</HiddenSlides>
  <MMClips>0</MMClips>
  <ScaleCrop>false</ScaleCrop>
  <HeadingPairs>
    <vt:vector size="6" baseType="variant">
      <vt:variant>
        <vt:lpstr>Fuentes usadas</vt:lpstr>
      </vt:variant>
      <vt:variant>
        <vt:i4>20</vt:i4>
      </vt:variant>
      <vt:variant>
        <vt:lpstr>Tema</vt:lpstr>
      </vt:variant>
      <vt:variant>
        <vt:i4>1</vt:i4>
      </vt:variant>
      <vt:variant>
        <vt:lpstr>Títulos de diapositiva</vt:lpstr>
      </vt:variant>
      <vt:variant>
        <vt:i4>81</vt:i4>
      </vt:variant>
    </vt:vector>
  </HeadingPairs>
  <TitlesOfParts>
    <vt:vector size="102" baseType="lpstr">
      <vt:lpstr>DM Sans</vt:lpstr>
      <vt:lpstr>Playfair Display</vt:lpstr>
      <vt:lpstr>Inter Medium</vt:lpstr>
      <vt:lpstr>Arial</vt:lpstr>
      <vt:lpstr>PT Serif</vt:lpstr>
      <vt:lpstr>Aptos</vt:lpstr>
      <vt:lpstr>Inter ExtraBold</vt:lpstr>
      <vt:lpstr>Symbol</vt:lpstr>
      <vt:lpstr>Merriweather</vt:lpstr>
      <vt:lpstr>Aptos SemiBold</vt:lpstr>
      <vt:lpstr>Merriweather Black</vt:lpstr>
      <vt:lpstr>Times New Roman</vt:lpstr>
      <vt:lpstr>DM Sans Medium</vt:lpstr>
      <vt:lpstr>Calibri</vt:lpstr>
      <vt:lpstr>Cambria Math</vt:lpstr>
      <vt:lpstr>Inter</vt:lpstr>
      <vt:lpstr>Playfair Display SemiBold</vt:lpstr>
      <vt:lpstr>Lato</vt:lpstr>
      <vt:lpstr>Inter SemiBold</vt:lpstr>
      <vt:lpstr>PT Serif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 Evaluación cualitativa del desempeño académico según jerarquía (DAJ)</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Sistema de calificación y ponderaciones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Dell</dc:creator>
  <cp:lastModifiedBy>Aníbal Román Cortés</cp:lastModifiedBy>
  <cp:revision>11</cp:revision>
  <dcterms:created xsi:type="dcterms:W3CDTF">2026-01-13T04:50:49Z</dcterms:created>
  <dcterms:modified xsi:type="dcterms:W3CDTF">2026-01-20T05:45:01Z</dcterms:modified>
</cp:coreProperties>
</file>